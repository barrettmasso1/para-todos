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365760"/>
            <a:ext cx="2926080" cy="292608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731520"/>
            <a:ext cx="2194560" cy="219456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eal-d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7132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PARA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07899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ECD9"/>
                </a:solidFill>
                <a:latin typeface="Calibri"/>
              </a:rPr>
              <a:t>PACÍFICO SUR · BCS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400" b="1" i="0">
                <a:solidFill>
                  <a:srgbClr val="FBF6E9"/>
                </a:solidFill>
                <a:latin typeface="Lora"/>
              </a:rPr>
              <a:t>Explorando Nuestro Futuro,</a:t>
            </a:r>
          </a:p>
          <a:p>
            <a:pPr algn="l">
              <a:lnSpc>
                <a:spcPct val="105000"/>
              </a:lnSpc>
            </a:pPr>
            <a:r>
              <a:rPr sz="5400" b="1" i="1">
                <a:solidFill>
                  <a:srgbClr val="D97A4A"/>
                </a:solidFill>
                <a:latin typeface="Lora"/>
              </a:rPr>
              <a:t>Juntos.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F4ECD9"/>
                </a:solidFill>
                <a:latin typeface="Calibri"/>
              </a:rPr>
              <a:t>Una conversación regional sobre cómo se toman las</a:t>
            </a:r>
          </a:p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F4ECD9"/>
                </a:solidFill>
                <a:latin typeface="Calibri"/>
              </a:rPr>
              <a:t>decisiones que afectan al Pacífico Sur de BCS.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FBF6E9"/>
                </a:solidFill>
                <a:latin typeface="Lora"/>
              </a:rPr>
              <a:t>“Esto es una exploración, no una propuesta. Estamos aquí</a:t>
            </a:r>
          </a:p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FBF6E9"/>
                </a:solidFill>
                <a:latin typeface="Lora"/>
              </a:rPr>
              <a:t>para escuchar, aprender, y decidir juntos.”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POR QUÉ AHORA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¿Por qué esta conversación, por qué ahora?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286000"/>
            <a:ext cx="3657600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2E26"/>
                </a:solidFill>
                <a:latin typeface="Lora"/>
              </a:rPr>
              <a:t>Crecemos rápido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~11,000 residentes en la región sur hoy.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3–6% de crecimiento anual — de los más altos en BCS.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Más viviendas, visitantes y negocios cada año.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286000"/>
            <a:ext cx="3657600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24688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2E26"/>
                </a:solidFill>
                <a:latin typeface="Lora"/>
              </a:rPr>
              <a:t>La presión es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2004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Agua bajo presión: demanda creciente, intrusión salina.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Cortes y límites de capacidad eléctrica en temporada alta.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Nuevos desarrollos decididos en La Paz, sin consulta local.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286000"/>
            <a:ext cx="3657600" cy="5486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4688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A2E26"/>
                </a:solidFill>
                <a:latin typeface="Lora"/>
              </a:rPr>
              <a:t>La pregunta es honesta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2004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¿Las decisiones que se toman para nosotros se toman por nosotros?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Si no, ¿es la estructura que queremos para los próximos 20 años?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•   </a:t>
            </a:r>
            <a:r>
              <a:rPr sz="1300" b="0" i="0">
                <a:solidFill>
                  <a:srgbClr val="3A2E26"/>
                </a:solidFill>
                <a:latin typeface="Calibri"/>
              </a:rPr>
              <a:t>¿Cuál es la manera correcta de preguntar siquiera?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3A2E26"/>
                </a:solidFill>
                <a:latin typeface="Lora"/>
              </a:rPr>
              <a:t>“No tenemos respuestas todavía. Estamos tratando de hacer las preguntas correctas, con la gente correcta, en la manera correcta.”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LA REALIDAD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Cómo se ve esto en la vida diaria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194560"/>
            <a:ext cx="11247120" cy="114300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109728" cy="1143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446020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4460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BF6E9"/>
                </a:solidFill>
                <a:latin typeface="Lora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4414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AGUA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734056"/>
            <a:ext cx="9784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3A2E26"/>
                </a:solidFill>
                <a:latin typeface="Calibri"/>
              </a:rPr>
              <a:t>Cuando baja el manto acuífero, los productores locales esperan permisos desde La Paz. Las decisiones sobre cuánta agua se bombea — y a dónde fluye — las toman personas que no viven con las consecuencias.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74720"/>
            <a:ext cx="11247120" cy="114300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109728" cy="1143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726180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261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BF6E9"/>
                </a:solidFill>
                <a:latin typeface="Lora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7216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ENERGÍA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014216"/>
            <a:ext cx="9784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3A2E26"/>
                </a:solidFill>
                <a:latin typeface="Calibri"/>
              </a:rPr>
              <a:t>Cuando falla la línea de transmisión desde La Paz, nuestra región espera. Las decisiones sobre inversión en la red eléctrica de nuestra zona se toman horas a distancia, priorizando el centro de la ciudad.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54880"/>
            <a:ext cx="11247120" cy="114300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754880"/>
            <a:ext cx="109728" cy="1143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006340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063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BF6E9"/>
                </a:solidFill>
                <a:latin typeface="Lora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00176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DESARROLLO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294376"/>
            <a:ext cx="9784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3A2E26"/>
                </a:solidFill>
                <a:latin typeface="Calibri"/>
              </a:rPr>
              <a:t>Cuando se propone un nuevo desarrollo cerca de tu colonia, el proceso de permisos pasa por La Paz. Para cuando te enteras, a menudo la decisión ya está tomada.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3A2E26"/>
                </a:solidFill>
                <a:latin typeface="Calibri"/>
              </a:rPr>
              <a:t>La gobernanza local no resolvería nada de la noche a la mañana. Pero pondría las decisiones cerca de quienes viven con ellas.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ESTRUCTURA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Cómo se toman las decisiones hoy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103120"/>
            <a:ext cx="7132320" cy="50292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03120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Gobierno Federal (Ciudad de México)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70632"/>
            <a:ext cx="7132320" cy="502920"/>
          </a:xfrm>
          <a:prstGeom prst="rect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70632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Gobierno del Estado (La Paz, BCS)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38144"/>
            <a:ext cx="7132320" cy="5029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38144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Municipio de La Paz — cabecera: La Paz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51376"/>
            <a:ext cx="3383280" cy="868680"/>
          </a:xfrm>
          <a:prstGeom prst="rect">
            <a:avLst/>
          </a:prstGeom>
          <a:solidFill>
            <a:srgbClr val="F4E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6110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A2E26"/>
                </a:solidFill>
                <a:latin typeface="Calibri"/>
              </a:rPr>
              <a:t>Ciudad de La Paz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0857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3A2E26"/>
                </a:solidFill>
                <a:latin typeface="Calibri"/>
              </a:rPr>
              <a:t>~300,000+ habitantes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4151376"/>
            <a:ext cx="3383280" cy="8686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426110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BF6E9"/>
                </a:solidFill>
                <a:latin typeface="Calibri"/>
              </a:rPr>
              <a:t>Región Sur (nosotros)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60857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FBF6E9"/>
                </a:solidFill>
                <a:latin typeface="Calibri"/>
              </a:rPr>
              <a:t>~11,000 habitantes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10312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El Municipio de La Paz es 1 de 5 municipios en BCS.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Nuestra región es 1 de 30+ delegaciones dentro de ese municipio.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Los funcionarios municipales son electos por todo el municipio — ~96% de quienes deciden viven en La Paz o sus suburbios.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4983480"/>
            <a:ext cx="3840480" cy="137160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507492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FBF6E9"/>
                </a:solidFill>
                <a:latin typeface="Lora"/>
              </a:rPr>
              <a:t>Esto no es una crítica a La Paz. Es una observación estructural: ningún sistema puede priorizar a 11,000 personas cuando 300,000+ viven a una hora.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NUESTRA REGIÓN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Qué entendemos por 'nuestra región'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region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03120"/>
            <a:ext cx="6766560" cy="411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26364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8A7A66"/>
                </a:solidFill>
                <a:latin typeface="Calibri"/>
              </a:rPr>
              <a:t>(Visualización aproximada — estudio cartográfico oficial en Etapa 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03120"/>
            <a:ext cx="44805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3A2E26"/>
                </a:solidFill>
                <a:latin typeface="Calibri"/>
              </a:rPr>
              <a:t>Comunidades incluidas: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Todos Santos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Pescadero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Cerritos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Las Tunas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Las Playitas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Elías Calles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Comunidades vecinas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57200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A2E26"/>
                </a:solidFill>
                <a:latin typeface="Calibri"/>
              </a:rPr>
              <a:t>Dos escenarios bajo estudio: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93776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A — Solo Costa Pacífico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25780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A2E26"/>
                </a:solidFill>
                <a:latin typeface="Calibri"/>
              </a:rPr>
              <a:t>•  B — Pacífico + Cabo del Este (Los Barriles, La Ribera)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76072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8A7A66"/>
                </a:solidFill>
                <a:latin typeface="Lora"/>
              </a:rPr>
              <a:t>El límite final, si lo hubiera, lo decidirá la comunidad mediante el proceso formal.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DOS FUTUROS HONESTOS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Dos caminos, honestamente comparados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011680"/>
            <a:ext cx="5486400" cy="502920"/>
          </a:xfrm>
          <a:prstGeom prst="rect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1168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Escenario A — Continuar en La Paz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5486400" cy="3611880"/>
          </a:xfrm>
          <a:prstGeom prst="rect">
            <a:avLst/>
          </a:prstGeom>
          <a:solidFill>
            <a:srgbClr val="F2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43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Qué cambia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1752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Nada estructuralmente. La región sigue creciendo dentro del marco actual.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11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Qué nos 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Estabilidad. Recursos compartidos con una entidad más grande. Gobernanza establecida.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Qué nos cuesta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5488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Retrasos continuos. Decisiones tomadas por gente lejos de las consecuencias.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49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Impuesto predial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2356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La mayoría sale de la región hacia prioridades de La Paz.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2011680"/>
            <a:ext cx="5486400" cy="5029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201168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Escenario B — Nuestro propio municipio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2514600"/>
            <a:ext cx="5486400" cy="3611880"/>
          </a:xfrm>
          <a:prstGeom prst="rect">
            <a:avLst/>
          </a:prstGeom>
          <a:solidFill>
            <a:srgbClr val="FA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743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Qué cambia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01752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Nuevo municipio. Cabildo local. Presidente municipal local.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3611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Qué nos 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388620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Control local sobre desarrollo, infraestructura, presupuesto. El predial se queda.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4480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Qué nos cuesta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75488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Costos de transición únicos. Construir estructura administrativa. Nueva responsabilidad.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5349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Impuesto predial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562356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Se queda en la región.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BF6E9"/>
                </a:solidFill>
                <a:latin typeface="Calibri"/>
              </a:rPr>
              <a:t>Impuestos federales y estatales  ·  Estatus migratorio  ·  Propiedad privada  ·  Voto federal/estatal — sin cambios bajo cualquier escenario.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6A4A3E"/>
                </a:solidFill>
                <a:latin typeface="Lor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EL MARCO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BF6E9"/>
                </a:solidFill>
                <a:latin typeface="Lora"/>
              </a:rPr>
              <a:t>El camino legal — qué dice la ley mexicana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D9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224028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4ECD9"/>
                </a:solidFill>
                <a:latin typeface="Calibri"/>
              </a:rPr>
              <a:t>La ley federal mexicana y la Constitución del Estado de BCS permiten explícitamente la creación de nuevos municipios mediante un proceso iniciado por ciudadanos. No es un atajo. Es un derecho legal.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731520" cy="7315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BF6E9"/>
                </a:solidFill>
                <a:latin typeface="Lora"/>
              </a:rP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200400"/>
            <a:ext cx="268833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BF6E9"/>
                </a:solidFill>
                <a:latin typeface="Lora"/>
              </a:rPr>
              <a:t>Puerta 1 — Petición ciudadana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35844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F4ECD9"/>
                </a:solidFill>
                <a:latin typeface="Calibri"/>
              </a:rPr>
              <a:t>Al menos 33% de los ciudadanos registrados en el padrón electoral del territorio propuesto deben firmar la petición formal.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66360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85042"/>
                </a:solidFill>
                <a:latin typeface="Calibri"/>
              </a:rPr>
              <a:t>Constitución del Estado de BCS, Art. 122 · Ley de Participación Ciudadana, Art. 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200400"/>
            <a:ext cx="731520" cy="7315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32004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BF6E9"/>
                </a:solidFill>
                <a:latin typeface="Lora"/>
              </a:rPr>
              <a:t>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3200400"/>
            <a:ext cx="268833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BF6E9"/>
                </a:solidFill>
                <a:latin typeface="Lora"/>
              </a:rPr>
              <a:t>Puerta 2 — Plebiscito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60520"/>
            <a:ext cx="35844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F4ECD9"/>
                </a:solidFill>
                <a:latin typeface="Calibri"/>
              </a:rPr>
              <a:t>Al menos 2/3 de los ciudadanos que voten en el plebiscito deben votar SÍ.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166360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85042"/>
                </a:solidFill>
                <a:latin typeface="Calibri"/>
              </a:rPr>
              <a:t>Constitución del Estado de BCS, Art. 122.VIII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200400"/>
            <a:ext cx="731520" cy="7315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32004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BF6E9"/>
                </a:solidFill>
                <a:latin typeface="Lora"/>
              </a:rPr>
              <a:t>III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3200400"/>
            <a:ext cx="268833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BF6E9"/>
                </a:solidFill>
                <a:latin typeface="Lora"/>
              </a:rPr>
              <a:t>Puerta 3 — Congreso del Estado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160520"/>
            <a:ext cx="35844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F4ECD9"/>
                </a:solidFill>
                <a:latin typeface="Calibri"/>
              </a:rPr>
              <a:t>Al menos 2/3 de los Diputados del Congreso de BCS deben aprobar la reforma constitucional.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166360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85042"/>
                </a:solidFill>
                <a:latin typeface="Calibri"/>
              </a:rPr>
              <a:t>Constitución del Estado de BCS, Art. 64.XXXV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1">
                <a:solidFill>
                  <a:srgbClr val="FBF6E9"/>
                </a:solidFill>
                <a:latin typeface="Lora"/>
              </a:rPr>
              <a:t>Estas puertas son altas — y lo son a propósito. Aseguran que ningún municipio se cree sin apoyo comunitario genuino y demostrado. Si no podemos pasarlas, no debemos crearlo.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D4C8B0"/>
                </a:solidFill>
                <a:latin typeface="Calibri"/>
              </a:rPr>
              <a:t>PARA TODOS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D4C8B0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COSTOS Y COMPROMISOS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Costo del proceso — cada peso, público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1874519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3A2E26"/>
                </a:solidFill>
                <a:latin typeface="Calibri"/>
              </a:rPr>
              <a:t>Un proceso de municipalización bien hecho — con rigor técnico, consulta comunitaria, y fundamento legal — cuesta aproximadamente 10 millones de pesos a lo largo de 20 meses.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23160"/>
            <a:ext cx="3703320" cy="182880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606040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06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BF6E9"/>
                </a:solidFill>
                <a:latin typeface="Lora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5877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A2E26"/>
                </a:solidFill>
                <a:latin typeface="Lora"/>
              </a:rPr>
              <a:t>Etapa I — Fundación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971800"/>
            <a:ext cx="26517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Comité Promotor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Encuesta de opinión (600 cuestionarios)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Estudio cartográfico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B85042"/>
                </a:solidFill>
                <a:latin typeface="Calibri"/>
              </a:rPr>
              <a:t>600,000 MXN  ·  2 meses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2423160"/>
            <a:ext cx="3703320" cy="182880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53128" y="2606040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2606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BF6E9"/>
                </a:solidFill>
                <a:latin typeface="Lora"/>
              </a:rPr>
              <a:t>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5877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A2E26"/>
                </a:solidFill>
                <a:latin typeface="Lora"/>
              </a:rPr>
              <a:t>Etapa II — Plebiscito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971800"/>
            <a:ext cx="26517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Campaña informativa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Recolección de firmas (3,500+)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Plebiscito comunitario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38862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B85042"/>
                </a:solidFill>
                <a:latin typeface="Calibri"/>
              </a:rPr>
              <a:t>5,000,000 MXN  ·  6 meses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2423160"/>
            <a:ext cx="3703320" cy="182880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66176" y="2606040"/>
            <a:ext cx="640080" cy="6400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6" y="2606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BF6E9"/>
                </a:solidFill>
                <a:latin typeface="Lora"/>
              </a:rPr>
              <a:t>III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6" y="25877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A2E26"/>
                </a:solidFill>
                <a:latin typeface="Lora"/>
              </a:rPr>
              <a:t>Etapa III — Aprobación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3416" y="2971800"/>
            <a:ext cx="26517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Cabildeo legislativo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Programa de transición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B8504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3A2E26"/>
                </a:solidFill>
                <a:latin typeface="Calibri"/>
              </a:rPr>
              <a:t>Plan de Desarrollo Municipal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38862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B85042"/>
                </a:solidFill>
                <a:latin typeface="Calibri"/>
              </a:rPr>
              <a:t>2.7M + 1–3M cabildeo  ·  12 meses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A2E26"/>
                </a:solidFill>
                <a:latin typeface="Lora"/>
              </a:rPr>
              <a:t>Tres compromisos públicos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846320"/>
            <a:ext cx="3703320" cy="155448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846320"/>
            <a:ext cx="91440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0109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F6E9"/>
                </a:solidFill>
                <a:latin typeface="Lora"/>
              </a:rPr>
              <a:t>Financiamiento por etapas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44068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4ECD9"/>
                </a:solidFill>
                <a:latin typeface="Calibri"/>
              </a:rPr>
              <a:t>No levantamos fondos para la siguiente etapa hasta que los entregables de la actual sean públicos. Si la comunidad decide no continuar tras la Etapa I, paramos.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4846320"/>
            <a:ext cx="3703320" cy="155448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70248" y="4846320"/>
            <a:ext cx="91440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8848" y="50109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F6E9"/>
                </a:solidFill>
                <a:latin typeface="Lora"/>
              </a:rPr>
              <a:t>Libros abiertos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8848" y="544068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4ECD9"/>
                </a:solidFill>
                <a:latin typeface="Calibri"/>
              </a:rPr>
              <a:t>Reporte financiero público trimestral. Auditoría independiente al final de cada etapa.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83296" y="4846320"/>
            <a:ext cx="3703320" cy="155448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83296" y="4846320"/>
            <a:ext cx="91440" cy="1554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11896" y="50109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F6E9"/>
                </a:solidFill>
                <a:latin typeface="Lora"/>
              </a:rPr>
              <a:t>Veto comunitario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1896" y="544068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4ECD9"/>
                </a:solidFill>
                <a:latin typeface="Calibri"/>
              </a:rPr>
              <a:t>Si el sentir comunitario cambia, el Comité Promotor pausa y consulta públicamente antes de proceder.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QUIÉN ESTÁ DETRÁS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Esta conversación está convocada por tus vecinos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A2E26"/>
                </a:solidFill>
                <a:latin typeface="Calibri"/>
              </a:rPr>
              <a:t>Esta conversación es convocada por TODOS PARA TODOS A.C., una asociación civil mexicana dedicada a mejorar la calidad de vida en nuestras comunidades. La asociación está registrada, gobernada por un consejo comunitario, y rinde cuentas a su misión.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85042"/>
                </a:solidFill>
                <a:latin typeface="Calibri"/>
              </a:rPr>
              <a:t>Comité Promotor Inicial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3749039" cy="12801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3840480"/>
            <a:ext cx="822960" cy="822960"/>
          </a:xfrm>
          <a:prstGeom prst="ellipse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58768"/>
            <a:ext cx="8229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BF6E9"/>
                </a:solidFill>
                <a:latin typeface="Lora"/>
              </a:rPr>
              <a:t>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886200"/>
            <a:ext cx="2468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A2E26"/>
                </a:solidFill>
                <a:latin typeface="Lora"/>
              </a:rPr>
              <a:t>Sarai Torres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97680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3A2E26"/>
                </a:solidFill>
                <a:latin typeface="Calibri"/>
              </a:rPr>
              <a:t>vecina y co-fundadora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7" y="3611880"/>
            <a:ext cx="3749039" cy="12801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44567" y="3840480"/>
            <a:ext cx="822960" cy="822960"/>
          </a:xfrm>
          <a:prstGeom prst="ellipse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7" y="3858768"/>
            <a:ext cx="8229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BF6E9"/>
                </a:solidFill>
                <a:latin typeface="Lora"/>
              </a:rPr>
              <a:t>BM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7" y="3886200"/>
            <a:ext cx="2468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A2E26"/>
                </a:solidFill>
                <a:latin typeface="Lora"/>
              </a:rPr>
              <a:t>Barrett Masso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7" y="4297680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3A2E26"/>
                </a:solidFill>
                <a:latin typeface="Calibri"/>
              </a:rPr>
              <a:t>vecino y co-fundador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4" y="3611880"/>
            <a:ext cx="3749039" cy="12801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03334" y="3840480"/>
            <a:ext cx="822960" cy="822960"/>
          </a:xfrm>
          <a:prstGeom prst="ellipse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3334" y="3858768"/>
            <a:ext cx="8229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BF6E9"/>
                </a:solidFill>
                <a:latin typeface="Lora"/>
              </a:rP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4" y="3886200"/>
            <a:ext cx="2468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A2E26"/>
                </a:solidFill>
                <a:latin typeface="Lora"/>
              </a:rPr>
              <a:t>Más miembros pronto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4" y="4297680"/>
            <a:ext cx="24688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3A2E26"/>
                </a:solidFill>
                <a:latin typeface="Calibri"/>
              </a:rPr>
              <a:t>conforme se construye el grupo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74920"/>
            <a:ext cx="11247120" cy="128016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212080"/>
            <a:ext cx="10835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BF6E9"/>
                </a:solidFill>
                <a:latin typeface="Lora"/>
              </a:rPr>
              <a:t>Esta no es una iniciativa de arriba hacia abajo. Comenzó con vecinos preguntándose entre vecinos: ¿deberíamos estar teniendo esta conversación? La respuesta fue sí — y queríamos organizarla abiertamente, con transparencia y rigor.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UN EJEMPLO REGIONAL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Qué es posible — mirando a Los Cabos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2E26"/>
                </a:solidFill>
                <a:latin typeface="Calibri"/>
              </a:rPr>
              <a:t>En 1992, Los Cabos se convirtió en su propio municipio, separándose de La Paz. La comunidad siguió un camino legal similar. Desde entonces: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3703320" cy="155448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8036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B85042"/>
                </a:solidFill>
                <a:latin typeface="Lora"/>
              </a:rPr>
              <a:t>$7.7 B USD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FBF6E9"/>
                </a:solidFill>
                <a:latin typeface="Calibri"/>
              </a:rPr>
              <a:t>Producción económica anual (2024)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697480"/>
            <a:ext cx="3703320" cy="155448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288036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B85042"/>
                </a:solidFill>
                <a:latin typeface="Lora"/>
              </a:rPr>
              <a:t>350,000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703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FBF6E9"/>
                </a:solidFill>
                <a:latin typeface="Calibri"/>
              </a:rPr>
              <a:t>Visitantes anuales aproximados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6" y="2697480"/>
            <a:ext cx="3703320" cy="155448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3296" y="2880360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B85042"/>
                </a:solidFill>
                <a:latin typeface="Lora"/>
              </a:rPr>
              <a:t>130%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7033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FBF6E9"/>
                </a:solidFill>
                <a:latin typeface="Calibri"/>
              </a:rPr>
              <a:t>Crecimiento turístico en la última década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85042"/>
                </a:solidFill>
                <a:latin typeface="Calibri"/>
              </a:rPr>
              <a:t>Lo que esto NO dice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3A2E26"/>
                </a:solidFill>
                <a:latin typeface="Calibri"/>
              </a:rPr>
              <a:t>Los Cabos tuvo geografía distinta, momento distinto, liderazgo distinto, y suerte distinta. El crecimiento rápido tiene costos: tráfico, presión de vivienda, cambios de carácter. No todos los residentes dirían que salió perfecto.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4480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A2E26"/>
                </a:solidFill>
                <a:latin typeface="Calibri"/>
              </a:rPr>
              <a:t>Lo que sí muestra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484632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A2E26"/>
                </a:solidFill>
                <a:latin typeface="Calibri"/>
              </a:rPr>
              <a:t>Que el camino legal funciona. Que una comunidad costera de BCS puede auto-gobernarse. Que el carácter comunitario puede sobrevivir y adaptarse bajo gobernanza local.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EL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Cómo se desarrolla esta conversación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103120"/>
            <a:ext cx="777240" cy="9601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03120"/>
            <a:ext cx="7772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BF6E9"/>
                </a:solidFill>
                <a:latin typeface="Lora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2103120"/>
            <a:ext cx="10378440" cy="96012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2194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A2E26"/>
                </a:solidFill>
                <a:latin typeface="Lora"/>
              </a:rPr>
              <a:t>Semanas 1–4 · Fase de escucha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54203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A2E26"/>
                </a:solidFill>
                <a:latin typeface="Calibri"/>
              </a:rPr>
              <a:t>Conversaciones confidenciales con líderes comunitarios, dueños de negocios, residentes de todos los sectores. Encuesta de opinión pública diseñada y aplicada. Estudio de escenarios de límites por equipo técnico independiente. Sin compromisos. Sin firmas. Escuchamos.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777240" cy="9601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7772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BF6E9"/>
                </a:solidFill>
                <a:latin typeface="Lora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" y="3154680"/>
            <a:ext cx="10378440" cy="96012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3246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A2E26"/>
                </a:solidFill>
                <a:latin typeface="Lora"/>
              </a:rPr>
              <a:t>Semanas 5–8 · Participación pública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593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A2E26"/>
                </a:solidFill>
                <a:latin typeface="Calibri"/>
              </a:rPr>
              <a:t>Foros comunitarios en Todos Santos, Pescadero, Las Tunas, Las Playitas, Elías Calles. Sesiones de escucha más pequeñas en comunidades vecinas. Bilingüe. Q&amp;A en línea y por WhatsApp. Resultados preliminares compartidos públicamente.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777240" cy="9601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06240"/>
            <a:ext cx="7772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BF6E9"/>
                </a:solidFill>
                <a:latin typeface="Lora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4206240"/>
            <a:ext cx="10378440" cy="96012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4297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A2E26"/>
                </a:solidFill>
                <a:latin typeface="Lora"/>
              </a:rPr>
              <a:t>Semana 8 · Punto de decisión comunitaria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64515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A2E26"/>
                </a:solidFill>
                <a:latin typeface="Calibri"/>
              </a:rPr>
              <a:t>¿Continuamos a la Etapa II (proceso formal de plebiscito)? ¿O pausamos / no procedemos? La decisión se toma públicamente, con datos completos, razonamiento transparente, y consulta al Comité Promotor.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57800"/>
            <a:ext cx="777240" cy="9601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257800"/>
            <a:ext cx="7772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BF6E9"/>
                </a:solidFill>
                <a:latin typeface="Lora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5880" y="5257800"/>
            <a:ext cx="10378440" cy="96012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A2E26"/>
                </a:solidFill>
                <a:latin typeface="Lora"/>
              </a:rPr>
              <a:t>Después de la semana 8 — solo si hay apoyo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69671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A2E26"/>
                </a:solidFill>
                <a:latin typeface="Calibri"/>
              </a:rPr>
              <a:t>Comienza la Etapa II: campaña informativa, recolección de firmas, presentación formal del plebiscito. La autoridad electoral programa el plebiscito. La comunidad vota.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SI FUERA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Si fuéramos nuestro propio municipio mañana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057400"/>
            <a:ext cx="5532120" cy="4572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5532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Qué cambia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74320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6060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Cabildo local, presidente municipal local, servicios locales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71800"/>
            <a:ext cx="5532120" cy="365760"/>
          </a:xfrm>
          <a:prstGeom prst="rect">
            <a:avLst/>
          </a:prstGeom>
          <a:solidFill>
            <a:srgbClr val="FB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10896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9718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Gestión local del agua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3756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47472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3375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Planeación y gestión local de infraestructura eléctrica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03320"/>
            <a:ext cx="5532120" cy="365760"/>
          </a:xfrm>
          <a:prstGeom prst="rect">
            <a:avLst/>
          </a:prstGeom>
          <a:solidFill>
            <a:srgbClr val="FB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384048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7033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Primeros respondientes locales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6908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420624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0690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Permisos de desarrollo procesados localmente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34840"/>
            <a:ext cx="5532120" cy="365760"/>
          </a:xfrm>
          <a:prstGeom prst="rect">
            <a:avLst/>
          </a:prstGeom>
          <a:solidFill>
            <a:srgbClr val="FB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457200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4348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El impuesto predial se queda en la región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80060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" y="4937760"/>
            <a:ext cx="91440" cy="914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8006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Voz directa en política municipal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2057400"/>
            <a:ext cx="5532120" cy="457200"/>
          </a:xfrm>
          <a:prstGeom prst="rect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2057400"/>
            <a:ext cx="5532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Qué NO cambia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260604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82512" y="2743200"/>
            <a:ext cx="91440" cy="9144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11112" y="26060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Estatus migratorio federal (FM3, residencia, ciudadanía) — sin cambios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2971800"/>
            <a:ext cx="5532120" cy="365760"/>
          </a:xfrm>
          <a:prstGeom prst="rect">
            <a:avLst/>
          </a:prstGeom>
          <a:solidFill>
            <a:srgbClr val="FB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2512" y="3108960"/>
            <a:ext cx="91440" cy="9144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11112" y="29718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Derechos de propiedad — sin cambios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9632" y="333756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2512" y="3474720"/>
            <a:ext cx="91440" cy="9144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1112" y="33375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Impuestos federales — sin cambios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99632" y="3703320"/>
            <a:ext cx="5532120" cy="365760"/>
          </a:xfrm>
          <a:prstGeom prst="rect">
            <a:avLst/>
          </a:prstGeom>
          <a:solidFill>
            <a:srgbClr val="FB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82512" y="3840480"/>
            <a:ext cx="91440" cy="9144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11112" y="37033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Derecho al voto federal y estatal — sin cambios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99632" y="406908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82512" y="4206240"/>
            <a:ext cx="91440" cy="9144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11112" y="40690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Ley estatal y servicios estatales — sin cambios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99632" y="4434840"/>
            <a:ext cx="5532120" cy="365760"/>
          </a:xfrm>
          <a:prstGeom prst="rect">
            <a:avLst/>
          </a:prstGeom>
          <a:solidFill>
            <a:srgbClr val="FB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382512" y="4572000"/>
            <a:ext cx="91440" cy="9144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11112" y="44348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Programas federales de salud (IMSS) — sin cambios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99632" y="4800600"/>
            <a:ext cx="5532120" cy="36576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382512" y="4937760"/>
            <a:ext cx="91440" cy="9144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11112" y="48006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2E26"/>
                </a:solidFill>
                <a:latin typeface="Calibri"/>
              </a:rPr>
              <a:t>Programas federales y estatales de educación — sin cambios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1">
                <a:solidFill>
                  <a:srgbClr val="3A2E26"/>
                </a:solidFill>
                <a:latin typeface="Lora"/>
              </a:rPr>
              <a:t>Esto es un cambio a nivel municipal. Cambia quién decide sobre asuntos locales. No cambia tu vida federal, tu vida estatal, ni tu propiedad.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 i="0">
                <a:solidFill>
                  <a:srgbClr val="E6C8C0"/>
                </a:solidFill>
                <a:latin typeface="Lora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TRES MANERAS DE PARTICIPAR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E26"/>
                </a:solidFill>
                <a:latin typeface="Lora"/>
              </a:rPr>
              <a:t>Tres maneras de ser parte de la conversación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5720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722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7724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725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1860803"/>
            <a:ext cx="160019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19" y="1860803"/>
            <a:ext cx="160020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77339" y="1860803"/>
            <a:ext cx="160021" cy="27432"/>
          </a:xfrm>
          <a:prstGeom prst="line">
            <a:avLst/>
          </a:prstGeom>
          <a:ln w="17780">
            <a:solidFill>
              <a:srgbClr val="6D8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011680"/>
            <a:ext cx="3749039" cy="338328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3749039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4520" y="2514600"/>
            <a:ext cx="914400" cy="9144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20" y="25146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BF6E9"/>
                </a:solidFill>
                <a:latin typeface="Lora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3200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A2E26"/>
                </a:solidFill>
                <a:latin typeface="Calibri"/>
              </a:rPr>
              <a:t>ESCUCHAR + COMPARTIR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32003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3A2E26"/>
                </a:solidFill>
                <a:latin typeface="Calibri"/>
              </a:rPr>
              <a:t>Asiste a una sesión (presencial u online). Lee los materiales que publicamos. Comparte con tus vecinos. Sin compromiso. Este es el paso más importante.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7" y="2011680"/>
            <a:ext cx="3749039" cy="3383280"/>
          </a:xfrm>
          <a:prstGeom prst="rect">
            <a:avLst/>
          </a:prstGeom>
          <a:solidFill>
            <a:srgbClr val="FA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7" y="2011680"/>
            <a:ext cx="3749039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33287" y="2514600"/>
            <a:ext cx="914400" cy="9144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3287" y="25146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BF6E9"/>
                </a:solidFill>
                <a:latin typeface="Lora"/>
              </a:rP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7" y="3657600"/>
            <a:ext cx="3200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A2E26"/>
                </a:solidFill>
                <a:latin typeface="Calibri"/>
              </a:rPr>
              <a:t>VOLUNTARIO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7" y="4160520"/>
            <a:ext cx="32003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3A2E26"/>
                </a:solidFill>
                <a:latin typeface="Calibri"/>
              </a:rPr>
              <a:t>Anfitrión · Recolector de firmas (Etapa II) · Traductor (ES ↔ EN) · Diseño / video / redes · Contabilidad / legal · Comité asesor · Outreach por sector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4" y="2011680"/>
            <a:ext cx="3749039" cy="3383280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74734" y="2011680"/>
            <a:ext cx="3749039" cy="7315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92054" y="2514600"/>
            <a:ext cx="914400" cy="9144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92054" y="25146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BF6E9"/>
                </a:solidFill>
                <a:latin typeface="Lora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4" y="3657600"/>
            <a:ext cx="3200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A2E26"/>
                </a:solidFill>
                <a:latin typeface="Calibri"/>
              </a:rPr>
              <a:t>APORTAR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4" y="4160520"/>
            <a:ext cx="32003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3A2E26"/>
                </a:solidFill>
                <a:latin typeface="Calibri"/>
              </a:rPr>
              <a:t>Cualquier monto cuenta — de 50 a 500,000+ pesos. Las donaciones financian solamente el proceso por etapas. Reporte trimestral público. Status fiscal: en proceso SAT.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1">
                <a:solidFill>
                  <a:srgbClr val="3A2E26"/>
                </a:solidFill>
                <a:latin typeface="Lora"/>
              </a:rPr>
              <a:t>“Un voluntario vale tanto como un donante. Necesitamos ambos, por igual.”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solidFill>
            <a:srgbClr val="3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BF6E9"/>
                </a:solidFill>
                <a:latin typeface="Calibri"/>
              </a:rPr>
              <a:t>paratodosbcs.mx   ·   hola@paratodosbcs.mx   ·   Sesiones: 1 jun (ES) y 2 jun (EN), 5pm · Teatro-Cine Manuel Márquez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7A66"/>
                </a:solidFill>
                <a:latin typeface="Calibri"/>
              </a:rPr>
              <a:t>PARA TODOS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565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7A66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365760"/>
            <a:ext cx="2926080" cy="2926080"/>
          </a:xfrm>
          <a:prstGeom prst="ellipse">
            <a:avLst/>
          </a:prstGeom>
          <a:solidFill>
            <a:srgbClr val="4F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731520"/>
            <a:ext cx="2194560" cy="219456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eal-d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F6E9"/>
                </a:solidFill>
                <a:latin typeface="Calibri"/>
              </a:rPr>
              <a:t>PARA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600" b="1" i="0">
                <a:solidFill>
                  <a:srgbClr val="FBF6E9"/>
                </a:solidFill>
                <a:latin typeface="Lora"/>
              </a:rPr>
              <a:t>Nuestra Región.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4600" b="1" i="0">
                <a:solidFill>
                  <a:srgbClr val="FBF6E9"/>
                </a:solidFill>
                <a:latin typeface="Lora"/>
              </a:rPr>
              <a:t>Nuestro Futuro.</a:t>
            </a:r>
          </a:p>
          <a:p>
            <a:pPr algn="ctr">
              <a:lnSpc>
                <a:spcPct val="105000"/>
              </a:lnSpc>
            </a:pPr>
            <a:r>
              <a:rPr sz="4600" b="1" i="1">
                <a:solidFill>
                  <a:srgbClr val="D97A4A"/>
                </a:solidFill>
                <a:latin typeface="Lora"/>
              </a:rPr>
              <a:t>Nuestra Decisión.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418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 i="1">
                <a:solidFill>
                  <a:srgbClr val="F4ECD9"/>
                </a:solidFill>
                <a:latin typeface="Lora"/>
              </a:rPr>
              <a:t>No te estamos pidiendo que votes sí.</a:t>
            </a:r>
          </a:p>
          <a:p>
            <a:pPr algn="ctr">
              <a:lnSpc>
                <a:spcPct val="145000"/>
              </a:lnSpc>
            </a:pPr>
            <a:r>
              <a:rPr sz="1500" b="0" i="1">
                <a:solidFill>
                  <a:srgbClr val="F4ECD9"/>
                </a:solidFill>
                <a:latin typeface="Lora"/>
              </a:rPr>
              <a:t>No te estamos pidiendo que votes no.</a:t>
            </a:r>
          </a:p>
          <a:p>
            <a:pPr algn="ctr">
              <a:lnSpc>
                <a:spcPct val="145000"/>
              </a:lnSpc>
            </a:pPr>
            <a:r>
              <a:rPr sz="1500" b="0" i="1">
                <a:solidFill>
                  <a:srgbClr val="F4ECD9"/>
                </a:solidFill>
                <a:latin typeface="Lora"/>
              </a:rPr>
              <a:t/>
            </a:r>
          </a:p>
          <a:p>
            <a:pPr algn="ctr">
              <a:lnSpc>
                <a:spcPct val="145000"/>
              </a:lnSpc>
            </a:pPr>
            <a:r>
              <a:rPr sz="1500" b="0" i="1">
                <a:solidFill>
                  <a:srgbClr val="F4ECD9"/>
                </a:solidFill>
                <a:latin typeface="Lora"/>
              </a:rPr>
              <a:t>Te estamos pidiendo que seas parte de la conversación.</a:t>
            </a:r>
          </a:p>
          <a:p>
            <a:pPr algn="ctr">
              <a:lnSpc>
                <a:spcPct val="145000"/>
              </a:lnSpc>
            </a:pPr>
            <a:r>
              <a:rPr sz="1500" b="0" i="1">
                <a:solidFill>
                  <a:srgbClr val="F4ECD9"/>
                </a:solidFill>
                <a:latin typeface="Lora"/>
              </a:rPr>
              <a:t/>
            </a:r>
          </a:p>
          <a:p>
            <a:pPr algn="ctr">
              <a:lnSpc>
                <a:spcPct val="145000"/>
              </a:lnSpc>
            </a:pPr>
            <a:r>
              <a:rPr sz="1500" b="0" i="1">
                <a:solidFill>
                  <a:srgbClr val="F4ECD9"/>
                </a:solidFill>
                <a:latin typeface="Lora"/>
              </a:rPr>
              <a:t>Porque el futuro de esta región lo decidirá alguien.</a:t>
            </a:r>
          </a:p>
          <a:p>
            <a:pPr algn="ctr">
              <a:lnSpc>
                <a:spcPct val="145000"/>
              </a:lnSpc>
            </a:pPr>
            <a:r>
              <a:rPr sz="1500" b="0" i="1">
                <a:solidFill>
                  <a:srgbClr val="F4ECD9"/>
                </a:solidFill>
                <a:latin typeface="Lora"/>
              </a:rPr>
              <a:t>Debería decidirlo nosotros.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B85042"/>
                </a:solidFill>
                <a:latin typeface="Calibri"/>
              </a:rPr>
              <a:t>PARA TODOS  ·  Una conversación regional exploratoria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