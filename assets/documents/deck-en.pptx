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3A2E26"/>
        </a:solidFill>
        <a:effectLst/>
      </p:bgPr>
    </p:bg>
    <p:spTree>
      <p:nvGrpSpPr>
        <p:cNvPr id="1" name=""/>
        <p:cNvGrpSpPr/>
        <p:nvPr/>
      </p:nvGrpSpPr>
      <p:grpSpPr/>
      <p:sp>
        <p:nvSpPr>
          <p:cNvPr id="2" name="Oval 1"/>
          <p:cNvSpPr/>
          <p:nvPr/>
        </p:nvSpPr>
        <p:spPr>
          <a:xfrm>
            <a:off x="8778240" y="365760"/>
            <a:ext cx="2926080" cy="2926080"/>
          </a:xfrm>
          <a:prstGeom prst="ellipse">
            <a:avLst/>
          </a:prstGeom>
          <a:solidFill>
            <a:srgbClr val="4F7A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144000" y="731520"/>
            <a:ext cx="2194560" cy="2194560"/>
          </a:xfrm>
          <a:prstGeom prst="ellipse">
            <a:avLst/>
          </a:prstGeom>
          <a:solidFill>
            <a:srgbClr val="B850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seal-dark-512.png"/>
          <p:cNvPicPr>
            <a:picLocks noChangeAspect="1"/>
          </p:cNvPicPr>
          <p:nvPr/>
        </p:nvPicPr>
        <p:blipFill>
          <a:blip r:embed="rId2"/>
          <a:stretch>
            <a:fillRect/>
          </a:stretch>
        </p:blipFill>
        <p:spPr>
          <a:xfrm>
            <a:off x="640080" y="640080"/>
            <a:ext cx="777240" cy="777240"/>
          </a:xfrm>
          <a:prstGeom prst="rect">
            <a:avLst/>
          </a:prstGeom>
        </p:spPr>
      </p:pic>
      <p:sp>
        <p:nvSpPr>
          <p:cNvPr id="5" name="TextBox 4"/>
          <p:cNvSpPr txBox="1"/>
          <p:nvPr/>
        </p:nvSpPr>
        <p:spPr>
          <a:xfrm>
            <a:off x="1645920" y="713232"/>
            <a:ext cx="7315200" cy="365760"/>
          </a:xfrm>
          <a:prstGeom prst="rect">
            <a:avLst/>
          </a:prstGeom>
          <a:noFill/>
        </p:spPr>
        <p:txBody>
          <a:bodyPr wrap="square" lIns="0" rIns="0" tIns="0" bIns="0" anchor="t">
            <a:spAutoFit/>
          </a:bodyPr>
          <a:lstStyle/>
          <a:p>
            <a:pPr algn="l">
              <a:lnSpc>
                <a:spcPct val="115000"/>
              </a:lnSpc>
            </a:pPr>
            <a:r>
              <a:rPr sz="1400" b="1" i="0">
                <a:solidFill>
                  <a:srgbClr val="FBF6E9"/>
                </a:solidFill>
                <a:latin typeface="Calibri"/>
              </a:rPr>
              <a:t>PARA TODOS</a:t>
            </a:r>
          </a:p>
        </p:txBody>
      </p:sp>
      <p:sp>
        <p:nvSpPr>
          <p:cNvPr id="6" name="TextBox 5"/>
          <p:cNvSpPr txBox="1"/>
          <p:nvPr/>
        </p:nvSpPr>
        <p:spPr>
          <a:xfrm>
            <a:off x="1645920" y="1078992"/>
            <a:ext cx="7315200" cy="365760"/>
          </a:xfrm>
          <a:prstGeom prst="rect">
            <a:avLst/>
          </a:prstGeom>
          <a:noFill/>
        </p:spPr>
        <p:txBody>
          <a:bodyPr wrap="square" lIns="0" rIns="0" tIns="0" bIns="0" anchor="t">
            <a:spAutoFit/>
          </a:bodyPr>
          <a:lstStyle/>
          <a:p>
            <a:pPr algn="l">
              <a:lnSpc>
                <a:spcPct val="115000"/>
              </a:lnSpc>
            </a:pPr>
            <a:r>
              <a:rPr sz="1100" b="0" i="0">
                <a:solidFill>
                  <a:srgbClr val="F4ECD9"/>
                </a:solidFill>
                <a:latin typeface="Calibri"/>
              </a:rPr>
              <a:t>PACIFIC SOUTH · BCS</a:t>
            </a:r>
          </a:p>
        </p:txBody>
      </p:sp>
      <p:sp>
        <p:nvSpPr>
          <p:cNvPr id="7" name="TextBox 6"/>
          <p:cNvSpPr txBox="1"/>
          <p:nvPr/>
        </p:nvSpPr>
        <p:spPr>
          <a:xfrm>
            <a:off x="640080" y="2286000"/>
            <a:ext cx="10515600" cy="2377440"/>
          </a:xfrm>
          <a:prstGeom prst="rect">
            <a:avLst/>
          </a:prstGeom>
          <a:noFill/>
        </p:spPr>
        <p:txBody>
          <a:bodyPr wrap="square" lIns="0" rIns="0" tIns="0" bIns="0">
            <a:spAutoFit/>
          </a:bodyPr>
          <a:lstStyle/>
          <a:p>
            <a:pPr algn="l">
              <a:lnSpc>
                <a:spcPct val="105000"/>
              </a:lnSpc>
              <a:spcAft>
                <a:spcPts val="400"/>
              </a:spcAft>
            </a:pPr>
            <a:r>
              <a:rPr sz="5400" b="1" i="0">
                <a:solidFill>
                  <a:srgbClr val="FBF6E9"/>
                </a:solidFill>
                <a:latin typeface="Lora"/>
              </a:rPr>
              <a:t>Exploring Our Future</a:t>
            </a:r>
          </a:p>
          <a:p>
            <a:pPr algn="l">
              <a:lnSpc>
                <a:spcPct val="105000"/>
              </a:lnSpc>
            </a:pPr>
            <a:r>
              <a:rPr sz="5400" b="1" i="1">
                <a:solidFill>
                  <a:srgbClr val="D97A4A"/>
                </a:solidFill>
                <a:latin typeface="Lora"/>
              </a:rPr>
              <a:t>Together.</a:t>
            </a:r>
          </a:p>
        </p:txBody>
      </p:sp>
      <p:sp>
        <p:nvSpPr>
          <p:cNvPr id="8" name="TextBox 7"/>
          <p:cNvSpPr txBox="1"/>
          <p:nvPr/>
        </p:nvSpPr>
        <p:spPr>
          <a:xfrm>
            <a:off x="640080" y="4480560"/>
            <a:ext cx="10515600" cy="1097280"/>
          </a:xfrm>
          <a:prstGeom prst="rect">
            <a:avLst/>
          </a:prstGeom>
          <a:noFill/>
        </p:spPr>
        <p:txBody>
          <a:bodyPr wrap="square" lIns="0" rIns="0" tIns="0" bIns="0" anchor="t">
            <a:spAutoFit/>
          </a:bodyPr>
          <a:lstStyle/>
          <a:p>
            <a:pPr algn="l">
              <a:lnSpc>
                <a:spcPct val="130000"/>
              </a:lnSpc>
            </a:pPr>
            <a:r>
              <a:rPr sz="1900" b="0" i="0">
                <a:solidFill>
                  <a:srgbClr val="F4ECD9"/>
                </a:solidFill>
                <a:latin typeface="Calibri"/>
              </a:rPr>
              <a:t>A regional conversation about how decisions get made</a:t>
            </a:r>
          </a:p>
          <a:p>
            <a:pPr algn="l">
              <a:lnSpc>
                <a:spcPct val="130000"/>
              </a:lnSpc>
            </a:pPr>
            <a:r>
              <a:rPr sz="1900" b="0" i="0">
                <a:solidFill>
                  <a:srgbClr val="F4ECD9"/>
                </a:solidFill>
                <a:latin typeface="Calibri"/>
              </a:rPr>
              <a:t>on the Pacific South of BCS.</a:t>
            </a:r>
          </a:p>
        </p:txBody>
      </p:sp>
      <p:sp>
        <p:nvSpPr>
          <p:cNvPr id="9" name="TextBox 8"/>
          <p:cNvSpPr txBox="1"/>
          <p:nvPr/>
        </p:nvSpPr>
        <p:spPr>
          <a:xfrm>
            <a:off x="640080" y="5760720"/>
            <a:ext cx="10515600" cy="731520"/>
          </a:xfrm>
          <a:prstGeom prst="rect">
            <a:avLst/>
          </a:prstGeom>
          <a:noFill/>
        </p:spPr>
        <p:txBody>
          <a:bodyPr wrap="square" lIns="0" rIns="0" tIns="0" bIns="0" anchor="t">
            <a:spAutoFit/>
          </a:bodyPr>
          <a:lstStyle/>
          <a:p>
            <a:pPr algn="l">
              <a:lnSpc>
                <a:spcPct val="130000"/>
              </a:lnSpc>
            </a:pPr>
            <a:r>
              <a:rPr sz="1400" b="0" i="1">
                <a:solidFill>
                  <a:srgbClr val="FBF6E9"/>
                </a:solidFill>
                <a:latin typeface="Lora"/>
              </a:rPr>
              <a:t>“This is an exploration, not a proposal. We're here</a:t>
            </a:r>
          </a:p>
          <a:p>
            <a:pPr algn="l">
              <a:lnSpc>
                <a:spcPct val="130000"/>
              </a:lnSpc>
            </a:pPr>
            <a:r>
              <a:rPr sz="1400" b="0" i="1">
                <a:solidFill>
                  <a:srgbClr val="FBF6E9"/>
                </a:solidFill>
                <a:latin typeface="Lora"/>
              </a:rPr>
              <a:t>to listen, learn, and decide together.”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BF6E9"/>
        </a:solidFill>
        <a:effectLst/>
      </p:bgPr>
    </p:bg>
    <p:spTree>
      <p:nvGrpSpPr>
        <p:cNvPr id="1" name=""/>
        <p:cNvGrpSpPr/>
        <p:nvPr/>
      </p:nvGrpSpPr>
      <p:grpSpPr/>
      <p:sp>
        <p:nvSpPr>
          <p:cNvPr id="2" name="TextBox 1"/>
          <p:cNvSpPr txBox="1"/>
          <p:nvPr/>
        </p:nvSpPr>
        <p:spPr>
          <a:xfrm>
            <a:off x="411480" y="137160"/>
            <a:ext cx="2286000" cy="1005840"/>
          </a:xfrm>
          <a:prstGeom prst="rect">
            <a:avLst/>
          </a:prstGeom>
          <a:noFill/>
        </p:spPr>
        <p:txBody>
          <a:bodyPr wrap="square" lIns="0" rIns="0" tIns="0" bIns="0" anchor="t">
            <a:spAutoFit/>
          </a:bodyPr>
          <a:lstStyle/>
          <a:p>
            <a:pPr algn="l">
              <a:lnSpc>
                <a:spcPct val="95000"/>
              </a:lnSpc>
            </a:pPr>
            <a:r>
              <a:rPr sz="7200" b="1" i="0">
                <a:solidFill>
                  <a:srgbClr val="E6C8C0"/>
                </a:solidFill>
                <a:latin typeface="Lora"/>
              </a:rPr>
              <a:t>01</a:t>
            </a:r>
          </a:p>
        </p:txBody>
      </p:sp>
      <p:sp>
        <p:nvSpPr>
          <p:cNvPr id="3" name="TextBox 2"/>
          <p:cNvSpPr txBox="1"/>
          <p:nvPr/>
        </p:nvSpPr>
        <p:spPr>
          <a:xfrm>
            <a:off x="457200" y="457200"/>
            <a:ext cx="7315200" cy="365760"/>
          </a:xfrm>
          <a:prstGeom prst="rect">
            <a:avLst/>
          </a:prstGeom>
          <a:noFill/>
        </p:spPr>
        <p:txBody>
          <a:bodyPr wrap="square" lIns="0" rIns="0" tIns="0" bIns="0" anchor="t">
            <a:spAutoFit/>
          </a:bodyPr>
          <a:lstStyle/>
          <a:p>
            <a:pPr algn="l">
              <a:lnSpc>
                <a:spcPct val="115000"/>
              </a:lnSpc>
            </a:pPr>
            <a:r>
              <a:rPr sz="1100" b="1" i="0">
                <a:solidFill>
                  <a:srgbClr val="B85042"/>
                </a:solidFill>
                <a:latin typeface="Calibri"/>
              </a:rPr>
              <a:t>WHY NOW</a:t>
            </a:r>
          </a:p>
        </p:txBody>
      </p:sp>
      <p:sp>
        <p:nvSpPr>
          <p:cNvPr id="4" name="TextBox 3"/>
          <p:cNvSpPr txBox="1"/>
          <p:nvPr/>
        </p:nvSpPr>
        <p:spPr>
          <a:xfrm>
            <a:off x="457200" y="868680"/>
            <a:ext cx="11247120" cy="914400"/>
          </a:xfrm>
          <a:prstGeom prst="rect">
            <a:avLst/>
          </a:prstGeom>
          <a:noFill/>
        </p:spPr>
        <p:txBody>
          <a:bodyPr wrap="square" lIns="0" rIns="0" tIns="0" bIns="0" anchor="t">
            <a:spAutoFit/>
          </a:bodyPr>
          <a:lstStyle/>
          <a:p>
            <a:pPr algn="l">
              <a:lnSpc>
                <a:spcPct val="105000"/>
              </a:lnSpc>
            </a:pPr>
            <a:r>
              <a:rPr sz="3600" b="1" i="0">
                <a:solidFill>
                  <a:srgbClr val="3A2E26"/>
                </a:solidFill>
                <a:latin typeface="Lora"/>
              </a:rPr>
              <a:t>Why this conversation, why now?</a:t>
            </a:r>
          </a:p>
        </p:txBody>
      </p:sp>
      <p:cxnSp>
        <p:nvCxnSpPr>
          <p:cNvPr id="5" name="Connector 4"/>
          <p:cNvCxnSpPr/>
          <p:nvPr/>
        </p:nvCxnSpPr>
        <p:spPr>
          <a:xfrm flipV="1">
            <a:off x="457200" y="1860803"/>
            <a:ext cx="160020" cy="27432"/>
          </a:xfrm>
          <a:prstGeom prst="line">
            <a:avLst/>
          </a:prstGeom>
          <a:ln w="17780">
            <a:solidFill>
              <a:srgbClr val="6D8A6E"/>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617220" y="1860803"/>
            <a:ext cx="160020" cy="27432"/>
          </a:xfrm>
          <a:prstGeom prst="line">
            <a:avLst/>
          </a:prstGeom>
          <a:ln w="17780">
            <a:solidFill>
              <a:srgbClr val="6D8A6E"/>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V="1">
            <a:off x="777240" y="1860803"/>
            <a:ext cx="160019" cy="27432"/>
          </a:xfrm>
          <a:prstGeom prst="line">
            <a:avLst/>
          </a:prstGeom>
          <a:ln w="17780">
            <a:solidFill>
              <a:srgbClr val="6D8A6E"/>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937259" y="1860803"/>
            <a:ext cx="160021" cy="27432"/>
          </a:xfrm>
          <a:prstGeom prst="line">
            <a:avLst/>
          </a:prstGeom>
          <a:ln w="17780">
            <a:solidFill>
              <a:srgbClr val="6D8A6E"/>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V="1">
            <a:off x="1097280" y="1860803"/>
            <a:ext cx="160020" cy="27432"/>
          </a:xfrm>
          <a:prstGeom prst="line">
            <a:avLst/>
          </a:prstGeom>
          <a:ln w="17780">
            <a:solidFill>
              <a:srgbClr val="6D8A6E"/>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1257300" y="1860803"/>
            <a:ext cx="160019" cy="27432"/>
          </a:xfrm>
          <a:prstGeom prst="line">
            <a:avLst/>
          </a:prstGeom>
          <a:ln w="17780">
            <a:solidFill>
              <a:srgbClr val="6D8A6E"/>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V="1">
            <a:off x="1417319" y="1860803"/>
            <a:ext cx="160020" cy="27432"/>
          </a:xfrm>
          <a:prstGeom prst="line">
            <a:avLst/>
          </a:prstGeom>
          <a:ln w="17780">
            <a:solidFill>
              <a:srgbClr val="6D8A6E"/>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1577339" y="1860803"/>
            <a:ext cx="160021" cy="27432"/>
          </a:xfrm>
          <a:prstGeom prst="line">
            <a:avLst/>
          </a:prstGeom>
          <a:ln w="17780">
            <a:solidFill>
              <a:srgbClr val="6D8A6E"/>
            </a:solidFill>
          </a:ln>
        </p:spPr>
        <p:style>
          <a:lnRef idx="2">
            <a:schemeClr val="accent1"/>
          </a:lnRef>
          <a:fillRef idx="0">
            <a:schemeClr val="accent1"/>
          </a:fillRef>
          <a:effectRef idx="1">
            <a:schemeClr val="accent1"/>
          </a:effectRef>
          <a:fontRef idx="minor">
            <a:schemeClr val="tx1"/>
          </a:fontRef>
        </p:style>
      </p:cxnSp>
      <p:sp>
        <p:nvSpPr>
          <p:cNvPr id="13" name="Rectangle 12"/>
          <p:cNvSpPr/>
          <p:nvPr/>
        </p:nvSpPr>
        <p:spPr>
          <a:xfrm>
            <a:off x="457200" y="2286000"/>
            <a:ext cx="3657600" cy="54864"/>
          </a:xfrm>
          <a:prstGeom prst="rect">
            <a:avLst/>
          </a:prstGeom>
          <a:solidFill>
            <a:srgbClr val="B850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2468880"/>
            <a:ext cx="3657600" cy="640080"/>
          </a:xfrm>
          <a:prstGeom prst="rect">
            <a:avLst/>
          </a:prstGeom>
          <a:noFill/>
        </p:spPr>
        <p:txBody>
          <a:bodyPr wrap="square" lIns="0" rIns="0" tIns="0" bIns="0" anchor="t">
            <a:spAutoFit/>
          </a:bodyPr>
          <a:lstStyle/>
          <a:p>
            <a:pPr algn="l">
              <a:lnSpc>
                <a:spcPct val="115000"/>
              </a:lnSpc>
            </a:pPr>
            <a:r>
              <a:rPr sz="2200" b="1" i="0">
                <a:solidFill>
                  <a:srgbClr val="3A2E26"/>
                </a:solidFill>
                <a:latin typeface="Lora"/>
              </a:rPr>
              <a:t>Growing fast</a:t>
            </a:r>
          </a:p>
        </p:txBody>
      </p:sp>
      <p:sp>
        <p:nvSpPr>
          <p:cNvPr id="15" name="TextBox 14"/>
          <p:cNvSpPr txBox="1"/>
          <p:nvPr/>
        </p:nvSpPr>
        <p:spPr>
          <a:xfrm>
            <a:off x="457200" y="3200400"/>
            <a:ext cx="3657600" cy="2743200"/>
          </a:xfrm>
          <a:prstGeom prst="rect">
            <a:avLst/>
          </a:prstGeom>
          <a:noFill/>
        </p:spPr>
        <p:txBody>
          <a:bodyPr wrap="square" lIns="0" rIns="0" tIns="0" bIns="0">
            <a:spAutoFit/>
          </a:bodyPr>
          <a:lstStyle/>
          <a:p>
            <a:pPr algn="l">
              <a:lnSpc>
                <a:spcPct val="115000"/>
              </a:lnSpc>
              <a:spcAft>
                <a:spcPts val="1600"/>
              </a:spcAft>
            </a:pPr>
            <a:r>
              <a:rPr sz="1300" b="1" i="0">
                <a:solidFill>
                  <a:srgbClr val="B85042"/>
                </a:solidFill>
                <a:latin typeface="Calibri"/>
              </a:rPr>
              <a:t>•   </a:t>
            </a:r>
            <a:r>
              <a:rPr sz="1300" b="0" i="0">
                <a:solidFill>
                  <a:srgbClr val="3A2E26"/>
                </a:solidFill>
                <a:latin typeface="Calibri"/>
              </a:rPr>
              <a:t>~11,000 residents in the southern region today.</a:t>
            </a:r>
          </a:p>
          <a:p>
            <a:pPr algn="l">
              <a:lnSpc>
                <a:spcPct val="115000"/>
              </a:lnSpc>
              <a:spcAft>
                <a:spcPts val="1600"/>
              </a:spcAft>
            </a:pPr>
            <a:r>
              <a:rPr sz="1300" b="1" i="0">
                <a:solidFill>
                  <a:srgbClr val="B85042"/>
                </a:solidFill>
                <a:latin typeface="Calibri"/>
              </a:rPr>
              <a:t>•   </a:t>
            </a:r>
            <a:r>
              <a:rPr sz="1300" b="0" i="0">
                <a:solidFill>
                  <a:srgbClr val="3A2E26"/>
                </a:solidFill>
                <a:latin typeface="Calibri"/>
              </a:rPr>
              <a:t>3–6% annual growth — among the highest in BCS.</a:t>
            </a:r>
          </a:p>
          <a:p>
            <a:pPr algn="l">
              <a:lnSpc>
                <a:spcPct val="115000"/>
              </a:lnSpc>
              <a:spcAft>
                <a:spcPts val="1600"/>
              </a:spcAft>
            </a:pPr>
            <a:r>
              <a:rPr sz="1300" b="1" i="0">
                <a:solidFill>
                  <a:srgbClr val="B85042"/>
                </a:solidFill>
                <a:latin typeface="Calibri"/>
              </a:rPr>
              <a:t>•   </a:t>
            </a:r>
            <a:r>
              <a:rPr sz="1300" b="0" i="0">
                <a:solidFill>
                  <a:srgbClr val="3A2E26"/>
                </a:solidFill>
                <a:latin typeface="Calibri"/>
              </a:rPr>
              <a:t>More homes, visitors, and businesses every year.</a:t>
            </a:r>
          </a:p>
        </p:txBody>
      </p:sp>
      <p:sp>
        <p:nvSpPr>
          <p:cNvPr id="16" name="Rectangle 15"/>
          <p:cNvSpPr/>
          <p:nvPr/>
        </p:nvSpPr>
        <p:spPr>
          <a:xfrm>
            <a:off x="4251960" y="2286000"/>
            <a:ext cx="3657600" cy="54864"/>
          </a:xfrm>
          <a:prstGeom prst="rect">
            <a:avLst/>
          </a:prstGeom>
          <a:solidFill>
            <a:srgbClr val="B850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251960" y="2468880"/>
            <a:ext cx="3657600" cy="640080"/>
          </a:xfrm>
          <a:prstGeom prst="rect">
            <a:avLst/>
          </a:prstGeom>
          <a:noFill/>
        </p:spPr>
        <p:txBody>
          <a:bodyPr wrap="square" lIns="0" rIns="0" tIns="0" bIns="0" anchor="t">
            <a:spAutoFit/>
          </a:bodyPr>
          <a:lstStyle/>
          <a:p>
            <a:pPr algn="l">
              <a:lnSpc>
                <a:spcPct val="115000"/>
              </a:lnSpc>
            </a:pPr>
            <a:r>
              <a:rPr sz="2200" b="1" i="0">
                <a:solidFill>
                  <a:srgbClr val="3A2E26"/>
                </a:solidFill>
                <a:latin typeface="Lora"/>
              </a:rPr>
              <a:t>The pressure is real</a:t>
            </a:r>
          </a:p>
        </p:txBody>
      </p:sp>
      <p:sp>
        <p:nvSpPr>
          <p:cNvPr id="18" name="TextBox 17"/>
          <p:cNvSpPr txBox="1"/>
          <p:nvPr/>
        </p:nvSpPr>
        <p:spPr>
          <a:xfrm>
            <a:off x="4251960" y="3200400"/>
            <a:ext cx="3657600" cy="2743200"/>
          </a:xfrm>
          <a:prstGeom prst="rect">
            <a:avLst/>
          </a:prstGeom>
          <a:noFill/>
        </p:spPr>
        <p:txBody>
          <a:bodyPr wrap="square" lIns="0" rIns="0" tIns="0" bIns="0">
            <a:spAutoFit/>
          </a:bodyPr>
          <a:lstStyle/>
          <a:p>
            <a:pPr algn="l">
              <a:lnSpc>
                <a:spcPct val="115000"/>
              </a:lnSpc>
              <a:spcAft>
                <a:spcPts val="1600"/>
              </a:spcAft>
            </a:pPr>
            <a:r>
              <a:rPr sz="1300" b="1" i="0">
                <a:solidFill>
                  <a:srgbClr val="B85042"/>
                </a:solidFill>
                <a:latin typeface="Calibri"/>
              </a:rPr>
              <a:t>•   </a:t>
            </a:r>
            <a:r>
              <a:rPr sz="1300" b="0" i="0">
                <a:solidFill>
                  <a:srgbClr val="3A2E26"/>
                </a:solidFill>
                <a:latin typeface="Calibri"/>
              </a:rPr>
              <a:t>Water under stress: rising demand, saltwater intrusion.</a:t>
            </a:r>
          </a:p>
          <a:p>
            <a:pPr algn="l">
              <a:lnSpc>
                <a:spcPct val="115000"/>
              </a:lnSpc>
              <a:spcAft>
                <a:spcPts val="1600"/>
              </a:spcAft>
            </a:pPr>
            <a:r>
              <a:rPr sz="1300" b="1" i="0">
                <a:solidFill>
                  <a:srgbClr val="B85042"/>
                </a:solidFill>
                <a:latin typeface="Calibri"/>
              </a:rPr>
              <a:t>•   </a:t>
            </a:r>
            <a:r>
              <a:rPr sz="1300" b="0" i="0">
                <a:solidFill>
                  <a:srgbClr val="3A2E26"/>
                </a:solidFill>
                <a:latin typeface="Calibri"/>
              </a:rPr>
              <a:t>Power interruptions and capacity limits in peak season.</a:t>
            </a:r>
          </a:p>
          <a:p>
            <a:pPr algn="l">
              <a:lnSpc>
                <a:spcPct val="115000"/>
              </a:lnSpc>
              <a:spcAft>
                <a:spcPts val="1600"/>
              </a:spcAft>
            </a:pPr>
            <a:r>
              <a:rPr sz="1300" b="1" i="0">
                <a:solidFill>
                  <a:srgbClr val="B85042"/>
                </a:solidFill>
                <a:latin typeface="Calibri"/>
              </a:rPr>
              <a:t>•   </a:t>
            </a:r>
            <a:r>
              <a:rPr sz="1300" b="0" i="0">
                <a:solidFill>
                  <a:srgbClr val="3A2E26"/>
                </a:solidFill>
                <a:latin typeface="Calibri"/>
              </a:rPr>
              <a:t>New developments decided in La Paz, often without local input.</a:t>
            </a:r>
          </a:p>
        </p:txBody>
      </p:sp>
      <p:sp>
        <p:nvSpPr>
          <p:cNvPr id="19" name="Rectangle 18"/>
          <p:cNvSpPr/>
          <p:nvPr/>
        </p:nvSpPr>
        <p:spPr>
          <a:xfrm>
            <a:off x="8046720" y="2286000"/>
            <a:ext cx="3657600" cy="54864"/>
          </a:xfrm>
          <a:prstGeom prst="rect">
            <a:avLst/>
          </a:prstGeom>
          <a:solidFill>
            <a:srgbClr val="B850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046720" y="2468880"/>
            <a:ext cx="3657600" cy="640080"/>
          </a:xfrm>
          <a:prstGeom prst="rect">
            <a:avLst/>
          </a:prstGeom>
          <a:noFill/>
        </p:spPr>
        <p:txBody>
          <a:bodyPr wrap="square" lIns="0" rIns="0" tIns="0" bIns="0" anchor="t">
            <a:spAutoFit/>
          </a:bodyPr>
          <a:lstStyle/>
          <a:p>
            <a:pPr algn="l">
              <a:lnSpc>
                <a:spcPct val="115000"/>
              </a:lnSpc>
            </a:pPr>
            <a:r>
              <a:rPr sz="2200" b="1" i="0">
                <a:solidFill>
                  <a:srgbClr val="3A2E26"/>
                </a:solidFill>
                <a:latin typeface="Lora"/>
              </a:rPr>
              <a:t>The question is honest</a:t>
            </a:r>
          </a:p>
        </p:txBody>
      </p:sp>
      <p:sp>
        <p:nvSpPr>
          <p:cNvPr id="21" name="TextBox 20"/>
          <p:cNvSpPr txBox="1"/>
          <p:nvPr/>
        </p:nvSpPr>
        <p:spPr>
          <a:xfrm>
            <a:off x="8046720" y="3200400"/>
            <a:ext cx="3657600" cy="2743200"/>
          </a:xfrm>
          <a:prstGeom prst="rect">
            <a:avLst/>
          </a:prstGeom>
          <a:noFill/>
        </p:spPr>
        <p:txBody>
          <a:bodyPr wrap="square" lIns="0" rIns="0" tIns="0" bIns="0">
            <a:spAutoFit/>
          </a:bodyPr>
          <a:lstStyle/>
          <a:p>
            <a:pPr algn="l">
              <a:lnSpc>
                <a:spcPct val="115000"/>
              </a:lnSpc>
              <a:spcAft>
                <a:spcPts val="1600"/>
              </a:spcAft>
            </a:pPr>
            <a:r>
              <a:rPr sz="1300" b="1" i="0">
                <a:solidFill>
                  <a:srgbClr val="B85042"/>
                </a:solidFill>
                <a:latin typeface="Calibri"/>
              </a:rPr>
              <a:t>•   </a:t>
            </a:r>
            <a:r>
              <a:rPr sz="1300" b="0" i="0">
                <a:solidFill>
                  <a:srgbClr val="3A2E26"/>
                </a:solidFill>
                <a:latin typeface="Calibri"/>
              </a:rPr>
              <a:t>Are decisions made for us being made by us?</a:t>
            </a:r>
          </a:p>
          <a:p>
            <a:pPr algn="l">
              <a:lnSpc>
                <a:spcPct val="115000"/>
              </a:lnSpc>
              <a:spcAft>
                <a:spcPts val="1600"/>
              </a:spcAft>
            </a:pPr>
            <a:r>
              <a:rPr sz="1300" b="1" i="0">
                <a:solidFill>
                  <a:srgbClr val="B85042"/>
                </a:solidFill>
                <a:latin typeface="Calibri"/>
              </a:rPr>
              <a:t>•   </a:t>
            </a:r>
            <a:r>
              <a:rPr sz="1300" b="0" i="0">
                <a:solidFill>
                  <a:srgbClr val="3A2E26"/>
                </a:solidFill>
                <a:latin typeface="Calibri"/>
              </a:rPr>
              <a:t>If not, is that the structure we want for the next 20 years?</a:t>
            </a:r>
          </a:p>
          <a:p>
            <a:pPr algn="l">
              <a:lnSpc>
                <a:spcPct val="115000"/>
              </a:lnSpc>
              <a:spcAft>
                <a:spcPts val="1600"/>
              </a:spcAft>
            </a:pPr>
            <a:r>
              <a:rPr sz="1300" b="1" i="0">
                <a:solidFill>
                  <a:srgbClr val="B85042"/>
                </a:solidFill>
                <a:latin typeface="Calibri"/>
              </a:rPr>
              <a:t>•   </a:t>
            </a:r>
            <a:r>
              <a:rPr sz="1300" b="0" i="0">
                <a:solidFill>
                  <a:srgbClr val="3A2E26"/>
                </a:solidFill>
                <a:latin typeface="Calibri"/>
              </a:rPr>
              <a:t>And what's the right way to even ask?</a:t>
            </a:r>
          </a:p>
        </p:txBody>
      </p:sp>
      <p:sp>
        <p:nvSpPr>
          <p:cNvPr id="22" name="TextBox 21"/>
          <p:cNvSpPr txBox="1"/>
          <p:nvPr/>
        </p:nvSpPr>
        <p:spPr>
          <a:xfrm>
            <a:off x="457200" y="5852160"/>
            <a:ext cx="11247120" cy="548640"/>
          </a:xfrm>
          <a:prstGeom prst="rect">
            <a:avLst/>
          </a:prstGeom>
          <a:noFill/>
        </p:spPr>
        <p:txBody>
          <a:bodyPr wrap="square" lIns="0" rIns="0" tIns="0" bIns="0" anchor="t">
            <a:spAutoFit/>
          </a:bodyPr>
          <a:lstStyle/>
          <a:p>
            <a:pPr algn="ctr">
              <a:lnSpc>
                <a:spcPct val="130000"/>
              </a:lnSpc>
            </a:pPr>
            <a:r>
              <a:rPr sz="1500" b="0" i="1">
                <a:solidFill>
                  <a:srgbClr val="3A2E26"/>
                </a:solidFill>
                <a:latin typeface="Lora"/>
              </a:rPr>
              <a:t>“We don't have answers yet. We're trying to ask the right questions, with the right people, in the right way.”</a:t>
            </a:r>
          </a:p>
        </p:txBody>
      </p:sp>
      <p:sp>
        <p:nvSpPr>
          <p:cNvPr id="23" name="TextBox 22"/>
          <p:cNvSpPr txBox="1"/>
          <p:nvPr/>
        </p:nvSpPr>
        <p:spPr>
          <a:xfrm>
            <a:off x="457200" y="6565392"/>
            <a:ext cx="5486400" cy="228600"/>
          </a:xfrm>
          <a:prstGeom prst="rect">
            <a:avLst/>
          </a:prstGeom>
          <a:noFill/>
        </p:spPr>
        <p:txBody>
          <a:bodyPr wrap="square" lIns="0" rIns="0" tIns="0" bIns="0" anchor="t">
            <a:spAutoFit/>
          </a:bodyPr>
          <a:lstStyle/>
          <a:p>
            <a:pPr algn="l">
              <a:lnSpc>
                <a:spcPct val="115000"/>
              </a:lnSpc>
            </a:pPr>
            <a:r>
              <a:rPr sz="900" b="1" i="0">
                <a:solidFill>
                  <a:srgbClr val="8A7A66"/>
                </a:solidFill>
                <a:latin typeface="Calibri"/>
              </a:rPr>
              <a:t>PARA TODOS</a:t>
            </a:r>
          </a:p>
        </p:txBody>
      </p:sp>
      <p:sp>
        <p:nvSpPr>
          <p:cNvPr id="24" name="TextBox 23"/>
          <p:cNvSpPr txBox="1"/>
          <p:nvPr/>
        </p:nvSpPr>
        <p:spPr>
          <a:xfrm>
            <a:off x="10607040" y="6565392"/>
            <a:ext cx="1188720" cy="228600"/>
          </a:xfrm>
          <a:prstGeom prst="rect">
            <a:avLst/>
          </a:prstGeom>
          <a:noFill/>
        </p:spPr>
        <p:txBody>
          <a:bodyPr wrap="square" lIns="0" rIns="0" tIns="0" bIns="0" anchor="t">
            <a:spAutoFit/>
          </a:bodyPr>
          <a:lstStyle/>
          <a:p>
            <a:pPr algn="r">
              <a:lnSpc>
                <a:spcPct val="115000"/>
              </a:lnSpc>
            </a:pPr>
            <a:r>
              <a:rPr sz="900" b="0" i="0">
                <a:solidFill>
                  <a:srgbClr val="8A7A66"/>
                </a:solidFill>
                <a:latin typeface="Calibri"/>
              </a:rPr>
              <a:t>2 / 14</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BF6E9"/>
        </a:solidFill>
        <a:effectLst/>
      </p:bgPr>
    </p:bg>
    <p:spTree>
      <p:nvGrpSpPr>
        <p:cNvPr id="1" name=""/>
        <p:cNvGrpSpPr/>
        <p:nvPr/>
      </p:nvGrpSpPr>
      <p:grpSpPr/>
      <p:sp>
        <p:nvSpPr>
          <p:cNvPr id="2" name="TextBox 1"/>
          <p:cNvSpPr txBox="1"/>
          <p:nvPr/>
        </p:nvSpPr>
        <p:spPr>
          <a:xfrm>
            <a:off x="411480" y="137160"/>
            <a:ext cx="2286000" cy="1005840"/>
          </a:xfrm>
          <a:prstGeom prst="rect">
            <a:avLst/>
          </a:prstGeom>
          <a:noFill/>
        </p:spPr>
        <p:txBody>
          <a:bodyPr wrap="square" lIns="0" rIns="0" tIns="0" bIns="0" anchor="t">
            <a:spAutoFit/>
          </a:bodyPr>
          <a:lstStyle/>
          <a:p>
            <a:pPr algn="l">
              <a:lnSpc>
                <a:spcPct val="95000"/>
              </a:lnSpc>
            </a:pPr>
            <a:r>
              <a:rPr sz="7200" b="1" i="0">
                <a:solidFill>
                  <a:srgbClr val="E6C8C0"/>
                </a:solidFill>
                <a:latin typeface="Lora"/>
              </a:rPr>
              <a:t>02</a:t>
            </a:r>
          </a:p>
        </p:txBody>
      </p:sp>
      <p:sp>
        <p:nvSpPr>
          <p:cNvPr id="3" name="TextBox 2"/>
          <p:cNvSpPr txBox="1"/>
          <p:nvPr/>
        </p:nvSpPr>
        <p:spPr>
          <a:xfrm>
            <a:off x="457200" y="457200"/>
            <a:ext cx="7315200" cy="365760"/>
          </a:xfrm>
          <a:prstGeom prst="rect">
            <a:avLst/>
          </a:prstGeom>
          <a:noFill/>
        </p:spPr>
        <p:txBody>
          <a:bodyPr wrap="square" lIns="0" rIns="0" tIns="0" bIns="0" anchor="t">
            <a:spAutoFit/>
          </a:bodyPr>
          <a:lstStyle/>
          <a:p>
            <a:pPr algn="l">
              <a:lnSpc>
                <a:spcPct val="115000"/>
              </a:lnSpc>
            </a:pPr>
            <a:r>
              <a:rPr sz="1100" b="1" i="0">
                <a:solidFill>
                  <a:srgbClr val="B85042"/>
                </a:solidFill>
                <a:latin typeface="Calibri"/>
              </a:rPr>
              <a:t>THE REALITY</a:t>
            </a:r>
          </a:p>
        </p:txBody>
      </p:sp>
      <p:sp>
        <p:nvSpPr>
          <p:cNvPr id="4" name="TextBox 3"/>
          <p:cNvSpPr txBox="1"/>
          <p:nvPr/>
        </p:nvSpPr>
        <p:spPr>
          <a:xfrm>
            <a:off x="457200" y="868680"/>
            <a:ext cx="11247120" cy="914400"/>
          </a:xfrm>
          <a:prstGeom prst="rect">
            <a:avLst/>
          </a:prstGeom>
          <a:noFill/>
        </p:spPr>
        <p:txBody>
          <a:bodyPr wrap="square" lIns="0" rIns="0" tIns="0" bIns="0" anchor="t">
            <a:spAutoFit/>
          </a:bodyPr>
          <a:lstStyle/>
          <a:p>
            <a:pPr algn="l">
              <a:lnSpc>
                <a:spcPct val="105000"/>
              </a:lnSpc>
            </a:pPr>
            <a:r>
              <a:rPr sz="3600" b="1" i="0">
                <a:solidFill>
                  <a:srgbClr val="3A2E26"/>
                </a:solidFill>
                <a:latin typeface="Lora"/>
              </a:rPr>
              <a:t>What this looks like in daily life</a:t>
            </a:r>
          </a:p>
        </p:txBody>
      </p:sp>
      <p:cxnSp>
        <p:nvCxnSpPr>
          <p:cNvPr id="5" name="Connector 4"/>
          <p:cNvCxnSpPr/>
          <p:nvPr/>
        </p:nvCxnSpPr>
        <p:spPr>
          <a:xfrm flipV="1">
            <a:off x="457200" y="1860803"/>
            <a:ext cx="160020" cy="27432"/>
          </a:xfrm>
          <a:prstGeom prst="line">
            <a:avLst/>
          </a:prstGeom>
          <a:ln w="17780">
            <a:solidFill>
              <a:srgbClr val="6D8A6E"/>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617220" y="1860803"/>
            <a:ext cx="160020" cy="27432"/>
          </a:xfrm>
          <a:prstGeom prst="line">
            <a:avLst/>
          </a:prstGeom>
          <a:ln w="17780">
            <a:solidFill>
              <a:srgbClr val="6D8A6E"/>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V="1">
            <a:off x="777240" y="1860803"/>
            <a:ext cx="160019" cy="27432"/>
          </a:xfrm>
          <a:prstGeom prst="line">
            <a:avLst/>
          </a:prstGeom>
          <a:ln w="17780">
            <a:solidFill>
              <a:srgbClr val="6D8A6E"/>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937259" y="1860803"/>
            <a:ext cx="160021" cy="27432"/>
          </a:xfrm>
          <a:prstGeom prst="line">
            <a:avLst/>
          </a:prstGeom>
          <a:ln w="17780">
            <a:solidFill>
              <a:srgbClr val="6D8A6E"/>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V="1">
            <a:off x="1097280" y="1860803"/>
            <a:ext cx="160020" cy="27432"/>
          </a:xfrm>
          <a:prstGeom prst="line">
            <a:avLst/>
          </a:prstGeom>
          <a:ln w="17780">
            <a:solidFill>
              <a:srgbClr val="6D8A6E"/>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1257300" y="1860803"/>
            <a:ext cx="160019" cy="27432"/>
          </a:xfrm>
          <a:prstGeom prst="line">
            <a:avLst/>
          </a:prstGeom>
          <a:ln w="17780">
            <a:solidFill>
              <a:srgbClr val="6D8A6E"/>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V="1">
            <a:off x="1417319" y="1860803"/>
            <a:ext cx="160020" cy="27432"/>
          </a:xfrm>
          <a:prstGeom prst="line">
            <a:avLst/>
          </a:prstGeom>
          <a:ln w="17780">
            <a:solidFill>
              <a:srgbClr val="6D8A6E"/>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1577339" y="1860803"/>
            <a:ext cx="160021" cy="27432"/>
          </a:xfrm>
          <a:prstGeom prst="line">
            <a:avLst/>
          </a:prstGeom>
          <a:ln w="17780">
            <a:solidFill>
              <a:srgbClr val="6D8A6E"/>
            </a:solidFill>
          </a:ln>
        </p:spPr>
        <p:style>
          <a:lnRef idx="2">
            <a:schemeClr val="accent1"/>
          </a:lnRef>
          <a:fillRef idx="0">
            <a:schemeClr val="accent1"/>
          </a:fillRef>
          <a:effectRef idx="1">
            <a:schemeClr val="accent1"/>
          </a:effectRef>
          <a:fontRef idx="minor">
            <a:schemeClr val="tx1"/>
          </a:fontRef>
        </p:style>
      </p:cxnSp>
      <p:sp>
        <p:nvSpPr>
          <p:cNvPr id="13" name="Rectangle 12"/>
          <p:cNvSpPr/>
          <p:nvPr/>
        </p:nvSpPr>
        <p:spPr>
          <a:xfrm>
            <a:off x="457200" y="2194560"/>
            <a:ext cx="11247120" cy="1143000"/>
          </a:xfrm>
          <a:prstGeom prst="rect">
            <a:avLst/>
          </a:prstGeom>
          <a:solidFill>
            <a:srgbClr val="FAF4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57200" y="2194560"/>
            <a:ext cx="109728" cy="1143000"/>
          </a:xfrm>
          <a:prstGeom prst="rect">
            <a:avLst/>
          </a:prstGeom>
          <a:solidFill>
            <a:srgbClr val="B850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2446020"/>
            <a:ext cx="640080" cy="640080"/>
          </a:xfrm>
          <a:prstGeom prst="rect">
            <a:avLst/>
          </a:prstGeom>
          <a:solidFill>
            <a:srgbClr val="B850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7240" y="2446020"/>
            <a:ext cx="640080" cy="640080"/>
          </a:xfrm>
          <a:prstGeom prst="rect">
            <a:avLst/>
          </a:prstGeom>
          <a:noFill/>
        </p:spPr>
        <p:txBody>
          <a:bodyPr wrap="square" lIns="0" rIns="0" tIns="0" bIns="0" anchor="ctr">
            <a:spAutoFit/>
          </a:bodyPr>
          <a:lstStyle/>
          <a:p>
            <a:pPr algn="ctr">
              <a:lnSpc>
                <a:spcPct val="115000"/>
              </a:lnSpc>
            </a:pPr>
            <a:r>
              <a:rPr sz="2000" b="1" i="0">
                <a:solidFill>
                  <a:srgbClr val="FBF6E9"/>
                </a:solidFill>
                <a:latin typeface="Lora"/>
              </a:rPr>
              <a:t>A</a:t>
            </a:r>
          </a:p>
        </p:txBody>
      </p:sp>
      <p:sp>
        <p:nvSpPr>
          <p:cNvPr id="17" name="TextBox 16"/>
          <p:cNvSpPr txBox="1"/>
          <p:nvPr/>
        </p:nvSpPr>
        <p:spPr>
          <a:xfrm>
            <a:off x="1645920" y="2441448"/>
            <a:ext cx="9144000" cy="274320"/>
          </a:xfrm>
          <a:prstGeom prst="rect">
            <a:avLst/>
          </a:prstGeom>
          <a:noFill/>
        </p:spPr>
        <p:txBody>
          <a:bodyPr wrap="square" lIns="0" rIns="0" tIns="0" bIns="0" anchor="t">
            <a:spAutoFit/>
          </a:bodyPr>
          <a:lstStyle/>
          <a:p>
            <a:pPr algn="l">
              <a:lnSpc>
                <a:spcPct val="115000"/>
              </a:lnSpc>
            </a:pPr>
            <a:r>
              <a:rPr sz="1100" b="1" i="0">
                <a:solidFill>
                  <a:srgbClr val="B85042"/>
                </a:solidFill>
                <a:latin typeface="Calibri"/>
              </a:rPr>
              <a:t>WATER</a:t>
            </a:r>
          </a:p>
        </p:txBody>
      </p:sp>
      <p:sp>
        <p:nvSpPr>
          <p:cNvPr id="18" name="TextBox 17"/>
          <p:cNvSpPr txBox="1"/>
          <p:nvPr/>
        </p:nvSpPr>
        <p:spPr>
          <a:xfrm>
            <a:off x="1645920" y="2734056"/>
            <a:ext cx="9784080" cy="594360"/>
          </a:xfrm>
          <a:prstGeom prst="rect">
            <a:avLst/>
          </a:prstGeom>
          <a:noFill/>
        </p:spPr>
        <p:txBody>
          <a:bodyPr wrap="square" lIns="0" rIns="0" tIns="0" bIns="0" anchor="t">
            <a:spAutoFit/>
          </a:bodyPr>
          <a:lstStyle/>
          <a:p>
            <a:pPr algn="l">
              <a:lnSpc>
                <a:spcPct val="130000"/>
              </a:lnSpc>
            </a:pPr>
            <a:r>
              <a:rPr sz="1250" b="0" i="1">
                <a:solidFill>
                  <a:srgbClr val="3A2E26"/>
                </a:solidFill>
                <a:latin typeface="Calibri"/>
              </a:rPr>
              <a:t>When the aquifer drops, local farmers wait for permits from La Paz. Decisions about how much water gets pumped — and where it flows — are made by people who don't live with the consequences.</a:t>
            </a:r>
          </a:p>
        </p:txBody>
      </p:sp>
      <p:sp>
        <p:nvSpPr>
          <p:cNvPr id="19" name="Rectangle 18"/>
          <p:cNvSpPr/>
          <p:nvPr/>
        </p:nvSpPr>
        <p:spPr>
          <a:xfrm>
            <a:off x="457200" y="3474720"/>
            <a:ext cx="11247120" cy="1143000"/>
          </a:xfrm>
          <a:prstGeom prst="rect">
            <a:avLst/>
          </a:prstGeom>
          <a:solidFill>
            <a:srgbClr val="FAF4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57200" y="3474720"/>
            <a:ext cx="109728" cy="1143000"/>
          </a:xfrm>
          <a:prstGeom prst="rect">
            <a:avLst/>
          </a:prstGeom>
          <a:solidFill>
            <a:srgbClr val="B850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3726180"/>
            <a:ext cx="640080" cy="640080"/>
          </a:xfrm>
          <a:prstGeom prst="rect">
            <a:avLst/>
          </a:prstGeom>
          <a:solidFill>
            <a:srgbClr val="B850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77240" y="3726180"/>
            <a:ext cx="640080" cy="640080"/>
          </a:xfrm>
          <a:prstGeom prst="rect">
            <a:avLst/>
          </a:prstGeom>
          <a:noFill/>
        </p:spPr>
        <p:txBody>
          <a:bodyPr wrap="square" lIns="0" rIns="0" tIns="0" bIns="0" anchor="ctr">
            <a:spAutoFit/>
          </a:bodyPr>
          <a:lstStyle/>
          <a:p>
            <a:pPr algn="ctr">
              <a:lnSpc>
                <a:spcPct val="115000"/>
              </a:lnSpc>
            </a:pPr>
            <a:r>
              <a:rPr sz="2000" b="1" i="0">
                <a:solidFill>
                  <a:srgbClr val="FBF6E9"/>
                </a:solidFill>
                <a:latin typeface="Lora"/>
              </a:rPr>
              <a:t>B</a:t>
            </a:r>
          </a:p>
        </p:txBody>
      </p:sp>
      <p:sp>
        <p:nvSpPr>
          <p:cNvPr id="23" name="TextBox 22"/>
          <p:cNvSpPr txBox="1"/>
          <p:nvPr/>
        </p:nvSpPr>
        <p:spPr>
          <a:xfrm>
            <a:off x="1645920" y="3721608"/>
            <a:ext cx="9144000" cy="274320"/>
          </a:xfrm>
          <a:prstGeom prst="rect">
            <a:avLst/>
          </a:prstGeom>
          <a:noFill/>
        </p:spPr>
        <p:txBody>
          <a:bodyPr wrap="square" lIns="0" rIns="0" tIns="0" bIns="0" anchor="t">
            <a:spAutoFit/>
          </a:bodyPr>
          <a:lstStyle/>
          <a:p>
            <a:pPr algn="l">
              <a:lnSpc>
                <a:spcPct val="115000"/>
              </a:lnSpc>
            </a:pPr>
            <a:r>
              <a:rPr sz="1100" b="1" i="0">
                <a:solidFill>
                  <a:srgbClr val="B85042"/>
                </a:solidFill>
                <a:latin typeface="Calibri"/>
              </a:rPr>
              <a:t>POWER</a:t>
            </a:r>
          </a:p>
        </p:txBody>
      </p:sp>
      <p:sp>
        <p:nvSpPr>
          <p:cNvPr id="24" name="TextBox 23"/>
          <p:cNvSpPr txBox="1"/>
          <p:nvPr/>
        </p:nvSpPr>
        <p:spPr>
          <a:xfrm>
            <a:off x="1645920" y="4014216"/>
            <a:ext cx="9784080" cy="594360"/>
          </a:xfrm>
          <a:prstGeom prst="rect">
            <a:avLst/>
          </a:prstGeom>
          <a:noFill/>
        </p:spPr>
        <p:txBody>
          <a:bodyPr wrap="square" lIns="0" rIns="0" tIns="0" bIns="0" anchor="t">
            <a:spAutoFit/>
          </a:bodyPr>
          <a:lstStyle/>
          <a:p>
            <a:pPr algn="l">
              <a:lnSpc>
                <a:spcPct val="130000"/>
              </a:lnSpc>
            </a:pPr>
            <a:r>
              <a:rPr sz="1250" b="0" i="1">
                <a:solidFill>
                  <a:srgbClr val="3A2E26"/>
                </a:solidFill>
                <a:latin typeface="Calibri"/>
              </a:rPr>
              <a:t>When the transmission line from La Paz fails, our region waits. Decisions about grid investment in our area are made hours away by people prioritizing the city center.</a:t>
            </a:r>
          </a:p>
        </p:txBody>
      </p:sp>
      <p:sp>
        <p:nvSpPr>
          <p:cNvPr id="25" name="Rectangle 24"/>
          <p:cNvSpPr/>
          <p:nvPr/>
        </p:nvSpPr>
        <p:spPr>
          <a:xfrm>
            <a:off x="457200" y="4754880"/>
            <a:ext cx="11247120" cy="1143000"/>
          </a:xfrm>
          <a:prstGeom prst="rect">
            <a:avLst/>
          </a:prstGeom>
          <a:solidFill>
            <a:srgbClr val="FAF4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57200" y="4754880"/>
            <a:ext cx="109728" cy="1143000"/>
          </a:xfrm>
          <a:prstGeom prst="rect">
            <a:avLst/>
          </a:prstGeom>
          <a:solidFill>
            <a:srgbClr val="B850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77240" y="5006340"/>
            <a:ext cx="640080" cy="640080"/>
          </a:xfrm>
          <a:prstGeom prst="rect">
            <a:avLst/>
          </a:prstGeom>
          <a:solidFill>
            <a:srgbClr val="B850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77240" y="5006340"/>
            <a:ext cx="640080" cy="640080"/>
          </a:xfrm>
          <a:prstGeom prst="rect">
            <a:avLst/>
          </a:prstGeom>
          <a:noFill/>
        </p:spPr>
        <p:txBody>
          <a:bodyPr wrap="square" lIns="0" rIns="0" tIns="0" bIns="0" anchor="ctr">
            <a:spAutoFit/>
          </a:bodyPr>
          <a:lstStyle/>
          <a:p>
            <a:pPr algn="ctr">
              <a:lnSpc>
                <a:spcPct val="115000"/>
              </a:lnSpc>
            </a:pPr>
            <a:r>
              <a:rPr sz="2000" b="1" i="0">
                <a:solidFill>
                  <a:srgbClr val="FBF6E9"/>
                </a:solidFill>
                <a:latin typeface="Lora"/>
              </a:rPr>
              <a:t>C</a:t>
            </a:r>
          </a:p>
        </p:txBody>
      </p:sp>
      <p:sp>
        <p:nvSpPr>
          <p:cNvPr id="29" name="TextBox 28"/>
          <p:cNvSpPr txBox="1"/>
          <p:nvPr/>
        </p:nvSpPr>
        <p:spPr>
          <a:xfrm>
            <a:off x="1645920" y="5001768"/>
            <a:ext cx="9144000" cy="274320"/>
          </a:xfrm>
          <a:prstGeom prst="rect">
            <a:avLst/>
          </a:prstGeom>
          <a:noFill/>
        </p:spPr>
        <p:txBody>
          <a:bodyPr wrap="square" lIns="0" rIns="0" tIns="0" bIns="0" anchor="t">
            <a:spAutoFit/>
          </a:bodyPr>
          <a:lstStyle/>
          <a:p>
            <a:pPr algn="l">
              <a:lnSpc>
                <a:spcPct val="115000"/>
              </a:lnSpc>
            </a:pPr>
            <a:r>
              <a:rPr sz="1100" b="1" i="0">
                <a:solidFill>
                  <a:srgbClr val="B85042"/>
                </a:solidFill>
                <a:latin typeface="Calibri"/>
              </a:rPr>
              <a:t>DEVELOPMENT</a:t>
            </a:r>
          </a:p>
        </p:txBody>
      </p:sp>
      <p:sp>
        <p:nvSpPr>
          <p:cNvPr id="30" name="TextBox 29"/>
          <p:cNvSpPr txBox="1"/>
          <p:nvPr/>
        </p:nvSpPr>
        <p:spPr>
          <a:xfrm>
            <a:off x="1645920" y="5294376"/>
            <a:ext cx="9784080" cy="594360"/>
          </a:xfrm>
          <a:prstGeom prst="rect">
            <a:avLst/>
          </a:prstGeom>
          <a:noFill/>
        </p:spPr>
        <p:txBody>
          <a:bodyPr wrap="square" lIns="0" rIns="0" tIns="0" bIns="0" anchor="t">
            <a:spAutoFit/>
          </a:bodyPr>
          <a:lstStyle/>
          <a:p>
            <a:pPr algn="l">
              <a:lnSpc>
                <a:spcPct val="130000"/>
              </a:lnSpc>
            </a:pPr>
            <a:r>
              <a:rPr sz="1250" b="0" i="1">
                <a:solidFill>
                  <a:srgbClr val="3A2E26"/>
                </a:solidFill>
                <a:latin typeface="Calibri"/>
              </a:rPr>
              <a:t>When a new development is proposed near your neighborhood, the permitting process runs through La Paz. By the time you find out, the decision is often already made.</a:t>
            </a:r>
          </a:p>
        </p:txBody>
      </p:sp>
      <p:sp>
        <p:nvSpPr>
          <p:cNvPr id="31" name="TextBox 30"/>
          <p:cNvSpPr txBox="1"/>
          <p:nvPr/>
        </p:nvSpPr>
        <p:spPr>
          <a:xfrm>
            <a:off x="457200" y="5989320"/>
            <a:ext cx="11247120" cy="365760"/>
          </a:xfrm>
          <a:prstGeom prst="rect">
            <a:avLst/>
          </a:prstGeom>
          <a:noFill/>
        </p:spPr>
        <p:txBody>
          <a:bodyPr wrap="square" lIns="0" rIns="0" tIns="0" bIns="0" anchor="t">
            <a:spAutoFit/>
          </a:bodyPr>
          <a:lstStyle/>
          <a:p>
            <a:pPr algn="ctr">
              <a:lnSpc>
                <a:spcPct val="115000"/>
              </a:lnSpc>
            </a:pPr>
            <a:r>
              <a:rPr sz="1250" b="1" i="0">
                <a:solidFill>
                  <a:srgbClr val="3A2E26"/>
                </a:solidFill>
                <a:latin typeface="Calibri"/>
              </a:rPr>
              <a:t>Local governance wouldn't fix any of these overnight. But it would put the decisions closer to the people who live with them.</a:t>
            </a:r>
          </a:p>
        </p:txBody>
      </p:sp>
      <p:sp>
        <p:nvSpPr>
          <p:cNvPr id="32" name="TextBox 31"/>
          <p:cNvSpPr txBox="1"/>
          <p:nvPr/>
        </p:nvSpPr>
        <p:spPr>
          <a:xfrm>
            <a:off x="457200" y="6565392"/>
            <a:ext cx="5486400" cy="228600"/>
          </a:xfrm>
          <a:prstGeom prst="rect">
            <a:avLst/>
          </a:prstGeom>
          <a:noFill/>
        </p:spPr>
        <p:txBody>
          <a:bodyPr wrap="square" lIns="0" rIns="0" tIns="0" bIns="0" anchor="t">
            <a:spAutoFit/>
          </a:bodyPr>
          <a:lstStyle/>
          <a:p>
            <a:pPr algn="l">
              <a:lnSpc>
                <a:spcPct val="115000"/>
              </a:lnSpc>
            </a:pPr>
            <a:r>
              <a:rPr sz="900" b="1" i="0">
                <a:solidFill>
                  <a:srgbClr val="8A7A66"/>
                </a:solidFill>
                <a:latin typeface="Calibri"/>
              </a:rPr>
              <a:t>PARA TODOS</a:t>
            </a:r>
          </a:p>
        </p:txBody>
      </p:sp>
      <p:sp>
        <p:nvSpPr>
          <p:cNvPr id="33" name="TextBox 32"/>
          <p:cNvSpPr txBox="1"/>
          <p:nvPr/>
        </p:nvSpPr>
        <p:spPr>
          <a:xfrm>
            <a:off x="10607040" y="6565392"/>
            <a:ext cx="1188720" cy="228600"/>
          </a:xfrm>
          <a:prstGeom prst="rect">
            <a:avLst/>
          </a:prstGeom>
          <a:noFill/>
        </p:spPr>
        <p:txBody>
          <a:bodyPr wrap="square" lIns="0" rIns="0" tIns="0" bIns="0" anchor="t">
            <a:spAutoFit/>
          </a:bodyPr>
          <a:lstStyle/>
          <a:p>
            <a:pPr algn="r">
              <a:lnSpc>
                <a:spcPct val="115000"/>
              </a:lnSpc>
            </a:pPr>
            <a:r>
              <a:rPr sz="900" b="0" i="0">
                <a:solidFill>
                  <a:srgbClr val="8A7A66"/>
                </a:solidFill>
                <a:latin typeface="Calibri"/>
              </a:rPr>
              <a:t>3 / 14</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BF6E9"/>
        </a:solidFill>
        <a:effectLst/>
      </p:bgPr>
    </p:bg>
    <p:spTree>
      <p:nvGrpSpPr>
        <p:cNvPr id="1" name=""/>
        <p:cNvGrpSpPr/>
        <p:nvPr/>
      </p:nvGrpSpPr>
      <p:grpSpPr/>
      <p:sp>
        <p:nvSpPr>
          <p:cNvPr id="2" name="TextBox 1"/>
          <p:cNvSpPr txBox="1"/>
          <p:nvPr/>
        </p:nvSpPr>
        <p:spPr>
          <a:xfrm>
            <a:off x="411480" y="137160"/>
            <a:ext cx="2286000" cy="1005840"/>
          </a:xfrm>
          <a:prstGeom prst="rect">
            <a:avLst/>
          </a:prstGeom>
          <a:noFill/>
        </p:spPr>
        <p:txBody>
          <a:bodyPr wrap="square" lIns="0" rIns="0" tIns="0" bIns="0" anchor="t">
            <a:spAutoFit/>
          </a:bodyPr>
          <a:lstStyle/>
          <a:p>
            <a:pPr algn="l">
              <a:lnSpc>
                <a:spcPct val="95000"/>
              </a:lnSpc>
            </a:pPr>
            <a:r>
              <a:rPr sz="7200" b="1" i="0">
                <a:solidFill>
                  <a:srgbClr val="E6C8C0"/>
                </a:solidFill>
                <a:latin typeface="Lora"/>
              </a:rPr>
              <a:t>03</a:t>
            </a:r>
          </a:p>
        </p:txBody>
      </p:sp>
      <p:sp>
        <p:nvSpPr>
          <p:cNvPr id="3" name="TextBox 2"/>
          <p:cNvSpPr txBox="1"/>
          <p:nvPr/>
        </p:nvSpPr>
        <p:spPr>
          <a:xfrm>
            <a:off x="457200" y="457200"/>
            <a:ext cx="7315200" cy="365760"/>
          </a:xfrm>
          <a:prstGeom prst="rect">
            <a:avLst/>
          </a:prstGeom>
          <a:noFill/>
        </p:spPr>
        <p:txBody>
          <a:bodyPr wrap="square" lIns="0" rIns="0" tIns="0" bIns="0" anchor="t">
            <a:spAutoFit/>
          </a:bodyPr>
          <a:lstStyle/>
          <a:p>
            <a:pPr algn="l">
              <a:lnSpc>
                <a:spcPct val="115000"/>
              </a:lnSpc>
            </a:pPr>
            <a:r>
              <a:rPr sz="1100" b="1" i="0">
                <a:solidFill>
                  <a:srgbClr val="B85042"/>
                </a:solidFill>
                <a:latin typeface="Calibri"/>
              </a:rPr>
              <a:t>CURRENT STRUCTURE</a:t>
            </a:r>
          </a:p>
        </p:txBody>
      </p:sp>
      <p:sp>
        <p:nvSpPr>
          <p:cNvPr id="4" name="TextBox 3"/>
          <p:cNvSpPr txBox="1"/>
          <p:nvPr/>
        </p:nvSpPr>
        <p:spPr>
          <a:xfrm>
            <a:off x="457200" y="868680"/>
            <a:ext cx="11247120" cy="914400"/>
          </a:xfrm>
          <a:prstGeom prst="rect">
            <a:avLst/>
          </a:prstGeom>
          <a:noFill/>
        </p:spPr>
        <p:txBody>
          <a:bodyPr wrap="square" lIns="0" rIns="0" tIns="0" bIns="0" anchor="t">
            <a:spAutoFit/>
          </a:bodyPr>
          <a:lstStyle/>
          <a:p>
            <a:pPr algn="l">
              <a:lnSpc>
                <a:spcPct val="105000"/>
              </a:lnSpc>
            </a:pPr>
            <a:r>
              <a:rPr sz="3600" b="1" i="0">
                <a:solidFill>
                  <a:srgbClr val="3A2E26"/>
                </a:solidFill>
                <a:latin typeface="Lora"/>
              </a:rPr>
              <a:t>How decisions get made today</a:t>
            </a:r>
          </a:p>
        </p:txBody>
      </p:sp>
      <p:cxnSp>
        <p:nvCxnSpPr>
          <p:cNvPr id="5" name="Connector 4"/>
          <p:cNvCxnSpPr/>
          <p:nvPr/>
        </p:nvCxnSpPr>
        <p:spPr>
          <a:xfrm flipV="1">
            <a:off x="457200" y="1860803"/>
            <a:ext cx="160020" cy="27432"/>
          </a:xfrm>
          <a:prstGeom prst="line">
            <a:avLst/>
          </a:prstGeom>
          <a:ln w="17780">
            <a:solidFill>
              <a:srgbClr val="6D8A6E"/>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617220" y="1860803"/>
            <a:ext cx="160020" cy="27432"/>
          </a:xfrm>
          <a:prstGeom prst="line">
            <a:avLst/>
          </a:prstGeom>
          <a:ln w="17780">
            <a:solidFill>
              <a:srgbClr val="6D8A6E"/>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V="1">
            <a:off x="777240" y="1860803"/>
            <a:ext cx="160019" cy="27432"/>
          </a:xfrm>
          <a:prstGeom prst="line">
            <a:avLst/>
          </a:prstGeom>
          <a:ln w="17780">
            <a:solidFill>
              <a:srgbClr val="6D8A6E"/>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937259" y="1860803"/>
            <a:ext cx="160021" cy="27432"/>
          </a:xfrm>
          <a:prstGeom prst="line">
            <a:avLst/>
          </a:prstGeom>
          <a:ln w="17780">
            <a:solidFill>
              <a:srgbClr val="6D8A6E"/>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V="1">
            <a:off x="1097280" y="1860803"/>
            <a:ext cx="160020" cy="27432"/>
          </a:xfrm>
          <a:prstGeom prst="line">
            <a:avLst/>
          </a:prstGeom>
          <a:ln w="17780">
            <a:solidFill>
              <a:srgbClr val="6D8A6E"/>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1257300" y="1860803"/>
            <a:ext cx="160019" cy="27432"/>
          </a:xfrm>
          <a:prstGeom prst="line">
            <a:avLst/>
          </a:prstGeom>
          <a:ln w="17780">
            <a:solidFill>
              <a:srgbClr val="6D8A6E"/>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V="1">
            <a:off x="1417319" y="1860803"/>
            <a:ext cx="160020" cy="27432"/>
          </a:xfrm>
          <a:prstGeom prst="line">
            <a:avLst/>
          </a:prstGeom>
          <a:ln w="17780">
            <a:solidFill>
              <a:srgbClr val="6D8A6E"/>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1577339" y="1860803"/>
            <a:ext cx="160021" cy="27432"/>
          </a:xfrm>
          <a:prstGeom prst="line">
            <a:avLst/>
          </a:prstGeom>
          <a:ln w="17780">
            <a:solidFill>
              <a:srgbClr val="6D8A6E"/>
            </a:solidFill>
          </a:ln>
        </p:spPr>
        <p:style>
          <a:lnRef idx="2">
            <a:schemeClr val="accent1"/>
          </a:lnRef>
          <a:fillRef idx="0">
            <a:schemeClr val="accent1"/>
          </a:fillRef>
          <a:effectRef idx="1">
            <a:schemeClr val="accent1"/>
          </a:effectRef>
          <a:fontRef idx="minor">
            <a:schemeClr val="tx1"/>
          </a:fontRef>
        </p:style>
      </p:cxnSp>
      <p:sp>
        <p:nvSpPr>
          <p:cNvPr id="13" name="Rectangle 12"/>
          <p:cNvSpPr/>
          <p:nvPr/>
        </p:nvSpPr>
        <p:spPr>
          <a:xfrm>
            <a:off x="457200" y="2103120"/>
            <a:ext cx="7132320" cy="502920"/>
          </a:xfrm>
          <a:prstGeom prst="rect">
            <a:avLst/>
          </a:prstGeom>
          <a:solidFill>
            <a:srgbClr val="3A2E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2103120"/>
            <a:ext cx="7132320" cy="502920"/>
          </a:xfrm>
          <a:prstGeom prst="rect">
            <a:avLst/>
          </a:prstGeom>
          <a:noFill/>
        </p:spPr>
        <p:txBody>
          <a:bodyPr wrap="square" lIns="0" rIns="0" tIns="0" bIns="0" anchor="ctr">
            <a:spAutoFit/>
          </a:bodyPr>
          <a:lstStyle/>
          <a:p>
            <a:pPr algn="ctr">
              <a:lnSpc>
                <a:spcPct val="115000"/>
              </a:lnSpc>
            </a:pPr>
            <a:r>
              <a:rPr sz="1400" b="1" i="0">
                <a:solidFill>
                  <a:srgbClr val="FBF6E9"/>
                </a:solidFill>
                <a:latin typeface="Calibri"/>
              </a:rPr>
              <a:t>Federal Government (Mexico City)</a:t>
            </a:r>
          </a:p>
        </p:txBody>
      </p:sp>
      <p:sp>
        <p:nvSpPr>
          <p:cNvPr id="15" name="Rectangle 14"/>
          <p:cNvSpPr/>
          <p:nvPr/>
        </p:nvSpPr>
        <p:spPr>
          <a:xfrm>
            <a:off x="457200" y="2770632"/>
            <a:ext cx="7132320" cy="502920"/>
          </a:xfrm>
          <a:prstGeom prst="rect">
            <a:avLst/>
          </a:prstGeom>
          <a:solidFill>
            <a:srgbClr val="4F7A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2770632"/>
            <a:ext cx="7132320" cy="502920"/>
          </a:xfrm>
          <a:prstGeom prst="rect">
            <a:avLst/>
          </a:prstGeom>
          <a:noFill/>
        </p:spPr>
        <p:txBody>
          <a:bodyPr wrap="square" lIns="0" rIns="0" tIns="0" bIns="0" anchor="ctr">
            <a:spAutoFit/>
          </a:bodyPr>
          <a:lstStyle/>
          <a:p>
            <a:pPr algn="ctr">
              <a:lnSpc>
                <a:spcPct val="115000"/>
              </a:lnSpc>
            </a:pPr>
            <a:r>
              <a:rPr sz="1400" b="1" i="0">
                <a:solidFill>
                  <a:srgbClr val="FBF6E9"/>
                </a:solidFill>
                <a:latin typeface="Calibri"/>
              </a:rPr>
              <a:t>State Government (La Paz, BCS)</a:t>
            </a:r>
          </a:p>
        </p:txBody>
      </p:sp>
      <p:sp>
        <p:nvSpPr>
          <p:cNvPr id="17" name="Rectangle 16"/>
          <p:cNvSpPr/>
          <p:nvPr/>
        </p:nvSpPr>
        <p:spPr>
          <a:xfrm>
            <a:off x="457200" y="3438144"/>
            <a:ext cx="7132320" cy="502920"/>
          </a:xfrm>
          <a:prstGeom prst="rect">
            <a:avLst/>
          </a:prstGeom>
          <a:solidFill>
            <a:srgbClr val="B850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3438144"/>
            <a:ext cx="7132320" cy="502920"/>
          </a:xfrm>
          <a:prstGeom prst="rect">
            <a:avLst/>
          </a:prstGeom>
          <a:noFill/>
        </p:spPr>
        <p:txBody>
          <a:bodyPr wrap="square" lIns="0" rIns="0" tIns="0" bIns="0" anchor="ctr">
            <a:spAutoFit/>
          </a:bodyPr>
          <a:lstStyle/>
          <a:p>
            <a:pPr algn="ctr">
              <a:lnSpc>
                <a:spcPct val="115000"/>
              </a:lnSpc>
            </a:pPr>
            <a:r>
              <a:rPr sz="1400" b="1" i="0">
                <a:solidFill>
                  <a:srgbClr val="FBF6E9"/>
                </a:solidFill>
                <a:latin typeface="Calibri"/>
              </a:rPr>
              <a:t>La Paz Municipality — cabecera: La Paz</a:t>
            </a:r>
          </a:p>
        </p:txBody>
      </p:sp>
      <p:sp>
        <p:nvSpPr>
          <p:cNvPr id="19" name="Rectangle 18"/>
          <p:cNvSpPr/>
          <p:nvPr/>
        </p:nvSpPr>
        <p:spPr>
          <a:xfrm>
            <a:off x="457200" y="4151376"/>
            <a:ext cx="3383280" cy="868680"/>
          </a:xfrm>
          <a:prstGeom prst="rect">
            <a:avLst/>
          </a:prstGeom>
          <a:solidFill>
            <a:srgbClr val="F4EC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57200" y="4261104"/>
            <a:ext cx="3383280" cy="320040"/>
          </a:xfrm>
          <a:prstGeom prst="rect">
            <a:avLst/>
          </a:prstGeom>
          <a:noFill/>
        </p:spPr>
        <p:txBody>
          <a:bodyPr wrap="square" lIns="0" rIns="0" tIns="0" bIns="0" anchor="t">
            <a:spAutoFit/>
          </a:bodyPr>
          <a:lstStyle/>
          <a:p>
            <a:pPr algn="ctr">
              <a:lnSpc>
                <a:spcPct val="115000"/>
              </a:lnSpc>
            </a:pPr>
            <a:r>
              <a:rPr sz="1300" b="1" i="0">
                <a:solidFill>
                  <a:srgbClr val="3A2E26"/>
                </a:solidFill>
                <a:latin typeface="Calibri"/>
              </a:rPr>
              <a:t>La Paz City</a:t>
            </a:r>
          </a:p>
        </p:txBody>
      </p:sp>
      <p:sp>
        <p:nvSpPr>
          <p:cNvPr id="21" name="TextBox 20"/>
          <p:cNvSpPr txBox="1"/>
          <p:nvPr/>
        </p:nvSpPr>
        <p:spPr>
          <a:xfrm>
            <a:off x="457200" y="4608576"/>
            <a:ext cx="3383280" cy="365760"/>
          </a:xfrm>
          <a:prstGeom prst="rect">
            <a:avLst/>
          </a:prstGeom>
          <a:noFill/>
        </p:spPr>
        <p:txBody>
          <a:bodyPr wrap="square" lIns="0" rIns="0" tIns="0" bIns="0" anchor="t">
            <a:spAutoFit/>
          </a:bodyPr>
          <a:lstStyle/>
          <a:p>
            <a:pPr algn="ctr">
              <a:lnSpc>
                <a:spcPct val="115000"/>
              </a:lnSpc>
            </a:pPr>
            <a:r>
              <a:rPr sz="1300" b="0" i="0">
                <a:solidFill>
                  <a:srgbClr val="3A2E26"/>
                </a:solidFill>
                <a:latin typeface="Calibri"/>
              </a:rPr>
              <a:t>~300,000+ residents</a:t>
            </a:r>
          </a:p>
        </p:txBody>
      </p:sp>
      <p:sp>
        <p:nvSpPr>
          <p:cNvPr id="22" name="Rectangle 21"/>
          <p:cNvSpPr/>
          <p:nvPr/>
        </p:nvSpPr>
        <p:spPr>
          <a:xfrm>
            <a:off x="4023360" y="4151376"/>
            <a:ext cx="3383280" cy="868680"/>
          </a:xfrm>
          <a:prstGeom prst="rect">
            <a:avLst/>
          </a:prstGeom>
          <a:solidFill>
            <a:srgbClr val="B850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023360" y="4261104"/>
            <a:ext cx="3383280" cy="320040"/>
          </a:xfrm>
          <a:prstGeom prst="rect">
            <a:avLst/>
          </a:prstGeom>
          <a:noFill/>
        </p:spPr>
        <p:txBody>
          <a:bodyPr wrap="square" lIns="0" rIns="0" tIns="0" bIns="0" anchor="t">
            <a:spAutoFit/>
          </a:bodyPr>
          <a:lstStyle/>
          <a:p>
            <a:pPr algn="ctr">
              <a:lnSpc>
                <a:spcPct val="115000"/>
              </a:lnSpc>
            </a:pPr>
            <a:r>
              <a:rPr sz="1300" b="1" i="0">
                <a:solidFill>
                  <a:srgbClr val="FBF6E9"/>
                </a:solidFill>
                <a:latin typeface="Calibri"/>
              </a:rPr>
              <a:t>Southern Region (us)</a:t>
            </a:r>
          </a:p>
        </p:txBody>
      </p:sp>
      <p:sp>
        <p:nvSpPr>
          <p:cNvPr id="24" name="TextBox 23"/>
          <p:cNvSpPr txBox="1"/>
          <p:nvPr/>
        </p:nvSpPr>
        <p:spPr>
          <a:xfrm>
            <a:off x="4023360" y="4608576"/>
            <a:ext cx="3383280" cy="365760"/>
          </a:xfrm>
          <a:prstGeom prst="rect">
            <a:avLst/>
          </a:prstGeom>
          <a:noFill/>
        </p:spPr>
        <p:txBody>
          <a:bodyPr wrap="square" lIns="0" rIns="0" tIns="0" bIns="0" anchor="t">
            <a:spAutoFit/>
          </a:bodyPr>
          <a:lstStyle/>
          <a:p>
            <a:pPr algn="ctr">
              <a:lnSpc>
                <a:spcPct val="115000"/>
              </a:lnSpc>
            </a:pPr>
            <a:r>
              <a:rPr sz="1300" b="0" i="0">
                <a:solidFill>
                  <a:srgbClr val="FBF6E9"/>
                </a:solidFill>
                <a:latin typeface="Calibri"/>
              </a:rPr>
              <a:t>~11,000 residents</a:t>
            </a:r>
          </a:p>
        </p:txBody>
      </p:sp>
      <p:sp>
        <p:nvSpPr>
          <p:cNvPr id="25" name="TextBox 24"/>
          <p:cNvSpPr txBox="1"/>
          <p:nvPr/>
        </p:nvSpPr>
        <p:spPr>
          <a:xfrm>
            <a:off x="7955279" y="2103120"/>
            <a:ext cx="3840480" cy="2651760"/>
          </a:xfrm>
          <a:prstGeom prst="rect">
            <a:avLst/>
          </a:prstGeom>
          <a:noFill/>
        </p:spPr>
        <p:txBody>
          <a:bodyPr wrap="square" lIns="0" rIns="0" tIns="0" bIns="0">
            <a:spAutoFit/>
          </a:bodyPr>
          <a:lstStyle/>
          <a:p>
            <a:pPr algn="l">
              <a:lnSpc>
                <a:spcPct val="135000"/>
              </a:lnSpc>
              <a:spcAft>
                <a:spcPts val="1000"/>
              </a:spcAft>
            </a:pPr>
            <a:r>
              <a:rPr sz="1300" b="0" i="0">
                <a:solidFill>
                  <a:srgbClr val="3A2E26"/>
                </a:solidFill>
                <a:latin typeface="Calibri"/>
              </a:rPr>
              <a:t>La Paz Municipality is 1 of 5 municipalities in BCS.</a:t>
            </a:r>
          </a:p>
          <a:p>
            <a:pPr algn="l">
              <a:lnSpc>
                <a:spcPct val="135000"/>
              </a:lnSpc>
              <a:spcAft>
                <a:spcPts val="1000"/>
              </a:spcAft>
            </a:pPr>
            <a:r>
              <a:rPr sz="1300" b="0" i="0">
                <a:solidFill>
                  <a:srgbClr val="3A2E26"/>
                </a:solidFill>
                <a:latin typeface="Calibri"/>
              </a:rPr>
              <a:t>Our region is 1 of 30+ delegations within that municipality.</a:t>
            </a:r>
          </a:p>
          <a:p>
            <a:pPr algn="l">
              <a:lnSpc>
                <a:spcPct val="135000"/>
              </a:lnSpc>
              <a:spcAft>
                <a:spcPts val="1000"/>
              </a:spcAft>
            </a:pPr>
            <a:r>
              <a:rPr sz="1300" b="0" i="0">
                <a:solidFill>
                  <a:srgbClr val="3A2E26"/>
                </a:solidFill>
                <a:latin typeface="Calibri"/>
              </a:rPr>
              <a:t>Municipal officials are elected by the entire municipality — ~96% of deciding voters live in La Paz or its suburbs.</a:t>
            </a:r>
          </a:p>
        </p:txBody>
      </p:sp>
      <p:sp>
        <p:nvSpPr>
          <p:cNvPr id="26" name="Rectangle 25"/>
          <p:cNvSpPr/>
          <p:nvPr/>
        </p:nvSpPr>
        <p:spPr>
          <a:xfrm>
            <a:off x="7955279" y="4983480"/>
            <a:ext cx="3840480" cy="1371600"/>
          </a:xfrm>
          <a:prstGeom prst="rect">
            <a:avLst/>
          </a:prstGeom>
          <a:solidFill>
            <a:srgbClr val="3A2E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183879" y="5074920"/>
            <a:ext cx="3383280" cy="1188720"/>
          </a:xfrm>
          <a:prstGeom prst="rect">
            <a:avLst/>
          </a:prstGeom>
          <a:noFill/>
        </p:spPr>
        <p:txBody>
          <a:bodyPr wrap="square" lIns="0" rIns="0" tIns="0" bIns="0" anchor="ctr">
            <a:spAutoFit/>
          </a:bodyPr>
          <a:lstStyle/>
          <a:p>
            <a:pPr algn="l">
              <a:lnSpc>
                <a:spcPct val="135000"/>
              </a:lnSpc>
            </a:pPr>
            <a:r>
              <a:rPr sz="1250" b="0" i="1">
                <a:solidFill>
                  <a:srgbClr val="FBF6E9"/>
                </a:solidFill>
                <a:latin typeface="Lora"/>
              </a:rPr>
              <a:t>This is not a criticism of La Paz. It's a structural observation: no system can prioritize 11,000 people when 300,000+ live an hour away.</a:t>
            </a:r>
          </a:p>
        </p:txBody>
      </p:sp>
      <p:sp>
        <p:nvSpPr>
          <p:cNvPr id="28" name="TextBox 27"/>
          <p:cNvSpPr txBox="1"/>
          <p:nvPr/>
        </p:nvSpPr>
        <p:spPr>
          <a:xfrm>
            <a:off x="457200" y="6565392"/>
            <a:ext cx="5486400" cy="228600"/>
          </a:xfrm>
          <a:prstGeom prst="rect">
            <a:avLst/>
          </a:prstGeom>
          <a:noFill/>
        </p:spPr>
        <p:txBody>
          <a:bodyPr wrap="square" lIns="0" rIns="0" tIns="0" bIns="0" anchor="t">
            <a:spAutoFit/>
          </a:bodyPr>
          <a:lstStyle/>
          <a:p>
            <a:pPr algn="l">
              <a:lnSpc>
                <a:spcPct val="115000"/>
              </a:lnSpc>
            </a:pPr>
            <a:r>
              <a:rPr sz="900" b="1" i="0">
                <a:solidFill>
                  <a:srgbClr val="8A7A66"/>
                </a:solidFill>
                <a:latin typeface="Calibri"/>
              </a:rPr>
              <a:t>PARA TODOS</a:t>
            </a:r>
          </a:p>
        </p:txBody>
      </p:sp>
      <p:sp>
        <p:nvSpPr>
          <p:cNvPr id="29" name="TextBox 28"/>
          <p:cNvSpPr txBox="1"/>
          <p:nvPr/>
        </p:nvSpPr>
        <p:spPr>
          <a:xfrm>
            <a:off x="10607040" y="6565392"/>
            <a:ext cx="1188720" cy="228600"/>
          </a:xfrm>
          <a:prstGeom prst="rect">
            <a:avLst/>
          </a:prstGeom>
          <a:noFill/>
        </p:spPr>
        <p:txBody>
          <a:bodyPr wrap="square" lIns="0" rIns="0" tIns="0" bIns="0" anchor="t">
            <a:spAutoFit/>
          </a:bodyPr>
          <a:lstStyle/>
          <a:p>
            <a:pPr algn="r">
              <a:lnSpc>
                <a:spcPct val="115000"/>
              </a:lnSpc>
            </a:pPr>
            <a:r>
              <a:rPr sz="900" b="0" i="0">
                <a:solidFill>
                  <a:srgbClr val="8A7A66"/>
                </a:solidFill>
                <a:latin typeface="Calibri"/>
              </a:rPr>
              <a:t>4 / 14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BF6E9"/>
        </a:solidFill>
        <a:effectLst/>
      </p:bgPr>
    </p:bg>
    <p:spTree>
      <p:nvGrpSpPr>
        <p:cNvPr id="1" name=""/>
        <p:cNvGrpSpPr/>
        <p:nvPr/>
      </p:nvGrpSpPr>
      <p:grpSpPr/>
      <p:sp>
        <p:nvSpPr>
          <p:cNvPr id="2" name="TextBox 1"/>
          <p:cNvSpPr txBox="1"/>
          <p:nvPr/>
        </p:nvSpPr>
        <p:spPr>
          <a:xfrm>
            <a:off x="411480" y="137160"/>
            <a:ext cx="2286000" cy="1005840"/>
          </a:xfrm>
          <a:prstGeom prst="rect">
            <a:avLst/>
          </a:prstGeom>
          <a:noFill/>
        </p:spPr>
        <p:txBody>
          <a:bodyPr wrap="square" lIns="0" rIns="0" tIns="0" bIns="0" anchor="t">
            <a:spAutoFit/>
          </a:bodyPr>
          <a:lstStyle/>
          <a:p>
            <a:pPr algn="l">
              <a:lnSpc>
                <a:spcPct val="95000"/>
              </a:lnSpc>
            </a:pPr>
            <a:r>
              <a:rPr sz="7200" b="1" i="0">
                <a:solidFill>
                  <a:srgbClr val="E6C8C0"/>
                </a:solidFill>
                <a:latin typeface="Lora"/>
              </a:rPr>
              <a:t>04</a:t>
            </a:r>
          </a:p>
        </p:txBody>
      </p:sp>
      <p:sp>
        <p:nvSpPr>
          <p:cNvPr id="3" name="TextBox 2"/>
          <p:cNvSpPr txBox="1"/>
          <p:nvPr/>
        </p:nvSpPr>
        <p:spPr>
          <a:xfrm>
            <a:off x="457200" y="457200"/>
            <a:ext cx="7315200" cy="365760"/>
          </a:xfrm>
          <a:prstGeom prst="rect">
            <a:avLst/>
          </a:prstGeom>
          <a:noFill/>
        </p:spPr>
        <p:txBody>
          <a:bodyPr wrap="square" lIns="0" rIns="0" tIns="0" bIns="0" anchor="t">
            <a:spAutoFit/>
          </a:bodyPr>
          <a:lstStyle/>
          <a:p>
            <a:pPr algn="l">
              <a:lnSpc>
                <a:spcPct val="115000"/>
              </a:lnSpc>
            </a:pPr>
            <a:r>
              <a:rPr sz="1100" b="1" i="0">
                <a:solidFill>
                  <a:srgbClr val="B85042"/>
                </a:solidFill>
                <a:latin typeface="Calibri"/>
              </a:rPr>
              <a:t>OUR REGION</a:t>
            </a:r>
          </a:p>
        </p:txBody>
      </p:sp>
      <p:sp>
        <p:nvSpPr>
          <p:cNvPr id="4" name="TextBox 3"/>
          <p:cNvSpPr txBox="1"/>
          <p:nvPr/>
        </p:nvSpPr>
        <p:spPr>
          <a:xfrm>
            <a:off x="457200" y="868680"/>
            <a:ext cx="11247120" cy="914400"/>
          </a:xfrm>
          <a:prstGeom prst="rect">
            <a:avLst/>
          </a:prstGeom>
          <a:noFill/>
        </p:spPr>
        <p:txBody>
          <a:bodyPr wrap="square" lIns="0" rIns="0" tIns="0" bIns="0" anchor="t">
            <a:spAutoFit/>
          </a:bodyPr>
          <a:lstStyle/>
          <a:p>
            <a:pPr algn="l">
              <a:lnSpc>
                <a:spcPct val="105000"/>
              </a:lnSpc>
            </a:pPr>
            <a:r>
              <a:rPr sz="3600" b="1" i="0">
                <a:solidFill>
                  <a:srgbClr val="3A2E26"/>
                </a:solidFill>
                <a:latin typeface="Lora"/>
              </a:rPr>
              <a:t>What we mean by 'our region'</a:t>
            </a:r>
          </a:p>
        </p:txBody>
      </p:sp>
      <p:cxnSp>
        <p:nvCxnSpPr>
          <p:cNvPr id="5" name="Connector 4"/>
          <p:cNvCxnSpPr/>
          <p:nvPr/>
        </p:nvCxnSpPr>
        <p:spPr>
          <a:xfrm flipV="1">
            <a:off x="457200" y="1860803"/>
            <a:ext cx="160020" cy="27432"/>
          </a:xfrm>
          <a:prstGeom prst="line">
            <a:avLst/>
          </a:prstGeom>
          <a:ln w="17780">
            <a:solidFill>
              <a:srgbClr val="6D8A6E"/>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617220" y="1860803"/>
            <a:ext cx="160020" cy="27432"/>
          </a:xfrm>
          <a:prstGeom prst="line">
            <a:avLst/>
          </a:prstGeom>
          <a:ln w="17780">
            <a:solidFill>
              <a:srgbClr val="6D8A6E"/>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V="1">
            <a:off x="777240" y="1860803"/>
            <a:ext cx="160019" cy="27432"/>
          </a:xfrm>
          <a:prstGeom prst="line">
            <a:avLst/>
          </a:prstGeom>
          <a:ln w="17780">
            <a:solidFill>
              <a:srgbClr val="6D8A6E"/>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937259" y="1860803"/>
            <a:ext cx="160021" cy="27432"/>
          </a:xfrm>
          <a:prstGeom prst="line">
            <a:avLst/>
          </a:prstGeom>
          <a:ln w="17780">
            <a:solidFill>
              <a:srgbClr val="6D8A6E"/>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V="1">
            <a:off x="1097280" y="1860803"/>
            <a:ext cx="160020" cy="27432"/>
          </a:xfrm>
          <a:prstGeom prst="line">
            <a:avLst/>
          </a:prstGeom>
          <a:ln w="17780">
            <a:solidFill>
              <a:srgbClr val="6D8A6E"/>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1257300" y="1860803"/>
            <a:ext cx="160019" cy="27432"/>
          </a:xfrm>
          <a:prstGeom prst="line">
            <a:avLst/>
          </a:prstGeom>
          <a:ln w="17780">
            <a:solidFill>
              <a:srgbClr val="6D8A6E"/>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V="1">
            <a:off x="1417319" y="1860803"/>
            <a:ext cx="160020" cy="27432"/>
          </a:xfrm>
          <a:prstGeom prst="line">
            <a:avLst/>
          </a:prstGeom>
          <a:ln w="17780">
            <a:solidFill>
              <a:srgbClr val="6D8A6E"/>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1577339" y="1860803"/>
            <a:ext cx="160021" cy="27432"/>
          </a:xfrm>
          <a:prstGeom prst="line">
            <a:avLst/>
          </a:prstGeom>
          <a:ln w="17780">
            <a:solidFill>
              <a:srgbClr val="6D8A6E"/>
            </a:solidFill>
          </a:ln>
        </p:spPr>
        <p:style>
          <a:lnRef idx="2">
            <a:schemeClr val="accent1"/>
          </a:lnRef>
          <a:fillRef idx="0">
            <a:schemeClr val="accent1"/>
          </a:fillRef>
          <a:effectRef idx="1">
            <a:schemeClr val="accent1"/>
          </a:effectRef>
          <a:fontRef idx="minor">
            <a:schemeClr val="tx1"/>
          </a:fontRef>
        </p:style>
      </p:cxnSp>
      <p:pic>
        <p:nvPicPr>
          <p:cNvPr id="13" name="Picture 12" descr="region-map.png"/>
          <p:cNvPicPr>
            <a:picLocks noChangeAspect="1"/>
          </p:cNvPicPr>
          <p:nvPr/>
        </p:nvPicPr>
        <p:blipFill>
          <a:blip r:embed="rId2"/>
          <a:stretch>
            <a:fillRect/>
          </a:stretch>
        </p:blipFill>
        <p:spPr>
          <a:xfrm>
            <a:off x="365760" y="2103120"/>
            <a:ext cx="6766560" cy="4114800"/>
          </a:xfrm>
          <a:prstGeom prst="rect">
            <a:avLst/>
          </a:prstGeom>
        </p:spPr>
      </p:pic>
      <p:sp>
        <p:nvSpPr>
          <p:cNvPr id="14" name="TextBox 13"/>
          <p:cNvSpPr txBox="1"/>
          <p:nvPr/>
        </p:nvSpPr>
        <p:spPr>
          <a:xfrm>
            <a:off x="457200" y="6263640"/>
            <a:ext cx="6766560" cy="274320"/>
          </a:xfrm>
          <a:prstGeom prst="rect">
            <a:avLst/>
          </a:prstGeom>
          <a:noFill/>
        </p:spPr>
        <p:txBody>
          <a:bodyPr wrap="square" lIns="0" rIns="0" tIns="0" bIns="0" anchor="t">
            <a:spAutoFit/>
          </a:bodyPr>
          <a:lstStyle/>
          <a:p>
            <a:pPr algn="ctr">
              <a:lnSpc>
                <a:spcPct val="115000"/>
              </a:lnSpc>
            </a:pPr>
            <a:r>
              <a:rPr sz="1000" b="0" i="1">
                <a:solidFill>
                  <a:srgbClr val="8A7A66"/>
                </a:solidFill>
                <a:latin typeface="Calibri"/>
              </a:rPr>
              <a:t>(Approximate visualization — official cartographic study in Stage I)</a:t>
            </a:r>
          </a:p>
        </p:txBody>
      </p:sp>
      <p:sp>
        <p:nvSpPr>
          <p:cNvPr id="15" name="TextBox 14"/>
          <p:cNvSpPr txBox="1"/>
          <p:nvPr/>
        </p:nvSpPr>
        <p:spPr>
          <a:xfrm>
            <a:off x="7315200" y="2103120"/>
            <a:ext cx="4480560" cy="2560320"/>
          </a:xfrm>
          <a:prstGeom prst="rect">
            <a:avLst/>
          </a:prstGeom>
          <a:noFill/>
        </p:spPr>
        <p:txBody>
          <a:bodyPr wrap="square" lIns="0" rIns="0" tIns="0" bIns="0">
            <a:spAutoFit/>
          </a:bodyPr>
          <a:lstStyle/>
          <a:p>
            <a:pPr algn="l">
              <a:lnSpc>
                <a:spcPct val="130000"/>
              </a:lnSpc>
              <a:spcAft>
                <a:spcPts val="600"/>
              </a:spcAft>
            </a:pPr>
            <a:r>
              <a:rPr sz="1300" b="1" i="0">
                <a:solidFill>
                  <a:srgbClr val="3A2E26"/>
                </a:solidFill>
                <a:latin typeface="Calibri"/>
              </a:rPr>
              <a:t>Communities included:</a:t>
            </a:r>
          </a:p>
          <a:p>
            <a:pPr algn="l">
              <a:lnSpc>
                <a:spcPct val="130000"/>
              </a:lnSpc>
              <a:spcAft>
                <a:spcPts val="200"/>
              </a:spcAft>
            </a:pPr>
            <a:r>
              <a:rPr sz="1300" b="0" i="0">
                <a:solidFill>
                  <a:srgbClr val="3A2E26"/>
                </a:solidFill>
                <a:latin typeface="Calibri"/>
              </a:rPr>
              <a:t>•  Todos Santos</a:t>
            </a:r>
          </a:p>
          <a:p>
            <a:pPr algn="l">
              <a:lnSpc>
                <a:spcPct val="130000"/>
              </a:lnSpc>
              <a:spcAft>
                <a:spcPts val="200"/>
              </a:spcAft>
            </a:pPr>
            <a:r>
              <a:rPr sz="1300" b="0" i="0">
                <a:solidFill>
                  <a:srgbClr val="3A2E26"/>
                </a:solidFill>
                <a:latin typeface="Calibri"/>
              </a:rPr>
              <a:t>•  Pescadero</a:t>
            </a:r>
          </a:p>
          <a:p>
            <a:pPr algn="l">
              <a:lnSpc>
                <a:spcPct val="130000"/>
              </a:lnSpc>
              <a:spcAft>
                <a:spcPts val="200"/>
              </a:spcAft>
            </a:pPr>
            <a:r>
              <a:rPr sz="1300" b="0" i="0">
                <a:solidFill>
                  <a:srgbClr val="3A2E26"/>
                </a:solidFill>
                <a:latin typeface="Calibri"/>
              </a:rPr>
              <a:t>•  Cerritos</a:t>
            </a:r>
          </a:p>
          <a:p>
            <a:pPr algn="l">
              <a:lnSpc>
                <a:spcPct val="130000"/>
              </a:lnSpc>
              <a:spcAft>
                <a:spcPts val="200"/>
              </a:spcAft>
            </a:pPr>
            <a:r>
              <a:rPr sz="1300" b="0" i="0">
                <a:solidFill>
                  <a:srgbClr val="3A2E26"/>
                </a:solidFill>
                <a:latin typeface="Calibri"/>
              </a:rPr>
              <a:t>•  Las Tunas</a:t>
            </a:r>
          </a:p>
          <a:p>
            <a:pPr algn="l">
              <a:lnSpc>
                <a:spcPct val="130000"/>
              </a:lnSpc>
              <a:spcAft>
                <a:spcPts val="200"/>
              </a:spcAft>
            </a:pPr>
            <a:r>
              <a:rPr sz="1300" b="0" i="0">
                <a:solidFill>
                  <a:srgbClr val="3A2E26"/>
                </a:solidFill>
                <a:latin typeface="Calibri"/>
              </a:rPr>
              <a:t>•  Las Playitas</a:t>
            </a:r>
          </a:p>
          <a:p>
            <a:pPr algn="l">
              <a:lnSpc>
                <a:spcPct val="130000"/>
              </a:lnSpc>
              <a:spcAft>
                <a:spcPts val="200"/>
              </a:spcAft>
            </a:pPr>
            <a:r>
              <a:rPr sz="1300" b="0" i="0">
                <a:solidFill>
                  <a:srgbClr val="3A2E26"/>
                </a:solidFill>
                <a:latin typeface="Calibri"/>
              </a:rPr>
              <a:t>•  Elías Calles</a:t>
            </a:r>
          </a:p>
          <a:p>
            <a:pPr algn="l">
              <a:lnSpc>
                <a:spcPct val="130000"/>
              </a:lnSpc>
              <a:spcAft>
                <a:spcPts val="200"/>
              </a:spcAft>
            </a:pPr>
            <a:r>
              <a:rPr sz="1300" b="0" i="0">
                <a:solidFill>
                  <a:srgbClr val="3A2E26"/>
                </a:solidFill>
                <a:latin typeface="Calibri"/>
              </a:rPr>
              <a:t>•  Neighboring communities</a:t>
            </a:r>
          </a:p>
        </p:txBody>
      </p:sp>
      <p:sp>
        <p:nvSpPr>
          <p:cNvPr id="16" name="TextBox 15"/>
          <p:cNvSpPr txBox="1"/>
          <p:nvPr/>
        </p:nvSpPr>
        <p:spPr>
          <a:xfrm>
            <a:off x="7315200" y="4572000"/>
            <a:ext cx="4480560" cy="320040"/>
          </a:xfrm>
          <a:prstGeom prst="rect">
            <a:avLst/>
          </a:prstGeom>
          <a:noFill/>
        </p:spPr>
        <p:txBody>
          <a:bodyPr wrap="square" lIns="0" rIns="0" tIns="0" bIns="0" anchor="t">
            <a:spAutoFit/>
          </a:bodyPr>
          <a:lstStyle/>
          <a:p>
            <a:pPr algn="l">
              <a:lnSpc>
                <a:spcPct val="115000"/>
              </a:lnSpc>
            </a:pPr>
            <a:r>
              <a:rPr sz="1300" b="1" i="0">
                <a:solidFill>
                  <a:srgbClr val="3A2E26"/>
                </a:solidFill>
                <a:latin typeface="Calibri"/>
              </a:rPr>
              <a:t>Two scenarios under study:</a:t>
            </a:r>
          </a:p>
        </p:txBody>
      </p:sp>
      <p:sp>
        <p:nvSpPr>
          <p:cNvPr id="17" name="TextBox 16"/>
          <p:cNvSpPr txBox="1"/>
          <p:nvPr/>
        </p:nvSpPr>
        <p:spPr>
          <a:xfrm>
            <a:off x="7315200" y="4937760"/>
            <a:ext cx="4480560" cy="320040"/>
          </a:xfrm>
          <a:prstGeom prst="rect">
            <a:avLst/>
          </a:prstGeom>
          <a:noFill/>
        </p:spPr>
        <p:txBody>
          <a:bodyPr wrap="square" lIns="0" rIns="0" tIns="0" bIns="0" anchor="t">
            <a:spAutoFit/>
          </a:bodyPr>
          <a:lstStyle/>
          <a:p>
            <a:pPr algn="l">
              <a:lnSpc>
                <a:spcPct val="115000"/>
              </a:lnSpc>
            </a:pPr>
            <a:r>
              <a:rPr sz="1300" b="0" i="0">
                <a:solidFill>
                  <a:srgbClr val="3A2E26"/>
                </a:solidFill>
                <a:latin typeface="Calibri"/>
              </a:rPr>
              <a:t>•  A — Pacific Coast Only</a:t>
            </a:r>
          </a:p>
        </p:txBody>
      </p:sp>
      <p:sp>
        <p:nvSpPr>
          <p:cNvPr id="18" name="TextBox 17"/>
          <p:cNvSpPr txBox="1"/>
          <p:nvPr/>
        </p:nvSpPr>
        <p:spPr>
          <a:xfrm>
            <a:off x="7315200" y="5257800"/>
            <a:ext cx="4480560" cy="320040"/>
          </a:xfrm>
          <a:prstGeom prst="rect">
            <a:avLst/>
          </a:prstGeom>
          <a:noFill/>
        </p:spPr>
        <p:txBody>
          <a:bodyPr wrap="square" lIns="0" rIns="0" tIns="0" bIns="0" anchor="t">
            <a:spAutoFit/>
          </a:bodyPr>
          <a:lstStyle/>
          <a:p>
            <a:pPr algn="l">
              <a:lnSpc>
                <a:spcPct val="115000"/>
              </a:lnSpc>
            </a:pPr>
            <a:r>
              <a:rPr sz="1300" b="0" i="0">
                <a:solidFill>
                  <a:srgbClr val="3A2E26"/>
                </a:solidFill>
                <a:latin typeface="Calibri"/>
              </a:rPr>
              <a:t>•  B — Pacific + East Cape (Los Barriles, La Ribera)</a:t>
            </a:r>
          </a:p>
        </p:txBody>
      </p:sp>
      <p:sp>
        <p:nvSpPr>
          <p:cNvPr id="19" name="TextBox 18"/>
          <p:cNvSpPr txBox="1"/>
          <p:nvPr/>
        </p:nvSpPr>
        <p:spPr>
          <a:xfrm>
            <a:off x="7315200" y="5760720"/>
            <a:ext cx="4480560" cy="640080"/>
          </a:xfrm>
          <a:prstGeom prst="rect">
            <a:avLst/>
          </a:prstGeom>
          <a:noFill/>
        </p:spPr>
        <p:txBody>
          <a:bodyPr wrap="square" lIns="0" rIns="0" tIns="0" bIns="0" anchor="t">
            <a:spAutoFit/>
          </a:bodyPr>
          <a:lstStyle/>
          <a:p>
            <a:pPr algn="l">
              <a:lnSpc>
                <a:spcPct val="130000"/>
              </a:lnSpc>
            </a:pPr>
            <a:r>
              <a:rPr sz="1200" b="0" i="1">
                <a:solidFill>
                  <a:srgbClr val="8A7A66"/>
                </a:solidFill>
                <a:latin typeface="Lora"/>
              </a:rPr>
              <a:t>The final boundary, if any, would be decided by the community through the formal process.</a:t>
            </a:r>
          </a:p>
        </p:txBody>
      </p:sp>
      <p:sp>
        <p:nvSpPr>
          <p:cNvPr id="20" name="TextBox 19"/>
          <p:cNvSpPr txBox="1"/>
          <p:nvPr/>
        </p:nvSpPr>
        <p:spPr>
          <a:xfrm>
            <a:off x="457200" y="6565392"/>
            <a:ext cx="5486400" cy="228600"/>
          </a:xfrm>
          <a:prstGeom prst="rect">
            <a:avLst/>
          </a:prstGeom>
          <a:noFill/>
        </p:spPr>
        <p:txBody>
          <a:bodyPr wrap="square" lIns="0" rIns="0" tIns="0" bIns="0" anchor="t">
            <a:spAutoFit/>
          </a:bodyPr>
          <a:lstStyle/>
          <a:p>
            <a:pPr algn="l">
              <a:lnSpc>
                <a:spcPct val="115000"/>
              </a:lnSpc>
            </a:pPr>
            <a:r>
              <a:rPr sz="900" b="1" i="0">
                <a:solidFill>
                  <a:srgbClr val="8A7A66"/>
                </a:solidFill>
                <a:latin typeface="Calibri"/>
              </a:rPr>
              <a:t>PARA TODOS</a:t>
            </a:r>
          </a:p>
        </p:txBody>
      </p:sp>
      <p:sp>
        <p:nvSpPr>
          <p:cNvPr id="21" name="TextBox 20"/>
          <p:cNvSpPr txBox="1"/>
          <p:nvPr/>
        </p:nvSpPr>
        <p:spPr>
          <a:xfrm>
            <a:off x="10607040" y="6565392"/>
            <a:ext cx="1188720" cy="228600"/>
          </a:xfrm>
          <a:prstGeom prst="rect">
            <a:avLst/>
          </a:prstGeom>
          <a:noFill/>
        </p:spPr>
        <p:txBody>
          <a:bodyPr wrap="square" lIns="0" rIns="0" tIns="0" bIns="0" anchor="t">
            <a:spAutoFit/>
          </a:bodyPr>
          <a:lstStyle/>
          <a:p>
            <a:pPr algn="r">
              <a:lnSpc>
                <a:spcPct val="115000"/>
              </a:lnSpc>
            </a:pPr>
            <a:r>
              <a:rPr sz="900" b="0" i="0">
                <a:solidFill>
                  <a:srgbClr val="8A7A66"/>
                </a:solidFill>
                <a:latin typeface="Calibri"/>
              </a:rPr>
              <a:t>5 / 14</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BF6E9"/>
        </a:solidFill>
        <a:effectLst/>
      </p:bgPr>
    </p:bg>
    <p:spTree>
      <p:nvGrpSpPr>
        <p:cNvPr id="1" name=""/>
        <p:cNvGrpSpPr/>
        <p:nvPr/>
      </p:nvGrpSpPr>
      <p:grpSpPr/>
      <p:sp>
        <p:nvSpPr>
          <p:cNvPr id="2" name="TextBox 1"/>
          <p:cNvSpPr txBox="1"/>
          <p:nvPr/>
        </p:nvSpPr>
        <p:spPr>
          <a:xfrm>
            <a:off x="411480" y="137160"/>
            <a:ext cx="2286000" cy="1005840"/>
          </a:xfrm>
          <a:prstGeom prst="rect">
            <a:avLst/>
          </a:prstGeom>
          <a:noFill/>
        </p:spPr>
        <p:txBody>
          <a:bodyPr wrap="square" lIns="0" rIns="0" tIns="0" bIns="0" anchor="t">
            <a:spAutoFit/>
          </a:bodyPr>
          <a:lstStyle/>
          <a:p>
            <a:pPr algn="l">
              <a:lnSpc>
                <a:spcPct val="95000"/>
              </a:lnSpc>
            </a:pPr>
            <a:r>
              <a:rPr sz="7200" b="1" i="0">
                <a:solidFill>
                  <a:srgbClr val="E6C8C0"/>
                </a:solidFill>
                <a:latin typeface="Lora"/>
              </a:rPr>
              <a:t>05</a:t>
            </a:r>
          </a:p>
        </p:txBody>
      </p:sp>
      <p:sp>
        <p:nvSpPr>
          <p:cNvPr id="3" name="TextBox 2"/>
          <p:cNvSpPr txBox="1"/>
          <p:nvPr/>
        </p:nvSpPr>
        <p:spPr>
          <a:xfrm>
            <a:off x="457200" y="457200"/>
            <a:ext cx="7315200" cy="365760"/>
          </a:xfrm>
          <a:prstGeom prst="rect">
            <a:avLst/>
          </a:prstGeom>
          <a:noFill/>
        </p:spPr>
        <p:txBody>
          <a:bodyPr wrap="square" lIns="0" rIns="0" tIns="0" bIns="0" anchor="t">
            <a:spAutoFit/>
          </a:bodyPr>
          <a:lstStyle/>
          <a:p>
            <a:pPr algn="l">
              <a:lnSpc>
                <a:spcPct val="115000"/>
              </a:lnSpc>
            </a:pPr>
            <a:r>
              <a:rPr sz="1100" b="1" i="0">
                <a:solidFill>
                  <a:srgbClr val="B85042"/>
                </a:solidFill>
                <a:latin typeface="Calibri"/>
              </a:rPr>
              <a:t>TWO HONEST FUTURES</a:t>
            </a:r>
          </a:p>
        </p:txBody>
      </p:sp>
      <p:sp>
        <p:nvSpPr>
          <p:cNvPr id="4" name="TextBox 3"/>
          <p:cNvSpPr txBox="1"/>
          <p:nvPr/>
        </p:nvSpPr>
        <p:spPr>
          <a:xfrm>
            <a:off x="457200" y="868680"/>
            <a:ext cx="11247120" cy="914400"/>
          </a:xfrm>
          <a:prstGeom prst="rect">
            <a:avLst/>
          </a:prstGeom>
          <a:noFill/>
        </p:spPr>
        <p:txBody>
          <a:bodyPr wrap="square" lIns="0" rIns="0" tIns="0" bIns="0" anchor="t">
            <a:spAutoFit/>
          </a:bodyPr>
          <a:lstStyle/>
          <a:p>
            <a:pPr algn="l">
              <a:lnSpc>
                <a:spcPct val="105000"/>
              </a:lnSpc>
            </a:pPr>
            <a:r>
              <a:rPr sz="3600" b="1" i="0">
                <a:solidFill>
                  <a:srgbClr val="3A2E26"/>
                </a:solidFill>
                <a:latin typeface="Lora"/>
              </a:rPr>
              <a:t>Two paths, honestly compared</a:t>
            </a:r>
          </a:p>
        </p:txBody>
      </p:sp>
      <p:cxnSp>
        <p:nvCxnSpPr>
          <p:cNvPr id="5" name="Connector 4"/>
          <p:cNvCxnSpPr/>
          <p:nvPr/>
        </p:nvCxnSpPr>
        <p:spPr>
          <a:xfrm flipV="1">
            <a:off x="457200" y="1860803"/>
            <a:ext cx="160020" cy="27432"/>
          </a:xfrm>
          <a:prstGeom prst="line">
            <a:avLst/>
          </a:prstGeom>
          <a:ln w="17780">
            <a:solidFill>
              <a:srgbClr val="6D8A6E"/>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617220" y="1860803"/>
            <a:ext cx="160020" cy="27432"/>
          </a:xfrm>
          <a:prstGeom prst="line">
            <a:avLst/>
          </a:prstGeom>
          <a:ln w="17780">
            <a:solidFill>
              <a:srgbClr val="6D8A6E"/>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V="1">
            <a:off x="777240" y="1860803"/>
            <a:ext cx="160019" cy="27432"/>
          </a:xfrm>
          <a:prstGeom prst="line">
            <a:avLst/>
          </a:prstGeom>
          <a:ln w="17780">
            <a:solidFill>
              <a:srgbClr val="6D8A6E"/>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937259" y="1860803"/>
            <a:ext cx="160021" cy="27432"/>
          </a:xfrm>
          <a:prstGeom prst="line">
            <a:avLst/>
          </a:prstGeom>
          <a:ln w="17780">
            <a:solidFill>
              <a:srgbClr val="6D8A6E"/>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V="1">
            <a:off x="1097280" y="1860803"/>
            <a:ext cx="160020" cy="27432"/>
          </a:xfrm>
          <a:prstGeom prst="line">
            <a:avLst/>
          </a:prstGeom>
          <a:ln w="17780">
            <a:solidFill>
              <a:srgbClr val="6D8A6E"/>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1257300" y="1860803"/>
            <a:ext cx="160019" cy="27432"/>
          </a:xfrm>
          <a:prstGeom prst="line">
            <a:avLst/>
          </a:prstGeom>
          <a:ln w="17780">
            <a:solidFill>
              <a:srgbClr val="6D8A6E"/>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V="1">
            <a:off x="1417319" y="1860803"/>
            <a:ext cx="160020" cy="27432"/>
          </a:xfrm>
          <a:prstGeom prst="line">
            <a:avLst/>
          </a:prstGeom>
          <a:ln w="17780">
            <a:solidFill>
              <a:srgbClr val="6D8A6E"/>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1577339" y="1860803"/>
            <a:ext cx="160021" cy="27432"/>
          </a:xfrm>
          <a:prstGeom prst="line">
            <a:avLst/>
          </a:prstGeom>
          <a:ln w="17780">
            <a:solidFill>
              <a:srgbClr val="6D8A6E"/>
            </a:solidFill>
          </a:ln>
        </p:spPr>
        <p:style>
          <a:lnRef idx="2">
            <a:schemeClr val="accent1"/>
          </a:lnRef>
          <a:fillRef idx="0">
            <a:schemeClr val="accent1"/>
          </a:fillRef>
          <a:effectRef idx="1">
            <a:schemeClr val="accent1"/>
          </a:effectRef>
          <a:fontRef idx="minor">
            <a:schemeClr val="tx1"/>
          </a:fontRef>
        </p:style>
      </p:cxnSp>
      <p:sp>
        <p:nvSpPr>
          <p:cNvPr id="13" name="Rectangle 12"/>
          <p:cNvSpPr/>
          <p:nvPr/>
        </p:nvSpPr>
        <p:spPr>
          <a:xfrm>
            <a:off x="457200" y="2011680"/>
            <a:ext cx="5486400" cy="502920"/>
          </a:xfrm>
          <a:prstGeom prst="rect">
            <a:avLst/>
          </a:prstGeom>
          <a:solidFill>
            <a:srgbClr val="4F7A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2011680"/>
            <a:ext cx="5486400" cy="502920"/>
          </a:xfrm>
          <a:prstGeom prst="rect">
            <a:avLst/>
          </a:prstGeom>
          <a:noFill/>
        </p:spPr>
        <p:txBody>
          <a:bodyPr wrap="square" lIns="0" rIns="0" tIns="0" bIns="0" anchor="ctr">
            <a:spAutoFit/>
          </a:bodyPr>
          <a:lstStyle/>
          <a:p>
            <a:pPr algn="ctr">
              <a:lnSpc>
                <a:spcPct val="115000"/>
              </a:lnSpc>
            </a:pPr>
            <a:r>
              <a:rPr sz="1400" b="1" i="0">
                <a:solidFill>
                  <a:srgbClr val="FBF6E9"/>
                </a:solidFill>
                <a:latin typeface="Calibri"/>
              </a:rPr>
              <a:t>Scenario A — Stay in La Paz</a:t>
            </a:r>
          </a:p>
        </p:txBody>
      </p:sp>
      <p:sp>
        <p:nvSpPr>
          <p:cNvPr id="15" name="Rectangle 14"/>
          <p:cNvSpPr/>
          <p:nvPr/>
        </p:nvSpPr>
        <p:spPr>
          <a:xfrm>
            <a:off x="457200" y="2514600"/>
            <a:ext cx="5486400" cy="3611880"/>
          </a:xfrm>
          <a:prstGeom prst="rect">
            <a:avLst/>
          </a:prstGeom>
          <a:solidFill>
            <a:srgbClr val="F2F2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2743200"/>
            <a:ext cx="5029200" cy="274320"/>
          </a:xfrm>
          <a:prstGeom prst="rect">
            <a:avLst/>
          </a:prstGeom>
          <a:noFill/>
        </p:spPr>
        <p:txBody>
          <a:bodyPr wrap="square" lIns="0" rIns="0" tIns="0" bIns="0" anchor="t">
            <a:spAutoFit/>
          </a:bodyPr>
          <a:lstStyle/>
          <a:p>
            <a:pPr algn="l">
              <a:lnSpc>
                <a:spcPct val="115000"/>
              </a:lnSpc>
            </a:pPr>
            <a:r>
              <a:rPr sz="1100" b="1" i="0">
                <a:solidFill>
                  <a:srgbClr val="B85042"/>
                </a:solidFill>
                <a:latin typeface="Calibri"/>
              </a:rPr>
              <a:t>What changes</a:t>
            </a:r>
          </a:p>
        </p:txBody>
      </p:sp>
      <p:sp>
        <p:nvSpPr>
          <p:cNvPr id="17" name="TextBox 16"/>
          <p:cNvSpPr txBox="1"/>
          <p:nvPr/>
        </p:nvSpPr>
        <p:spPr>
          <a:xfrm>
            <a:off x="685800" y="3017520"/>
            <a:ext cx="5029200" cy="594360"/>
          </a:xfrm>
          <a:prstGeom prst="rect">
            <a:avLst/>
          </a:prstGeom>
          <a:noFill/>
        </p:spPr>
        <p:txBody>
          <a:bodyPr wrap="square" lIns="0" rIns="0" tIns="0" bIns="0" anchor="t">
            <a:spAutoFit/>
          </a:bodyPr>
          <a:lstStyle/>
          <a:p>
            <a:pPr algn="l">
              <a:lnSpc>
                <a:spcPct val="130000"/>
              </a:lnSpc>
            </a:pPr>
            <a:r>
              <a:rPr sz="1200" b="0" i="0">
                <a:solidFill>
                  <a:srgbClr val="3A2E26"/>
                </a:solidFill>
                <a:latin typeface="Calibri"/>
              </a:rPr>
              <a:t>Nothing structurally. Region continues to grow in the current framework.</a:t>
            </a:r>
          </a:p>
        </p:txBody>
      </p:sp>
      <p:sp>
        <p:nvSpPr>
          <p:cNvPr id="18" name="TextBox 17"/>
          <p:cNvSpPr txBox="1"/>
          <p:nvPr/>
        </p:nvSpPr>
        <p:spPr>
          <a:xfrm>
            <a:off x="685800" y="3611880"/>
            <a:ext cx="5029200" cy="274320"/>
          </a:xfrm>
          <a:prstGeom prst="rect">
            <a:avLst/>
          </a:prstGeom>
          <a:noFill/>
        </p:spPr>
        <p:txBody>
          <a:bodyPr wrap="square" lIns="0" rIns="0" tIns="0" bIns="0" anchor="t">
            <a:spAutoFit/>
          </a:bodyPr>
          <a:lstStyle/>
          <a:p>
            <a:pPr algn="l">
              <a:lnSpc>
                <a:spcPct val="115000"/>
              </a:lnSpc>
            </a:pPr>
            <a:r>
              <a:rPr sz="1100" b="1" i="0">
                <a:solidFill>
                  <a:srgbClr val="B85042"/>
                </a:solidFill>
                <a:latin typeface="Calibri"/>
              </a:rPr>
              <a:t>What it gives us</a:t>
            </a:r>
          </a:p>
        </p:txBody>
      </p:sp>
      <p:sp>
        <p:nvSpPr>
          <p:cNvPr id="19" name="TextBox 18"/>
          <p:cNvSpPr txBox="1"/>
          <p:nvPr/>
        </p:nvSpPr>
        <p:spPr>
          <a:xfrm>
            <a:off x="685800" y="3886200"/>
            <a:ext cx="5029200" cy="594360"/>
          </a:xfrm>
          <a:prstGeom prst="rect">
            <a:avLst/>
          </a:prstGeom>
          <a:noFill/>
        </p:spPr>
        <p:txBody>
          <a:bodyPr wrap="square" lIns="0" rIns="0" tIns="0" bIns="0" anchor="t">
            <a:spAutoFit/>
          </a:bodyPr>
          <a:lstStyle/>
          <a:p>
            <a:pPr algn="l">
              <a:lnSpc>
                <a:spcPct val="130000"/>
              </a:lnSpc>
            </a:pPr>
            <a:r>
              <a:rPr sz="1200" b="0" i="0">
                <a:solidFill>
                  <a:srgbClr val="3A2E26"/>
                </a:solidFill>
                <a:latin typeface="Calibri"/>
              </a:rPr>
              <a:t>Stability. Shared resources with a larger entity. Established governance.</a:t>
            </a:r>
          </a:p>
        </p:txBody>
      </p:sp>
      <p:sp>
        <p:nvSpPr>
          <p:cNvPr id="20" name="TextBox 19"/>
          <p:cNvSpPr txBox="1"/>
          <p:nvPr/>
        </p:nvSpPr>
        <p:spPr>
          <a:xfrm>
            <a:off x="685800" y="4480560"/>
            <a:ext cx="5029200" cy="274320"/>
          </a:xfrm>
          <a:prstGeom prst="rect">
            <a:avLst/>
          </a:prstGeom>
          <a:noFill/>
        </p:spPr>
        <p:txBody>
          <a:bodyPr wrap="square" lIns="0" rIns="0" tIns="0" bIns="0" anchor="t">
            <a:spAutoFit/>
          </a:bodyPr>
          <a:lstStyle/>
          <a:p>
            <a:pPr algn="l">
              <a:lnSpc>
                <a:spcPct val="115000"/>
              </a:lnSpc>
            </a:pPr>
            <a:r>
              <a:rPr sz="1100" b="1" i="0">
                <a:solidFill>
                  <a:srgbClr val="B85042"/>
                </a:solidFill>
                <a:latin typeface="Calibri"/>
              </a:rPr>
              <a:t>What it costs us</a:t>
            </a:r>
          </a:p>
        </p:txBody>
      </p:sp>
      <p:sp>
        <p:nvSpPr>
          <p:cNvPr id="21" name="TextBox 20"/>
          <p:cNvSpPr txBox="1"/>
          <p:nvPr/>
        </p:nvSpPr>
        <p:spPr>
          <a:xfrm>
            <a:off x="685800" y="4754880"/>
            <a:ext cx="5029200" cy="594360"/>
          </a:xfrm>
          <a:prstGeom prst="rect">
            <a:avLst/>
          </a:prstGeom>
          <a:noFill/>
        </p:spPr>
        <p:txBody>
          <a:bodyPr wrap="square" lIns="0" rIns="0" tIns="0" bIns="0" anchor="t">
            <a:spAutoFit/>
          </a:bodyPr>
          <a:lstStyle/>
          <a:p>
            <a:pPr algn="l">
              <a:lnSpc>
                <a:spcPct val="130000"/>
              </a:lnSpc>
            </a:pPr>
            <a:r>
              <a:rPr sz="1200" b="0" i="0">
                <a:solidFill>
                  <a:srgbClr val="3A2E26"/>
                </a:solidFill>
                <a:latin typeface="Calibri"/>
              </a:rPr>
              <a:t>Continued delays. Decisions made by people far from the consequences.</a:t>
            </a:r>
          </a:p>
        </p:txBody>
      </p:sp>
      <p:sp>
        <p:nvSpPr>
          <p:cNvPr id="22" name="TextBox 21"/>
          <p:cNvSpPr txBox="1"/>
          <p:nvPr/>
        </p:nvSpPr>
        <p:spPr>
          <a:xfrm>
            <a:off x="685800" y="5349240"/>
            <a:ext cx="5029200" cy="274320"/>
          </a:xfrm>
          <a:prstGeom prst="rect">
            <a:avLst/>
          </a:prstGeom>
          <a:noFill/>
        </p:spPr>
        <p:txBody>
          <a:bodyPr wrap="square" lIns="0" rIns="0" tIns="0" bIns="0" anchor="t">
            <a:spAutoFit/>
          </a:bodyPr>
          <a:lstStyle/>
          <a:p>
            <a:pPr algn="l">
              <a:lnSpc>
                <a:spcPct val="115000"/>
              </a:lnSpc>
            </a:pPr>
            <a:r>
              <a:rPr sz="1100" b="1" i="0">
                <a:solidFill>
                  <a:srgbClr val="B85042"/>
                </a:solidFill>
                <a:latin typeface="Calibri"/>
              </a:rPr>
              <a:t>Property tax</a:t>
            </a:r>
          </a:p>
        </p:txBody>
      </p:sp>
      <p:sp>
        <p:nvSpPr>
          <p:cNvPr id="23" name="TextBox 22"/>
          <p:cNvSpPr txBox="1"/>
          <p:nvPr/>
        </p:nvSpPr>
        <p:spPr>
          <a:xfrm>
            <a:off x="685800" y="5623560"/>
            <a:ext cx="5029200" cy="594360"/>
          </a:xfrm>
          <a:prstGeom prst="rect">
            <a:avLst/>
          </a:prstGeom>
          <a:noFill/>
        </p:spPr>
        <p:txBody>
          <a:bodyPr wrap="square" lIns="0" rIns="0" tIns="0" bIns="0" anchor="t">
            <a:spAutoFit/>
          </a:bodyPr>
          <a:lstStyle/>
          <a:p>
            <a:pPr algn="l">
              <a:lnSpc>
                <a:spcPct val="130000"/>
              </a:lnSpc>
            </a:pPr>
            <a:r>
              <a:rPr sz="1200" b="0" i="0">
                <a:solidFill>
                  <a:srgbClr val="3A2E26"/>
                </a:solidFill>
                <a:latin typeface="Calibri"/>
              </a:rPr>
              <a:t>Most leaves region for La Paz priorities.</a:t>
            </a:r>
          </a:p>
        </p:txBody>
      </p:sp>
      <p:sp>
        <p:nvSpPr>
          <p:cNvPr id="24" name="Rectangle 23"/>
          <p:cNvSpPr/>
          <p:nvPr/>
        </p:nvSpPr>
        <p:spPr>
          <a:xfrm>
            <a:off x="6245352" y="2011680"/>
            <a:ext cx="5486400" cy="502920"/>
          </a:xfrm>
          <a:prstGeom prst="rect">
            <a:avLst/>
          </a:prstGeom>
          <a:solidFill>
            <a:srgbClr val="B850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245352" y="2011680"/>
            <a:ext cx="5486400" cy="502920"/>
          </a:xfrm>
          <a:prstGeom prst="rect">
            <a:avLst/>
          </a:prstGeom>
          <a:noFill/>
        </p:spPr>
        <p:txBody>
          <a:bodyPr wrap="square" lIns="0" rIns="0" tIns="0" bIns="0" anchor="ctr">
            <a:spAutoFit/>
          </a:bodyPr>
          <a:lstStyle/>
          <a:p>
            <a:pPr algn="ctr">
              <a:lnSpc>
                <a:spcPct val="115000"/>
              </a:lnSpc>
            </a:pPr>
            <a:r>
              <a:rPr sz="1400" b="1" i="0">
                <a:solidFill>
                  <a:srgbClr val="FBF6E9"/>
                </a:solidFill>
                <a:latin typeface="Calibri"/>
              </a:rPr>
              <a:t>Scenario B — Our own municipality</a:t>
            </a:r>
          </a:p>
        </p:txBody>
      </p:sp>
      <p:sp>
        <p:nvSpPr>
          <p:cNvPr id="26" name="Rectangle 25"/>
          <p:cNvSpPr/>
          <p:nvPr/>
        </p:nvSpPr>
        <p:spPr>
          <a:xfrm>
            <a:off x="6245352" y="2514600"/>
            <a:ext cx="5486400" cy="3611880"/>
          </a:xfrm>
          <a:prstGeom prst="rect">
            <a:avLst/>
          </a:prstGeom>
          <a:solidFill>
            <a:srgbClr val="FAEA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73952" y="2743200"/>
            <a:ext cx="5029200" cy="274320"/>
          </a:xfrm>
          <a:prstGeom prst="rect">
            <a:avLst/>
          </a:prstGeom>
          <a:noFill/>
        </p:spPr>
        <p:txBody>
          <a:bodyPr wrap="square" lIns="0" rIns="0" tIns="0" bIns="0" anchor="t">
            <a:spAutoFit/>
          </a:bodyPr>
          <a:lstStyle/>
          <a:p>
            <a:pPr algn="l">
              <a:lnSpc>
                <a:spcPct val="115000"/>
              </a:lnSpc>
            </a:pPr>
            <a:r>
              <a:rPr sz="1100" b="1" i="0">
                <a:solidFill>
                  <a:srgbClr val="B85042"/>
                </a:solidFill>
                <a:latin typeface="Calibri"/>
              </a:rPr>
              <a:t>What changes</a:t>
            </a:r>
          </a:p>
        </p:txBody>
      </p:sp>
      <p:sp>
        <p:nvSpPr>
          <p:cNvPr id="28" name="TextBox 27"/>
          <p:cNvSpPr txBox="1"/>
          <p:nvPr/>
        </p:nvSpPr>
        <p:spPr>
          <a:xfrm>
            <a:off x="6473952" y="3017520"/>
            <a:ext cx="5029200" cy="594360"/>
          </a:xfrm>
          <a:prstGeom prst="rect">
            <a:avLst/>
          </a:prstGeom>
          <a:noFill/>
        </p:spPr>
        <p:txBody>
          <a:bodyPr wrap="square" lIns="0" rIns="0" tIns="0" bIns="0" anchor="t">
            <a:spAutoFit/>
          </a:bodyPr>
          <a:lstStyle/>
          <a:p>
            <a:pPr algn="l">
              <a:lnSpc>
                <a:spcPct val="130000"/>
              </a:lnSpc>
            </a:pPr>
            <a:r>
              <a:rPr sz="1200" b="0" i="0">
                <a:solidFill>
                  <a:srgbClr val="3A2E26"/>
                </a:solidFill>
                <a:latin typeface="Calibri"/>
              </a:rPr>
              <a:t>New municipality. Local cabildo. Local presidente municipal.</a:t>
            </a:r>
          </a:p>
        </p:txBody>
      </p:sp>
      <p:sp>
        <p:nvSpPr>
          <p:cNvPr id="29" name="TextBox 28"/>
          <p:cNvSpPr txBox="1"/>
          <p:nvPr/>
        </p:nvSpPr>
        <p:spPr>
          <a:xfrm>
            <a:off x="6473952" y="3611880"/>
            <a:ext cx="5029200" cy="274320"/>
          </a:xfrm>
          <a:prstGeom prst="rect">
            <a:avLst/>
          </a:prstGeom>
          <a:noFill/>
        </p:spPr>
        <p:txBody>
          <a:bodyPr wrap="square" lIns="0" rIns="0" tIns="0" bIns="0" anchor="t">
            <a:spAutoFit/>
          </a:bodyPr>
          <a:lstStyle/>
          <a:p>
            <a:pPr algn="l">
              <a:lnSpc>
                <a:spcPct val="115000"/>
              </a:lnSpc>
            </a:pPr>
            <a:r>
              <a:rPr sz="1100" b="1" i="0">
                <a:solidFill>
                  <a:srgbClr val="B85042"/>
                </a:solidFill>
                <a:latin typeface="Calibri"/>
              </a:rPr>
              <a:t>What it gives us</a:t>
            </a:r>
          </a:p>
        </p:txBody>
      </p:sp>
      <p:sp>
        <p:nvSpPr>
          <p:cNvPr id="30" name="TextBox 29"/>
          <p:cNvSpPr txBox="1"/>
          <p:nvPr/>
        </p:nvSpPr>
        <p:spPr>
          <a:xfrm>
            <a:off x="6473952" y="3886200"/>
            <a:ext cx="5029200" cy="594360"/>
          </a:xfrm>
          <a:prstGeom prst="rect">
            <a:avLst/>
          </a:prstGeom>
          <a:noFill/>
        </p:spPr>
        <p:txBody>
          <a:bodyPr wrap="square" lIns="0" rIns="0" tIns="0" bIns="0" anchor="t">
            <a:spAutoFit/>
          </a:bodyPr>
          <a:lstStyle/>
          <a:p>
            <a:pPr algn="l">
              <a:lnSpc>
                <a:spcPct val="130000"/>
              </a:lnSpc>
            </a:pPr>
            <a:r>
              <a:rPr sz="1200" b="0" i="0">
                <a:solidFill>
                  <a:srgbClr val="3A2E26"/>
                </a:solidFill>
                <a:latin typeface="Calibri"/>
              </a:rPr>
              <a:t>Local control over development, infrastructure, budget. Property tax stays.</a:t>
            </a:r>
          </a:p>
        </p:txBody>
      </p:sp>
      <p:sp>
        <p:nvSpPr>
          <p:cNvPr id="31" name="TextBox 30"/>
          <p:cNvSpPr txBox="1"/>
          <p:nvPr/>
        </p:nvSpPr>
        <p:spPr>
          <a:xfrm>
            <a:off x="6473952" y="4480560"/>
            <a:ext cx="5029200" cy="274320"/>
          </a:xfrm>
          <a:prstGeom prst="rect">
            <a:avLst/>
          </a:prstGeom>
          <a:noFill/>
        </p:spPr>
        <p:txBody>
          <a:bodyPr wrap="square" lIns="0" rIns="0" tIns="0" bIns="0" anchor="t">
            <a:spAutoFit/>
          </a:bodyPr>
          <a:lstStyle/>
          <a:p>
            <a:pPr algn="l">
              <a:lnSpc>
                <a:spcPct val="115000"/>
              </a:lnSpc>
            </a:pPr>
            <a:r>
              <a:rPr sz="1100" b="1" i="0">
                <a:solidFill>
                  <a:srgbClr val="B85042"/>
                </a:solidFill>
                <a:latin typeface="Calibri"/>
              </a:rPr>
              <a:t>What it costs us</a:t>
            </a:r>
          </a:p>
        </p:txBody>
      </p:sp>
      <p:sp>
        <p:nvSpPr>
          <p:cNvPr id="32" name="TextBox 31"/>
          <p:cNvSpPr txBox="1"/>
          <p:nvPr/>
        </p:nvSpPr>
        <p:spPr>
          <a:xfrm>
            <a:off x="6473952" y="4754880"/>
            <a:ext cx="5029200" cy="594360"/>
          </a:xfrm>
          <a:prstGeom prst="rect">
            <a:avLst/>
          </a:prstGeom>
          <a:noFill/>
        </p:spPr>
        <p:txBody>
          <a:bodyPr wrap="square" lIns="0" rIns="0" tIns="0" bIns="0" anchor="t">
            <a:spAutoFit/>
          </a:bodyPr>
          <a:lstStyle/>
          <a:p>
            <a:pPr algn="l">
              <a:lnSpc>
                <a:spcPct val="130000"/>
              </a:lnSpc>
            </a:pPr>
            <a:r>
              <a:rPr sz="1200" b="0" i="0">
                <a:solidFill>
                  <a:srgbClr val="3A2E26"/>
                </a:solidFill>
                <a:latin typeface="Calibri"/>
              </a:rPr>
              <a:t>One-time transition costs. Build administrative structure. New responsibility.</a:t>
            </a:r>
          </a:p>
        </p:txBody>
      </p:sp>
      <p:sp>
        <p:nvSpPr>
          <p:cNvPr id="33" name="TextBox 32"/>
          <p:cNvSpPr txBox="1"/>
          <p:nvPr/>
        </p:nvSpPr>
        <p:spPr>
          <a:xfrm>
            <a:off x="6473952" y="5349240"/>
            <a:ext cx="5029200" cy="274320"/>
          </a:xfrm>
          <a:prstGeom prst="rect">
            <a:avLst/>
          </a:prstGeom>
          <a:noFill/>
        </p:spPr>
        <p:txBody>
          <a:bodyPr wrap="square" lIns="0" rIns="0" tIns="0" bIns="0" anchor="t">
            <a:spAutoFit/>
          </a:bodyPr>
          <a:lstStyle/>
          <a:p>
            <a:pPr algn="l">
              <a:lnSpc>
                <a:spcPct val="115000"/>
              </a:lnSpc>
            </a:pPr>
            <a:r>
              <a:rPr sz="1100" b="1" i="0">
                <a:solidFill>
                  <a:srgbClr val="B85042"/>
                </a:solidFill>
                <a:latin typeface="Calibri"/>
              </a:rPr>
              <a:t>Property tax</a:t>
            </a:r>
          </a:p>
        </p:txBody>
      </p:sp>
      <p:sp>
        <p:nvSpPr>
          <p:cNvPr id="34" name="TextBox 33"/>
          <p:cNvSpPr txBox="1"/>
          <p:nvPr/>
        </p:nvSpPr>
        <p:spPr>
          <a:xfrm>
            <a:off x="6473952" y="5623560"/>
            <a:ext cx="5029200" cy="594360"/>
          </a:xfrm>
          <a:prstGeom prst="rect">
            <a:avLst/>
          </a:prstGeom>
          <a:noFill/>
        </p:spPr>
        <p:txBody>
          <a:bodyPr wrap="square" lIns="0" rIns="0" tIns="0" bIns="0" anchor="t">
            <a:spAutoFit/>
          </a:bodyPr>
          <a:lstStyle/>
          <a:p>
            <a:pPr algn="l">
              <a:lnSpc>
                <a:spcPct val="130000"/>
              </a:lnSpc>
            </a:pPr>
            <a:r>
              <a:rPr sz="1200" b="0" i="0">
                <a:solidFill>
                  <a:srgbClr val="3A2E26"/>
                </a:solidFill>
                <a:latin typeface="Calibri"/>
              </a:rPr>
              <a:t>Stays in region.</a:t>
            </a:r>
          </a:p>
        </p:txBody>
      </p:sp>
      <p:sp>
        <p:nvSpPr>
          <p:cNvPr id="35" name="Rectangle 34"/>
          <p:cNvSpPr/>
          <p:nvPr/>
        </p:nvSpPr>
        <p:spPr>
          <a:xfrm>
            <a:off x="457200" y="6263640"/>
            <a:ext cx="11247120" cy="365760"/>
          </a:xfrm>
          <a:prstGeom prst="rect">
            <a:avLst/>
          </a:prstGeom>
          <a:solidFill>
            <a:srgbClr val="3A2E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57200" y="6263640"/>
            <a:ext cx="11247120" cy="365760"/>
          </a:xfrm>
          <a:prstGeom prst="rect">
            <a:avLst/>
          </a:prstGeom>
          <a:noFill/>
        </p:spPr>
        <p:txBody>
          <a:bodyPr wrap="square" lIns="0" rIns="0" tIns="0" bIns="0" anchor="ctr">
            <a:spAutoFit/>
          </a:bodyPr>
          <a:lstStyle/>
          <a:p>
            <a:pPr algn="ctr">
              <a:lnSpc>
                <a:spcPct val="115000"/>
              </a:lnSpc>
            </a:pPr>
            <a:r>
              <a:rPr sz="1050" b="0" i="0">
                <a:solidFill>
                  <a:srgbClr val="FBF6E9"/>
                </a:solidFill>
                <a:latin typeface="Calibri"/>
              </a:rPr>
              <a:t>Federal &amp; state taxes  ·  Immigration status  ·  Property ownership  ·  Federal/state voting rights — unchanged under either scenario.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3A2E26"/>
        </a:solidFill>
        <a:effectLst/>
      </p:bgPr>
    </p:bg>
    <p:spTree>
      <p:nvGrpSpPr>
        <p:cNvPr id="1" name=""/>
        <p:cNvGrpSpPr/>
        <p:nvPr/>
      </p:nvGrpSpPr>
      <p:grpSpPr/>
      <p:sp>
        <p:nvSpPr>
          <p:cNvPr id="2" name="TextBox 1"/>
          <p:cNvSpPr txBox="1"/>
          <p:nvPr/>
        </p:nvSpPr>
        <p:spPr>
          <a:xfrm>
            <a:off x="411480" y="137160"/>
            <a:ext cx="2286000" cy="1005840"/>
          </a:xfrm>
          <a:prstGeom prst="rect">
            <a:avLst/>
          </a:prstGeom>
          <a:noFill/>
        </p:spPr>
        <p:txBody>
          <a:bodyPr wrap="square" lIns="0" rIns="0" tIns="0" bIns="0" anchor="t">
            <a:spAutoFit/>
          </a:bodyPr>
          <a:lstStyle/>
          <a:p>
            <a:pPr algn="l">
              <a:lnSpc>
                <a:spcPct val="95000"/>
              </a:lnSpc>
            </a:pPr>
            <a:r>
              <a:rPr sz="7200" b="1" i="0">
                <a:solidFill>
                  <a:srgbClr val="6A4A3E"/>
                </a:solidFill>
                <a:latin typeface="Lora"/>
              </a:rPr>
              <a:t>06</a:t>
            </a:r>
          </a:p>
        </p:txBody>
      </p:sp>
      <p:sp>
        <p:nvSpPr>
          <p:cNvPr id="3" name="TextBox 2"/>
          <p:cNvSpPr txBox="1"/>
          <p:nvPr/>
        </p:nvSpPr>
        <p:spPr>
          <a:xfrm>
            <a:off x="457200" y="457200"/>
            <a:ext cx="7315200" cy="365760"/>
          </a:xfrm>
          <a:prstGeom prst="rect">
            <a:avLst/>
          </a:prstGeom>
          <a:noFill/>
        </p:spPr>
        <p:txBody>
          <a:bodyPr wrap="square" lIns="0" rIns="0" tIns="0" bIns="0" anchor="t">
            <a:spAutoFit/>
          </a:bodyPr>
          <a:lstStyle/>
          <a:p>
            <a:pPr algn="l">
              <a:lnSpc>
                <a:spcPct val="115000"/>
              </a:lnSpc>
            </a:pPr>
            <a:r>
              <a:rPr sz="1100" b="1" i="0">
                <a:solidFill>
                  <a:srgbClr val="B85042"/>
                </a:solidFill>
                <a:latin typeface="Calibri"/>
              </a:rPr>
              <a:t>THE LEGAL FRAMEWORK</a:t>
            </a:r>
          </a:p>
        </p:txBody>
      </p:sp>
      <p:sp>
        <p:nvSpPr>
          <p:cNvPr id="4" name="TextBox 3"/>
          <p:cNvSpPr txBox="1"/>
          <p:nvPr/>
        </p:nvSpPr>
        <p:spPr>
          <a:xfrm>
            <a:off x="457200" y="868680"/>
            <a:ext cx="11247120" cy="914400"/>
          </a:xfrm>
          <a:prstGeom prst="rect">
            <a:avLst/>
          </a:prstGeom>
          <a:noFill/>
        </p:spPr>
        <p:txBody>
          <a:bodyPr wrap="square" lIns="0" rIns="0" tIns="0" bIns="0" anchor="t">
            <a:spAutoFit/>
          </a:bodyPr>
          <a:lstStyle/>
          <a:p>
            <a:pPr algn="l">
              <a:lnSpc>
                <a:spcPct val="105000"/>
              </a:lnSpc>
            </a:pPr>
            <a:r>
              <a:rPr sz="3400" b="1" i="0">
                <a:solidFill>
                  <a:srgbClr val="FBF6E9"/>
                </a:solidFill>
                <a:latin typeface="Lora"/>
              </a:rPr>
              <a:t>The legal pathway — what Mexican law says</a:t>
            </a:r>
          </a:p>
        </p:txBody>
      </p:sp>
      <p:cxnSp>
        <p:nvCxnSpPr>
          <p:cNvPr id="5" name="Connector 4"/>
          <p:cNvCxnSpPr/>
          <p:nvPr/>
        </p:nvCxnSpPr>
        <p:spPr>
          <a:xfrm flipV="1">
            <a:off x="457200" y="1860803"/>
            <a:ext cx="160020" cy="27432"/>
          </a:xfrm>
          <a:prstGeom prst="line">
            <a:avLst/>
          </a:prstGeom>
          <a:ln w="17780">
            <a:solidFill>
              <a:srgbClr val="D97A4A"/>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617220" y="1860803"/>
            <a:ext cx="160020" cy="27432"/>
          </a:xfrm>
          <a:prstGeom prst="line">
            <a:avLst/>
          </a:prstGeom>
          <a:ln w="17780">
            <a:solidFill>
              <a:srgbClr val="D97A4A"/>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V="1">
            <a:off x="777240" y="1860803"/>
            <a:ext cx="160019" cy="27432"/>
          </a:xfrm>
          <a:prstGeom prst="line">
            <a:avLst/>
          </a:prstGeom>
          <a:ln w="17780">
            <a:solidFill>
              <a:srgbClr val="D97A4A"/>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937259" y="1860803"/>
            <a:ext cx="160021" cy="27432"/>
          </a:xfrm>
          <a:prstGeom prst="line">
            <a:avLst/>
          </a:prstGeom>
          <a:ln w="17780">
            <a:solidFill>
              <a:srgbClr val="D97A4A"/>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V="1">
            <a:off x="1097280" y="1860803"/>
            <a:ext cx="160020" cy="27432"/>
          </a:xfrm>
          <a:prstGeom prst="line">
            <a:avLst/>
          </a:prstGeom>
          <a:ln w="17780">
            <a:solidFill>
              <a:srgbClr val="D97A4A"/>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1257300" y="1860803"/>
            <a:ext cx="160019" cy="27432"/>
          </a:xfrm>
          <a:prstGeom prst="line">
            <a:avLst/>
          </a:prstGeom>
          <a:ln w="17780">
            <a:solidFill>
              <a:srgbClr val="D97A4A"/>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V="1">
            <a:off x="1417319" y="1860803"/>
            <a:ext cx="160020" cy="27432"/>
          </a:xfrm>
          <a:prstGeom prst="line">
            <a:avLst/>
          </a:prstGeom>
          <a:ln w="17780">
            <a:solidFill>
              <a:srgbClr val="D97A4A"/>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1577339" y="1860803"/>
            <a:ext cx="160021" cy="27432"/>
          </a:xfrm>
          <a:prstGeom prst="line">
            <a:avLst/>
          </a:prstGeom>
          <a:ln w="17780">
            <a:solidFill>
              <a:srgbClr val="D97A4A"/>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457200" y="2240280"/>
            <a:ext cx="11247120" cy="777240"/>
          </a:xfrm>
          <a:prstGeom prst="rect">
            <a:avLst/>
          </a:prstGeom>
          <a:noFill/>
        </p:spPr>
        <p:txBody>
          <a:bodyPr wrap="square" lIns="0" rIns="0" tIns="0" bIns="0" anchor="t">
            <a:spAutoFit/>
          </a:bodyPr>
          <a:lstStyle/>
          <a:p>
            <a:pPr algn="l">
              <a:lnSpc>
                <a:spcPct val="140000"/>
              </a:lnSpc>
            </a:pPr>
            <a:r>
              <a:rPr sz="1400" b="0" i="0">
                <a:solidFill>
                  <a:srgbClr val="F4ECD9"/>
                </a:solidFill>
                <a:latin typeface="Calibri"/>
              </a:rPr>
              <a:t>Mexican federal law and the BCS State Constitution explicitly allow the creation of new municipalities through a citizen-initiated process. This is not a workaround. It's a legal right.</a:t>
            </a:r>
          </a:p>
        </p:txBody>
      </p:sp>
      <p:sp>
        <p:nvSpPr>
          <p:cNvPr id="14" name="Rectangle 13"/>
          <p:cNvSpPr/>
          <p:nvPr/>
        </p:nvSpPr>
        <p:spPr>
          <a:xfrm>
            <a:off x="457200" y="3200400"/>
            <a:ext cx="731520" cy="731520"/>
          </a:xfrm>
          <a:prstGeom prst="rect">
            <a:avLst/>
          </a:prstGeom>
          <a:solidFill>
            <a:srgbClr val="B850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3200400"/>
            <a:ext cx="731520" cy="731520"/>
          </a:xfrm>
          <a:prstGeom prst="rect">
            <a:avLst/>
          </a:prstGeom>
          <a:noFill/>
        </p:spPr>
        <p:txBody>
          <a:bodyPr wrap="square" lIns="0" rIns="0" tIns="0" bIns="0" anchor="ctr">
            <a:spAutoFit/>
          </a:bodyPr>
          <a:lstStyle/>
          <a:p>
            <a:pPr algn="ctr">
              <a:lnSpc>
                <a:spcPct val="115000"/>
              </a:lnSpc>
            </a:pPr>
            <a:r>
              <a:rPr sz="2600" b="1" i="0">
                <a:solidFill>
                  <a:srgbClr val="FBF6E9"/>
                </a:solidFill>
                <a:latin typeface="Lora"/>
              </a:rPr>
              <a:t>I</a:t>
            </a:r>
          </a:p>
        </p:txBody>
      </p:sp>
      <p:sp>
        <p:nvSpPr>
          <p:cNvPr id="16" name="TextBox 15"/>
          <p:cNvSpPr txBox="1"/>
          <p:nvPr/>
        </p:nvSpPr>
        <p:spPr>
          <a:xfrm>
            <a:off x="1353312" y="3200400"/>
            <a:ext cx="2688336" cy="731520"/>
          </a:xfrm>
          <a:prstGeom prst="rect">
            <a:avLst/>
          </a:prstGeom>
          <a:noFill/>
        </p:spPr>
        <p:txBody>
          <a:bodyPr wrap="square" lIns="0" rIns="0" tIns="0" bIns="0" anchor="ctr">
            <a:spAutoFit/>
          </a:bodyPr>
          <a:lstStyle/>
          <a:p>
            <a:pPr algn="l">
              <a:lnSpc>
                <a:spcPct val="110000"/>
              </a:lnSpc>
            </a:pPr>
            <a:r>
              <a:rPr sz="1600" b="1" i="0">
                <a:solidFill>
                  <a:srgbClr val="FBF6E9"/>
                </a:solidFill>
                <a:latin typeface="Lora"/>
              </a:rPr>
              <a:t>Gate 1 — Citizen Petition</a:t>
            </a:r>
          </a:p>
        </p:txBody>
      </p:sp>
      <p:sp>
        <p:nvSpPr>
          <p:cNvPr id="17" name="TextBox 16"/>
          <p:cNvSpPr txBox="1"/>
          <p:nvPr/>
        </p:nvSpPr>
        <p:spPr>
          <a:xfrm>
            <a:off x="457200" y="4160520"/>
            <a:ext cx="3584448" cy="914400"/>
          </a:xfrm>
          <a:prstGeom prst="rect">
            <a:avLst/>
          </a:prstGeom>
          <a:noFill/>
        </p:spPr>
        <p:txBody>
          <a:bodyPr wrap="square" lIns="0" rIns="0" tIns="0" bIns="0" anchor="t">
            <a:spAutoFit/>
          </a:bodyPr>
          <a:lstStyle/>
          <a:p>
            <a:pPr algn="l">
              <a:lnSpc>
                <a:spcPct val="140000"/>
              </a:lnSpc>
            </a:pPr>
            <a:r>
              <a:rPr sz="1250" b="0" i="0">
                <a:solidFill>
                  <a:srgbClr val="F4ECD9"/>
                </a:solidFill>
                <a:latin typeface="Calibri"/>
              </a:rPr>
              <a:t>At least 33% of registered voters in the proposed territory must sign a formal petition.</a:t>
            </a:r>
          </a:p>
        </p:txBody>
      </p:sp>
      <p:sp>
        <p:nvSpPr>
          <p:cNvPr id="18" name="TextBox 17"/>
          <p:cNvSpPr txBox="1"/>
          <p:nvPr/>
        </p:nvSpPr>
        <p:spPr>
          <a:xfrm>
            <a:off x="457200" y="5166360"/>
            <a:ext cx="3584448" cy="411480"/>
          </a:xfrm>
          <a:prstGeom prst="rect">
            <a:avLst/>
          </a:prstGeom>
          <a:noFill/>
        </p:spPr>
        <p:txBody>
          <a:bodyPr wrap="square" lIns="0" rIns="0" tIns="0" bIns="0" anchor="t">
            <a:spAutoFit/>
          </a:bodyPr>
          <a:lstStyle/>
          <a:p>
            <a:pPr algn="l">
              <a:lnSpc>
                <a:spcPct val="130000"/>
              </a:lnSpc>
            </a:pPr>
            <a:r>
              <a:rPr sz="1000" b="0" i="1">
                <a:solidFill>
                  <a:srgbClr val="B85042"/>
                </a:solidFill>
                <a:latin typeface="Calibri"/>
              </a:rPr>
              <a:t>BCS State Constitution, Art. 122 · Citizen Participation Law, Art. 19</a:t>
            </a:r>
          </a:p>
        </p:txBody>
      </p:sp>
      <p:sp>
        <p:nvSpPr>
          <p:cNvPr id="19" name="Rectangle 18"/>
          <p:cNvSpPr/>
          <p:nvPr/>
        </p:nvSpPr>
        <p:spPr>
          <a:xfrm>
            <a:off x="4297680" y="3200400"/>
            <a:ext cx="731520" cy="731520"/>
          </a:xfrm>
          <a:prstGeom prst="rect">
            <a:avLst/>
          </a:prstGeom>
          <a:solidFill>
            <a:srgbClr val="B850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297680" y="3200400"/>
            <a:ext cx="731520" cy="731520"/>
          </a:xfrm>
          <a:prstGeom prst="rect">
            <a:avLst/>
          </a:prstGeom>
          <a:noFill/>
        </p:spPr>
        <p:txBody>
          <a:bodyPr wrap="square" lIns="0" rIns="0" tIns="0" bIns="0" anchor="ctr">
            <a:spAutoFit/>
          </a:bodyPr>
          <a:lstStyle/>
          <a:p>
            <a:pPr algn="ctr">
              <a:lnSpc>
                <a:spcPct val="115000"/>
              </a:lnSpc>
            </a:pPr>
            <a:r>
              <a:rPr sz="2600" b="1" i="0">
                <a:solidFill>
                  <a:srgbClr val="FBF6E9"/>
                </a:solidFill>
                <a:latin typeface="Lora"/>
              </a:rPr>
              <a:t>II</a:t>
            </a:r>
          </a:p>
        </p:txBody>
      </p:sp>
      <p:sp>
        <p:nvSpPr>
          <p:cNvPr id="21" name="TextBox 20"/>
          <p:cNvSpPr txBox="1"/>
          <p:nvPr/>
        </p:nvSpPr>
        <p:spPr>
          <a:xfrm>
            <a:off x="5193792" y="3200400"/>
            <a:ext cx="2688336" cy="731520"/>
          </a:xfrm>
          <a:prstGeom prst="rect">
            <a:avLst/>
          </a:prstGeom>
          <a:noFill/>
        </p:spPr>
        <p:txBody>
          <a:bodyPr wrap="square" lIns="0" rIns="0" tIns="0" bIns="0" anchor="ctr">
            <a:spAutoFit/>
          </a:bodyPr>
          <a:lstStyle/>
          <a:p>
            <a:pPr algn="l">
              <a:lnSpc>
                <a:spcPct val="110000"/>
              </a:lnSpc>
            </a:pPr>
            <a:r>
              <a:rPr sz="1600" b="1" i="0">
                <a:solidFill>
                  <a:srgbClr val="FBF6E9"/>
                </a:solidFill>
                <a:latin typeface="Lora"/>
              </a:rPr>
              <a:t>Gate 2 — Plebiscite</a:t>
            </a:r>
          </a:p>
        </p:txBody>
      </p:sp>
      <p:sp>
        <p:nvSpPr>
          <p:cNvPr id="22" name="TextBox 21"/>
          <p:cNvSpPr txBox="1"/>
          <p:nvPr/>
        </p:nvSpPr>
        <p:spPr>
          <a:xfrm>
            <a:off x="4297680" y="4160520"/>
            <a:ext cx="3584448" cy="914400"/>
          </a:xfrm>
          <a:prstGeom prst="rect">
            <a:avLst/>
          </a:prstGeom>
          <a:noFill/>
        </p:spPr>
        <p:txBody>
          <a:bodyPr wrap="square" lIns="0" rIns="0" tIns="0" bIns="0" anchor="t">
            <a:spAutoFit/>
          </a:bodyPr>
          <a:lstStyle/>
          <a:p>
            <a:pPr algn="l">
              <a:lnSpc>
                <a:spcPct val="140000"/>
              </a:lnSpc>
            </a:pPr>
            <a:r>
              <a:rPr sz="1250" b="0" i="0">
                <a:solidFill>
                  <a:srgbClr val="F4ECD9"/>
                </a:solidFill>
                <a:latin typeface="Calibri"/>
              </a:rPr>
              <a:t>At least 2/3 of citizens who vote in the plebiscite must vote YES.</a:t>
            </a:r>
          </a:p>
        </p:txBody>
      </p:sp>
      <p:sp>
        <p:nvSpPr>
          <p:cNvPr id="23" name="TextBox 22"/>
          <p:cNvSpPr txBox="1"/>
          <p:nvPr/>
        </p:nvSpPr>
        <p:spPr>
          <a:xfrm>
            <a:off x="4297680" y="5166360"/>
            <a:ext cx="3584448" cy="411480"/>
          </a:xfrm>
          <a:prstGeom prst="rect">
            <a:avLst/>
          </a:prstGeom>
          <a:noFill/>
        </p:spPr>
        <p:txBody>
          <a:bodyPr wrap="square" lIns="0" rIns="0" tIns="0" bIns="0" anchor="t">
            <a:spAutoFit/>
          </a:bodyPr>
          <a:lstStyle/>
          <a:p>
            <a:pPr algn="l">
              <a:lnSpc>
                <a:spcPct val="130000"/>
              </a:lnSpc>
            </a:pPr>
            <a:r>
              <a:rPr sz="1000" b="0" i="1">
                <a:solidFill>
                  <a:srgbClr val="B85042"/>
                </a:solidFill>
                <a:latin typeface="Calibri"/>
              </a:rPr>
              <a:t>BCS State Constitution, Art. 122.VIII</a:t>
            </a:r>
          </a:p>
        </p:txBody>
      </p:sp>
      <p:sp>
        <p:nvSpPr>
          <p:cNvPr id="24" name="Rectangle 23"/>
          <p:cNvSpPr/>
          <p:nvPr/>
        </p:nvSpPr>
        <p:spPr>
          <a:xfrm>
            <a:off x="8138160" y="3200400"/>
            <a:ext cx="731520" cy="731520"/>
          </a:xfrm>
          <a:prstGeom prst="rect">
            <a:avLst/>
          </a:prstGeom>
          <a:solidFill>
            <a:srgbClr val="B850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138160" y="3200400"/>
            <a:ext cx="731520" cy="731520"/>
          </a:xfrm>
          <a:prstGeom prst="rect">
            <a:avLst/>
          </a:prstGeom>
          <a:noFill/>
        </p:spPr>
        <p:txBody>
          <a:bodyPr wrap="square" lIns="0" rIns="0" tIns="0" bIns="0" anchor="ctr">
            <a:spAutoFit/>
          </a:bodyPr>
          <a:lstStyle/>
          <a:p>
            <a:pPr algn="ctr">
              <a:lnSpc>
                <a:spcPct val="115000"/>
              </a:lnSpc>
            </a:pPr>
            <a:r>
              <a:rPr sz="2600" b="1" i="0">
                <a:solidFill>
                  <a:srgbClr val="FBF6E9"/>
                </a:solidFill>
                <a:latin typeface="Lora"/>
              </a:rPr>
              <a:t>III</a:t>
            </a:r>
          </a:p>
        </p:txBody>
      </p:sp>
      <p:sp>
        <p:nvSpPr>
          <p:cNvPr id="26" name="TextBox 25"/>
          <p:cNvSpPr txBox="1"/>
          <p:nvPr/>
        </p:nvSpPr>
        <p:spPr>
          <a:xfrm>
            <a:off x="9034272" y="3200400"/>
            <a:ext cx="2688336" cy="731520"/>
          </a:xfrm>
          <a:prstGeom prst="rect">
            <a:avLst/>
          </a:prstGeom>
          <a:noFill/>
        </p:spPr>
        <p:txBody>
          <a:bodyPr wrap="square" lIns="0" rIns="0" tIns="0" bIns="0" anchor="ctr">
            <a:spAutoFit/>
          </a:bodyPr>
          <a:lstStyle/>
          <a:p>
            <a:pPr algn="l">
              <a:lnSpc>
                <a:spcPct val="110000"/>
              </a:lnSpc>
            </a:pPr>
            <a:r>
              <a:rPr sz="1600" b="1" i="0">
                <a:solidFill>
                  <a:srgbClr val="FBF6E9"/>
                </a:solidFill>
                <a:latin typeface="Lora"/>
              </a:rPr>
              <a:t>Gate 3 — State Congress</a:t>
            </a:r>
          </a:p>
        </p:txBody>
      </p:sp>
      <p:sp>
        <p:nvSpPr>
          <p:cNvPr id="27" name="TextBox 26"/>
          <p:cNvSpPr txBox="1"/>
          <p:nvPr/>
        </p:nvSpPr>
        <p:spPr>
          <a:xfrm>
            <a:off x="8138160" y="4160520"/>
            <a:ext cx="3584448" cy="914400"/>
          </a:xfrm>
          <a:prstGeom prst="rect">
            <a:avLst/>
          </a:prstGeom>
          <a:noFill/>
        </p:spPr>
        <p:txBody>
          <a:bodyPr wrap="square" lIns="0" rIns="0" tIns="0" bIns="0" anchor="t">
            <a:spAutoFit/>
          </a:bodyPr>
          <a:lstStyle/>
          <a:p>
            <a:pPr algn="l">
              <a:lnSpc>
                <a:spcPct val="140000"/>
              </a:lnSpc>
            </a:pPr>
            <a:r>
              <a:rPr sz="1250" b="0" i="0">
                <a:solidFill>
                  <a:srgbClr val="F4ECD9"/>
                </a:solidFill>
                <a:latin typeface="Calibri"/>
              </a:rPr>
              <a:t>At least 2/3 of BCS State Deputies must vote YES on the constitutional reform.</a:t>
            </a:r>
          </a:p>
        </p:txBody>
      </p:sp>
      <p:sp>
        <p:nvSpPr>
          <p:cNvPr id="28" name="TextBox 27"/>
          <p:cNvSpPr txBox="1"/>
          <p:nvPr/>
        </p:nvSpPr>
        <p:spPr>
          <a:xfrm>
            <a:off x="8138160" y="5166360"/>
            <a:ext cx="3584448" cy="411480"/>
          </a:xfrm>
          <a:prstGeom prst="rect">
            <a:avLst/>
          </a:prstGeom>
          <a:noFill/>
        </p:spPr>
        <p:txBody>
          <a:bodyPr wrap="square" lIns="0" rIns="0" tIns="0" bIns="0" anchor="t">
            <a:spAutoFit/>
          </a:bodyPr>
          <a:lstStyle/>
          <a:p>
            <a:pPr algn="l">
              <a:lnSpc>
                <a:spcPct val="130000"/>
              </a:lnSpc>
            </a:pPr>
            <a:r>
              <a:rPr sz="1000" b="0" i="1">
                <a:solidFill>
                  <a:srgbClr val="B85042"/>
                </a:solidFill>
                <a:latin typeface="Calibri"/>
              </a:rPr>
              <a:t>BCS State Constitution, Art. 64.XXXV</a:t>
            </a:r>
          </a:p>
        </p:txBody>
      </p:sp>
      <p:sp>
        <p:nvSpPr>
          <p:cNvPr id="29" name="TextBox 28"/>
          <p:cNvSpPr txBox="1"/>
          <p:nvPr/>
        </p:nvSpPr>
        <p:spPr>
          <a:xfrm>
            <a:off x="457200" y="5989320"/>
            <a:ext cx="11247120" cy="502920"/>
          </a:xfrm>
          <a:prstGeom prst="rect">
            <a:avLst/>
          </a:prstGeom>
          <a:noFill/>
        </p:spPr>
        <p:txBody>
          <a:bodyPr wrap="square" lIns="0" rIns="0" tIns="0" bIns="0" anchor="t">
            <a:spAutoFit/>
          </a:bodyPr>
          <a:lstStyle/>
          <a:p>
            <a:pPr algn="ctr">
              <a:lnSpc>
                <a:spcPct val="140000"/>
              </a:lnSpc>
            </a:pPr>
            <a:r>
              <a:rPr sz="1300" b="0" i="1">
                <a:solidFill>
                  <a:srgbClr val="FBF6E9"/>
                </a:solidFill>
                <a:latin typeface="Lora"/>
              </a:rPr>
              <a:t>These gates are high — intentionally so. They ensure no new municipality is created without genuine, demonstrated community support. If we can't pass them, we shouldn't create it.</a:t>
            </a:r>
          </a:p>
        </p:txBody>
      </p:sp>
      <p:sp>
        <p:nvSpPr>
          <p:cNvPr id="30" name="TextBox 29"/>
          <p:cNvSpPr txBox="1"/>
          <p:nvPr/>
        </p:nvSpPr>
        <p:spPr>
          <a:xfrm>
            <a:off x="457200" y="6565392"/>
            <a:ext cx="5486400" cy="228600"/>
          </a:xfrm>
          <a:prstGeom prst="rect">
            <a:avLst/>
          </a:prstGeom>
          <a:noFill/>
        </p:spPr>
        <p:txBody>
          <a:bodyPr wrap="square" lIns="0" rIns="0" tIns="0" bIns="0" anchor="t">
            <a:spAutoFit/>
          </a:bodyPr>
          <a:lstStyle/>
          <a:p>
            <a:pPr algn="l">
              <a:lnSpc>
                <a:spcPct val="115000"/>
              </a:lnSpc>
            </a:pPr>
            <a:r>
              <a:rPr sz="900" b="1" i="0">
                <a:solidFill>
                  <a:srgbClr val="D4C8B0"/>
                </a:solidFill>
                <a:latin typeface="Calibri"/>
              </a:rPr>
              <a:t>PARA TODOS</a:t>
            </a:r>
          </a:p>
        </p:txBody>
      </p:sp>
      <p:sp>
        <p:nvSpPr>
          <p:cNvPr id="31" name="TextBox 30"/>
          <p:cNvSpPr txBox="1"/>
          <p:nvPr/>
        </p:nvSpPr>
        <p:spPr>
          <a:xfrm>
            <a:off x="10607040" y="6565392"/>
            <a:ext cx="1188720" cy="228600"/>
          </a:xfrm>
          <a:prstGeom prst="rect">
            <a:avLst/>
          </a:prstGeom>
          <a:noFill/>
        </p:spPr>
        <p:txBody>
          <a:bodyPr wrap="square" lIns="0" rIns="0" tIns="0" bIns="0" anchor="t">
            <a:spAutoFit/>
          </a:bodyPr>
          <a:lstStyle/>
          <a:p>
            <a:pPr algn="r">
              <a:lnSpc>
                <a:spcPct val="115000"/>
              </a:lnSpc>
            </a:pPr>
            <a:r>
              <a:rPr sz="900" b="0" i="0">
                <a:solidFill>
                  <a:srgbClr val="D4C8B0"/>
                </a:solidFill>
                <a:latin typeface="Calibri"/>
              </a:rPr>
              <a:t>7 / 14</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BF6E9"/>
        </a:solidFill>
        <a:effectLst/>
      </p:bgPr>
    </p:bg>
    <p:spTree>
      <p:nvGrpSpPr>
        <p:cNvPr id="1" name=""/>
        <p:cNvGrpSpPr/>
        <p:nvPr/>
      </p:nvGrpSpPr>
      <p:grpSpPr/>
      <p:sp>
        <p:nvSpPr>
          <p:cNvPr id="2" name="TextBox 1"/>
          <p:cNvSpPr txBox="1"/>
          <p:nvPr/>
        </p:nvSpPr>
        <p:spPr>
          <a:xfrm>
            <a:off x="411480" y="137160"/>
            <a:ext cx="2286000" cy="1005840"/>
          </a:xfrm>
          <a:prstGeom prst="rect">
            <a:avLst/>
          </a:prstGeom>
          <a:noFill/>
        </p:spPr>
        <p:txBody>
          <a:bodyPr wrap="square" lIns="0" rIns="0" tIns="0" bIns="0" anchor="t">
            <a:spAutoFit/>
          </a:bodyPr>
          <a:lstStyle/>
          <a:p>
            <a:pPr algn="l">
              <a:lnSpc>
                <a:spcPct val="95000"/>
              </a:lnSpc>
            </a:pPr>
            <a:r>
              <a:rPr sz="7200" b="1" i="0">
                <a:solidFill>
                  <a:srgbClr val="E6C8C0"/>
                </a:solidFill>
                <a:latin typeface="Lora"/>
              </a:rPr>
              <a:t>07</a:t>
            </a:r>
          </a:p>
        </p:txBody>
      </p:sp>
      <p:sp>
        <p:nvSpPr>
          <p:cNvPr id="3" name="TextBox 2"/>
          <p:cNvSpPr txBox="1"/>
          <p:nvPr/>
        </p:nvSpPr>
        <p:spPr>
          <a:xfrm>
            <a:off x="457200" y="457200"/>
            <a:ext cx="7315200" cy="365760"/>
          </a:xfrm>
          <a:prstGeom prst="rect">
            <a:avLst/>
          </a:prstGeom>
          <a:noFill/>
        </p:spPr>
        <p:txBody>
          <a:bodyPr wrap="square" lIns="0" rIns="0" tIns="0" bIns="0" anchor="t">
            <a:spAutoFit/>
          </a:bodyPr>
          <a:lstStyle/>
          <a:p>
            <a:pPr algn="l">
              <a:lnSpc>
                <a:spcPct val="115000"/>
              </a:lnSpc>
            </a:pPr>
            <a:r>
              <a:rPr sz="1100" b="1" i="0">
                <a:solidFill>
                  <a:srgbClr val="B85042"/>
                </a:solidFill>
                <a:latin typeface="Calibri"/>
              </a:rPr>
              <a:t>COSTS &amp; COMMITMENTS</a:t>
            </a:r>
          </a:p>
        </p:txBody>
      </p:sp>
      <p:sp>
        <p:nvSpPr>
          <p:cNvPr id="4" name="TextBox 3"/>
          <p:cNvSpPr txBox="1"/>
          <p:nvPr/>
        </p:nvSpPr>
        <p:spPr>
          <a:xfrm>
            <a:off x="457200" y="868680"/>
            <a:ext cx="11247120" cy="914400"/>
          </a:xfrm>
          <a:prstGeom prst="rect">
            <a:avLst/>
          </a:prstGeom>
          <a:noFill/>
        </p:spPr>
        <p:txBody>
          <a:bodyPr wrap="square" lIns="0" rIns="0" tIns="0" bIns="0" anchor="t">
            <a:spAutoFit/>
          </a:bodyPr>
          <a:lstStyle/>
          <a:p>
            <a:pPr algn="l">
              <a:lnSpc>
                <a:spcPct val="105000"/>
              </a:lnSpc>
            </a:pPr>
            <a:r>
              <a:rPr sz="3600" b="1" i="0">
                <a:solidFill>
                  <a:srgbClr val="3A2E26"/>
                </a:solidFill>
                <a:latin typeface="Lora"/>
              </a:rPr>
              <a:t>Cost of the process — every peso, public</a:t>
            </a:r>
          </a:p>
        </p:txBody>
      </p:sp>
      <p:cxnSp>
        <p:nvCxnSpPr>
          <p:cNvPr id="5" name="Connector 4"/>
          <p:cNvCxnSpPr/>
          <p:nvPr/>
        </p:nvCxnSpPr>
        <p:spPr>
          <a:xfrm flipV="1">
            <a:off x="457200" y="1860803"/>
            <a:ext cx="160020" cy="27432"/>
          </a:xfrm>
          <a:prstGeom prst="line">
            <a:avLst/>
          </a:prstGeom>
          <a:ln w="17780">
            <a:solidFill>
              <a:srgbClr val="6D8A6E"/>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617220" y="1860803"/>
            <a:ext cx="160020" cy="27432"/>
          </a:xfrm>
          <a:prstGeom prst="line">
            <a:avLst/>
          </a:prstGeom>
          <a:ln w="17780">
            <a:solidFill>
              <a:srgbClr val="6D8A6E"/>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V="1">
            <a:off x="777240" y="1860803"/>
            <a:ext cx="160019" cy="27432"/>
          </a:xfrm>
          <a:prstGeom prst="line">
            <a:avLst/>
          </a:prstGeom>
          <a:ln w="17780">
            <a:solidFill>
              <a:srgbClr val="6D8A6E"/>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937259" y="1860803"/>
            <a:ext cx="160021" cy="27432"/>
          </a:xfrm>
          <a:prstGeom prst="line">
            <a:avLst/>
          </a:prstGeom>
          <a:ln w="17780">
            <a:solidFill>
              <a:srgbClr val="6D8A6E"/>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V="1">
            <a:off x="1097280" y="1860803"/>
            <a:ext cx="160020" cy="27432"/>
          </a:xfrm>
          <a:prstGeom prst="line">
            <a:avLst/>
          </a:prstGeom>
          <a:ln w="17780">
            <a:solidFill>
              <a:srgbClr val="6D8A6E"/>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1257300" y="1860803"/>
            <a:ext cx="160019" cy="27432"/>
          </a:xfrm>
          <a:prstGeom prst="line">
            <a:avLst/>
          </a:prstGeom>
          <a:ln w="17780">
            <a:solidFill>
              <a:srgbClr val="6D8A6E"/>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V="1">
            <a:off x="1417319" y="1860803"/>
            <a:ext cx="160020" cy="27432"/>
          </a:xfrm>
          <a:prstGeom prst="line">
            <a:avLst/>
          </a:prstGeom>
          <a:ln w="17780">
            <a:solidFill>
              <a:srgbClr val="6D8A6E"/>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1577339" y="1860803"/>
            <a:ext cx="160021" cy="27432"/>
          </a:xfrm>
          <a:prstGeom prst="line">
            <a:avLst/>
          </a:prstGeom>
          <a:ln w="17780">
            <a:solidFill>
              <a:srgbClr val="6D8A6E"/>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457200" y="1874519"/>
            <a:ext cx="11247120" cy="457200"/>
          </a:xfrm>
          <a:prstGeom prst="rect">
            <a:avLst/>
          </a:prstGeom>
          <a:noFill/>
        </p:spPr>
        <p:txBody>
          <a:bodyPr wrap="square" lIns="0" rIns="0" tIns="0" bIns="0" anchor="t">
            <a:spAutoFit/>
          </a:bodyPr>
          <a:lstStyle/>
          <a:p>
            <a:pPr algn="l">
              <a:lnSpc>
                <a:spcPct val="135000"/>
              </a:lnSpc>
            </a:pPr>
            <a:r>
              <a:rPr sz="1250" b="0" i="0">
                <a:solidFill>
                  <a:srgbClr val="3A2E26"/>
                </a:solidFill>
                <a:latin typeface="Calibri"/>
              </a:rPr>
              <a:t>A proper municipalization process — done with technical rigor, community input, and legal grounding — costs approximately 10 million pesos over 20 months.</a:t>
            </a:r>
          </a:p>
        </p:txBody>
      </p:sp>
      <p:sp>
        <p:nvSpPr>
          <p:cNvPr id="14" name="Rectangle 13"/>
          <p:cNvSpPr/>
          <p:nvPr/>
        </p:nvSpPr>
        <p:spPr>
          <a:xfrm>
            <a:off x="457200" y="2423160"/>
            <a:ext cx="3703320" cy="1828800"/>
          </a:xfrm>
          <a:prstGeom prst="rect">
            <a:avLst/>
          </a:prstGeom>
          <a:solidFill>
            <a:srgbClr val="FAF4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40080" y="2606040"/>
            <a:ext cx="640080" cy="640080"/>
          </a:xfrm>
          <a:prstGeom prst="rect">
            <a:avLst/>
          </a:prstGeom>
          <a:solidFill>
            <a:srgbClr val="B850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2606040"/>
            <a:ext cx="640080" cy="640080"/>
          </a:xfrm>
          <a:prstGeom prst="rect">
            <a:avLst/>
          </a:prstGeom>
          <a:noFill/>
        </p:spPr>
        <p:txBody>
          <a:bodyPr wrap="square" lIns="0" rIns="0" tIns="0" bIns="0" anchor="ctr">
            <a:spAutoFit/>
          </a:bodyPr>
          <a:lstStyle/>
          <a:p>
            <a:pPr algn="ctr">
              <a:lnSpc>
                <a:spcPct val="115000"/>
              </a:lnSpc>
            </a:pPr>
            <a:r>
              <a:rPr sz="2200" b="1" i="0">
                <a:solidFill>
                  <a:srgbClr val="FBF6E9"/>
                </a:solidFill>
                <a:latin typeface="Lora"/>
              </a:rPr>
              <a:t>I</a:t>
            </a:r>
          </a:p>
        </p:txBody>
      </p:sp>
      <p:sp>
        <p:nvSpPr>
          <p:cNvPr id="17" name="TextBox 16"/>
          <p:cNvSpPr txBox="1"/>
          <p:nvPr/>
        </p:nvSpPr>
        <p:spPr>
          <a:xfrm>
            <a:off x="1417320" y="2587752"/>
            <a:ext cx="2651760" cy="365760"/>
          </a:xfrm>
          <a:prstGeom prst="rect">
            <a:avLst/>
          </a:prstGeom>
          <a:noFill/>
        </p:spPr>
        <p:txBody>
          <a:bodyPr wrap="square" lIns="0" rIns="0" tIns="0" bIns="0" anchor="t">
            <a:spAutoFit/>
          </a:bodyPr>
          <a:lstStyle/>
          <a:p>
            <a:pPr algn="l">
              <a:lnSpc>
                <a:spcPct val="110000"/>
              </a:lnSpc>
            </a:pPr>
            <a:r>
              <a:rPr sz="1400" b="1" i="0">
                <a:solidFill>
                  <a:srgbClr val="3A2E26"/>
                </a:solidFill>
                <a:latin typeface="Lora"/>
              </a:rPr>
              <a:t>Stage I — Foundation</a:t>
            </a:r>
          </a:p>
        </p:txBody>
      </p:sp>
      <p:sp>
        <p:nvSpPr>
          <p:cNvPr id="18" name="TextBox 17"/>
          <p:cNvSpPr txBox="1"/>
          <p:nvPr/>
        </p:nvSpPr>
        <p:spPr>
          <a:xfrm>
            <a:off x="1417320" y="2971800"/>
            <a:ext cx="2651760" cy="960120"/>
          </a:xfrm>
          <a:prstGeom prst="rect">
            <a:avLst/>
          </a:prstGeom>
          <a:noFill/>
        </p:spPr>
        <p:txBody>
          <a:bodyPr wrap="square" lIns="0" rIns="0" tIns="0" bIns="0">
            <a:spAutoFit/>
          </a:bodyPr>
          <a:lstStyle/>
          <a:p>
            <a:pPr algn="l">
              <a:lnSpc>
                <a:spcPct val="115000"/>
              </a:lnSpc>
              <a:spcAft>
                <a:spcPts val="400"/>
              </a:spcAft>
            </a:pPr>
            <a:r>
              <a:rPr sz="1050" b="1" i="0">
                <a:solidFill>
                  <a:srgbClr val="B85042"/>
                </a:solidFill>
                <a:latin typeface="Calibri"/>
              </a:rPr>
              <a:t>•  </a:t>
            </a:r>
            <a:r>
              <a:rPr sz="1050" b="0" i="0">
                <a:solidFill>
                  <a:srgbClr val="3A2E26"/>
                </a:solidFill>
                <a:latin typeface="Calibri"/>
              </a:rPr>
              <a:t>Promoter Committee</a:t>
            </a:r>
          </a:p>
          <a:p>
            <a:pPr algn="l">
              <a:lnSpc>
                <a:spcPct val="115000"/>
              </a:lnSpc>
              <a:spcAft>
                <a:spcPts val="400"/>
              </a:spcAft>
            </a:pPr>
            <a:r>
              <a:rPr sz="1050" b="1" i="0">
                <a:solidFill>
                  <a:srgbClr val="B85042"/>
                </a:solidFill>
                <a:latin typeface="Calibri"/>
              </a:rPr>
              <a:t>•  </a:t>
            </a:r>
            <a:r>
              <a:rPr sz="1050" b="0" i="0">
                <a:solidFill>
                  <a:srgbClr val="3A2E26"/>
                </a:solidFill>
                <a:latin typeface="Calibri"/>
              </a:rPr>
              <a:t>Public opinion survey (600 questionnaires)</a:t>
            </a:r>
          </a:p>
          <a:p>
            <a:pPr algn="l">
              <a:lnSpc>
                <a:spcPct val="115000"/>
              </a:lnSpc>
              <a:spcAft>
                <a:spcPts val="400"/>
              </a:spcAft>
            </a:pPr>
            <a:r>
              <a:rPr sz="1050" b="1" i="0">
                <a:solidFill>
                  <a:srgbClr val="B85042"/>
                </a:solidFill>
                <a:latin typeface="Calibri"/>
              </a:rPr>
              <a:t>•  </a:t>
            </a:r>
            <a:r>
              <a:rPr sz="1050" b="0" i="0">
                <a:solidFill>
                  <a:srgbClr val="3A2E26"/>
                </a:solidFill>
                <a:latin typeface="Calibri"/>
              </a:rPr>
              <a:t>Cartographic study</a:t>
            </a:r>
          </a:p>
        </p:txBody>
      </p:sp>
      <p:sp>
        <p:nvSpPr>
          <p:cNvPr id="19" name="TextBox 18"/>
          <p:cNvSpPr txBox="1"/>
          <p:nvPr/>
        </p:nvSpPr>
        <p:spPr>
          <a:xfrm>
            <a:off x="640080" y="3886200"/>
            <a:ext cx="3429000" cy="274320"/>
          </a:xfrm>
          <a:prstGeom prst="rect">
            <a:avLst/>
          </a:prstGeom>
          <a:noFill/>
        </p:spPr>
        <p:txBody>
          <a:bodyPr wrap="square" lIns="0" rIns="0" tIns="0" bIns="0" anchor="t">
            <a:spAutoFit/>
          </a:bodyPr>
          <a:lstStyle/>
          <a:p>
            <a:pPr algn="ctr">
              <a:lnSpc>
                <a:spcPct val="115000"/>
              </a:lnSpc>
            </a:pPr>
            <a:r>
              <a:rPr sz="1150" b="1" i="0">
                <a:solidFill>
                  <a:srgbClr val="B85042"/>
                </a:solidFill>
                <a:latin typeface="Calibri"/>
              </a:rPr>
              <a:t>600,000 MXN  ·  2 months</a:t>
            </a:r>
          </a:p>
        </p:txBody>
      </p:sp>
      <p:sp>
        <p:nvSpPr>
          <p:cNvPr id="20" name="Rectangle 19"/>
          <p:cNvSpPr/>
          <p:nvPr/>
        </p:nvSpPr>
        <p:spPr>
          <a:xfrm>
            <a:off x="4270248" y="2423160"/>
            <a:ext cx="3703320" cy="1828800"/>
          </a:xfrm>
          <a:prstGeom prst="rect">
            <a:avLst/>
          </a:prstGeom>
          <a:solidFill>
            <a:srgbClr val="FAF4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453128" y="2606040"/>
            <a:ext cx="640080" cy="640080"/>
          </a:xfrm>
          <a:prstGeom prst="rect">
            <a:avLst/>
          </a:prstGeom>
          <a:solidFill>
            <a:srgbClr val="B850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453128" y="2606040"/>
            <a:ext cx="640080" cy="640080"/>
          </a:xfrm>
          <a:prstGeom prst="rect">
            <a:avLst/>
          </a:prstGeom>
          <a:noFill/>
        </p:spPr>
        <p:txBody>
          <a:bodyPr wrap="square" lIns="0" rIns="0" tIns="0" bIns="0" anchor="ctr">
            <a:spAutoFit/>
          </a:bodyPr>
          <a:lstStyle/>
          <a:p>
            <a:pPr algn="ctr">
              <a:lnSpc>
                <a:spcPct val="115000"/>
              </a:lnSpc>
            </a:pPr>
            <a:r>
              <a:rPr sz="2200" b="1" i="0">
                <a:solidFill>
                  <a:srgbClr val="FBF6E9"/>
                </a:solidFill>
                <a:latin typeface="Lora"/>
              </a:rPr>
              <a:t>II</a:t>
            </a:r>
          </a:p>
        </p:txBody>
      </p:sp>
      <p:sp>
        <p:nvSpPr>
          <p:cNvPr id="23" name="TextBox 22"/>
          <p:cNvSpPr txBox="1"/>
          <p:nvPr/>
        </p:nvSpPr>
        <p:spPr>
          <a:xfrm>
            <a:off x="5230368" y="2587752"/>
            <a:ext cx="2651760" cy="365760"/>
          </a:xfrm>
          <a:prstGeom prst="rect">
            <a:avLst/>
          </a:prstGeom>
          <a:noFill/>
        </p:spPr>
        <p:txBody>
          <a:bodyPr wrap="square" lIns="0" rIns="0" tIns="0" bIns="0" anchor="t">
            <a:spAutoFit/>
          </a:bodyPr>
          <a:lstStyle/>
          <a:p>
            <a:pPr algn="l">
              <a:lnSpc>
                <a:spcPct val="110000"/>
              </a:lnSpc>
            </a:pPr>
            <a:r>
              <a:rPr sz="1400" b="1" i="0">
                <a:solidFill>
                  <a:srgbClr val="3A2E26"/>
                </a:solidFill>
                <a:latin typeface="Lora"/>
              </a:rPr>
              <a:t>Stage II — Plebiscite</a:t>
            </a:r>
          </a:p>
        </p:txBody>
      </p:sp>
      <p:sp>
        <p:nvSpPr>
          <p:cNvPr id="24" name="TextBox 23"/>
          <p:cNvSpPr txBox="1"/>
          <p:nvPr/>
        </p:nvSpPr>
        <p:spPr>
          <a:xfrm>
            <a:off x="5230368" y="2971800"/>
            <a:ext cx="2651760" cy="960120"/>
          </a:xfrm>
          <a:prstGeom prst="rect">
            <a:avLst/>
          </a:prstGeom>
          <a:noFill/>
        </p:spPr>
        <p:txBody>
          <a:bodyPr wrap="square" lIns="0" rIns="0" tIns="0" bIns="0">
            <a:spAutoFit/>
          </a:bodyPr>
          <a:lstStyle/>
          <a:p>
            <a:pPr algn="l">
              <a:lnSpc>
                <a:spcPct val="115000"/>
              </a:lnSpc>
              <a:spcAft>
                <a:spcPts val="400"/>
              </a:spcAft>
            </a:pPr>
            <a:r>
              <a:rPr sz="1050" b="1" i="0">
                <a:solidFill>
                  <a:srgbClr val="B85042"/>
                </a:solidFill>
                <a:latin typeface="Calibri"/>
              </a:rPr>
              <a:t>•  </a:t>
            </a:r>
            <a:r>
              <a:rPr sz="1050" b="0" i="0">
                <a:solidFill>
                  <a:srgbClr val="3A2E26"/>
                </a:solidFill>
                <a:latin typeface="Calibri"/>
              </a:rPr>
              <a:t>Information campaign</a:t>
            </a:r>
          </a:p>
          <a:p>
            <a:pPr algn="l">
              <a:lnSpc>
                <a:spcPct val="115000"/>
              </a:lnSpc>
              <a:spcAft>
                <a:spcPts val="400"/>
              </a:spcAft>
            </a:pPr>
            <a:r>
              <a:rPr sz="1050" b="1" i="0">
                <a:solidFill>
                  <a:srgbClr val="B85042"/>
                </a:solidFill>
                <a:latin typeface="Calibri"/>
              </a:rPr>
              <a:t>•  </a:t>
            </a:r>
            <a:r>
              <a:rPr sz="1050" b="0" i="0">
                <a:solidFill>
                  <a:srgbClr val="3A2E26"/>
                </a:solidFill>
                <a:latin typeface="Calibri"/>
              </a:rPr>
              <a:t>Signature collection (3,500+)</a:t>
            </a:r>
          </a:p>
          <a:p>
            <a:pPr algn="l">
              <a:lnSpc>
                <a:spcPct val="115000"/>
              </a:lnSpc>
              <a:spcAft>
                <a:spcPts val="400"/>
              </a:spcAft>
            </a:pPr>
            <a:r>
              <a:rPr sz="1050" b="1" i="0">
                <a:solidFill>
                  <a:srgbClr val="B85042"/>
                </a:solidFill>
                <a:latin typeface="Calibri"/>
              </a:rPr>
              <a:t>•  </a:t>
            </a:r>
            <a:r>
              <a:rPr sz="1050" b="0" i="0">
                <a:solidFill>
                  <a:srgbClr val="3A2E26"/>
                </a:solidFill>
                <a:latin typeface="Calibri"/>
              </a:rPr>
              <a:t>Community plebiscite</a:t>
            </a:r>
          </a:p>
        </p:txBody>
      </p:sp>
      <p:sp>
        <p:nvSpPr>
          <p:cNvPr id="25" name="TextBox 24"/>
          <p:cNvSpPr txBox="1"/>
          <p:nvPr/>
        </p:nvSpPr>
        <p:spPr>
          <a:xfrm>
            <a:off x="4453128" y="3886200"/>
            <a:ext cx="3429000" cy="274320"/>
          </a:xfrm>
          <a:prstGeom prst="rect">
            <a:avLst/>
          </a:prstGeom>
          <a:noFill/>
        </p:spPr>
        <p:txBody>
          <a:bodyPr wrap="square" lIns="0" rIns="0" tIns="0" bIns="0" anchor="t">
            <a:spAutoFit/>
          </a:bodyPr>
          <a:lstStyle/>
          <a:p>
            <a:pPr algn="ctr">
              <a:lnSpc>
                <a:spcPct val="115000"/>
              </a:lnSpc>
            </a:pPr>
            <a:r>
              <a:rPr sz="1150" b="1" i="0">
                <a:solidFill>
                  <a:srgbClr val="B85042"/>
                </a:solidFill>
                <a:latin typeface="Calibri"/>
              </a:rPr>
              <a:t>5,000,000 MXN  ·  6 months</a:t>
            </a:r>
          </a:p>
        </p:txBody>
      </p:sp>
      <p:sp>
        <p:nvSpPr>
          <p:cNvPr id="26" name="Rectangle 25"/>
          <p:cNvSpPr/>
          <p:nvPr/>
        </p:nvSpPr>
        <p:spPr>
          <a:xfrm>
            <a:off x="8083296" y="2423160"/>
            <a:ext cx="3703320" cy="1828800"/>
          </a:xfrm>
          <a:prstGeom prst="rect">
            <a:avLst/>
          </a:prstGeom>
          <a:solidFill>
            <a:srgbClr val="FAF4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266176" y="2606040"/>
            <a:ext cx="640080" cy="640080"/>
          </a:xfrm>
          <a:prstGeom prst="rect">
            <a:avLst/>
          </a:prstGeom>
          <a:solidFill>
            <a:srgbClr val="B850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66176" y="2606040"/>
            <a:ext cx="640080" cy="640080"/>
          </a:xfrm>
          <a:prstGeom prst="rect">
            <a:avLst/>
          </a:prstGeom>
          <a:noFill/>
        </p:spPr>
        <p:txBody>
          <a:bodyPr wrap="square" lIns="0" rIns="0" tIns="0" bIns="0" anchor="ctr">
            <a:spAutoFit/>
          </a:bodyPr>
          <a:lstStyle/>
          <a:p>
            <a:pPr algn="ctr">
              <a:lnSpc>
                <a:spcPct val="115000"/>
              </a:lnSpc>
            </a:pPr>
            <a:r>
              <a:rPr sz="2200" b="1" i="0">
                <a:solidFill>
                  <a:srgbClr val="FBF6E9"/>
                </a:solidFill>
                <a:latin typeface="Lora"/>
              </a:rPr>
              <a:t>III</a:t>
            </a:r>
          </a:p>
        </p:txBody>
      </p:sp>
      <p:sp>
        <p:nvSpPr>
          <p:cNvPr id="29" name="TextBox 28"/>
          <p:cNvSpPr txBox="1"/>
          <p:nvPr/>
        </p:nvSpPr>
        <p:spPr>
          <a:xfrm>
            <a:off x="9043416" y="2587752"/>
            <a:ext cx="2651760" cy="365760"/>
          </a:xfrm>
          <a:prstGeom prst="rect">
            <a:avLst/>
          </a:prstGeom>
          <a:noFill/>
        </p:spPr>
        <p:txBody>
          <a:bodyPr wrap="square" lIns="0" rIns="0" tIns="0" bIns="0" anchor="t">
            <a:spAutoFit/>
          </a:bodyPr>
          <a:lstStyle/>
          <a:p>
            <a:pPr algn="l">
              <a:lnSpc>
                <a:spcPct val="110000"/>
              </a:lnSpc>
            </a:pPr>
            <a:r>
              <a:rPr sz="1400" b="1" i="0">
                <a:solidFill>
                  <a:srgbClr val="3A2E26"/>
                </a:solidFill>
                <a:latin typeface="Lora"/>
              </a:rPr>
              <a:t>Stage III — Approval</a:t>
            </a:r>
          </a:p>
        </p:txBody>
      </p:sp>
      <p:sp>
        <p:nvSpPr>
          <p:cNvPr id="30" name="TextBox 29"/>
          <p:cNvSpPr txBox="1"/>
          <p:nvPr/>
        </p:nvSpPr>
        <p:spPr>
          <a:xfrm>
            <a:off x="9043416" y="2971800"/>
            <a:ext cx="2651760" cy="960120"/>
          </a:xfrm>
          <a:prstGeom prst="rect">
            <a:avLst/>
          </a:prstGeom>
          <a:noFill/>
        </p:spPr>
        <p:txBody>
          <a:bodyPr wrap="square" lIns="0" rIns="0" tIns="0" bIns="0">
            <a:spAutoFit/>
          </a:bodyPr>
          <a:lstStyle/>
          <a:p>
            <a:pPr algn="l">
              <a:lnSpc>
                <a:spcPct val="115000"/>
              </a:lnSpc>
              <a:spcAft>
                <a:spcPts val="400"/>
              </a:spcAft>
            </a:pPr>
            <a:r>
              <a:rPr sz="1050" b="1" i="0">
                <a:solidFill>
                  <a:srgbClr val="B85042"/>
                </a:solidFill>
                <a:latin typeface="Calibri"/>
              </a:rPr>
              <a:t>•  </a:t>
            </a:r>
            <a:r>
              <a:rPr sz="1050" b="0" i="0">
                <a:solidFill>
                  <a:srgbClr val="3A2E26"/>
                </a:solidFill>
                <a:latin typeface="Calibri"/>
              </a:rPr>
              <a:t>Legislative lobbying</a:t>
            </a:r>
          </a:p>
          <a:p>
            <a:pPr algn="l">
              <a:lnSpc>
                <a:spcPct val="115000"/>
              </a:lnSpc>
              <a:spcAft>
                <a:spcPts val="400"/>
              </a:spcAft>
            </a:pPr>
            <a:r>
              <a:rPr sz="1050" b="1" i="0">
                <a:solidFill>
                  <a:srgbClr val="B85042"/>
                </a:solidFill>
                <a:latin typeface="Calibri"/>
              </a:rPr>
              <a:t>•  </a:t>
            </a:r>
            <a:r>
              <a:rPr sz="1050" b="0" i="0">
                <a:solidFill>
                  <a:srgbClr val="3A2E26"/>
                </a:solidFill>
                <a:latin typeface="Calibri"/>
              </a:rPr>
              <a:t>Transition program</a:t>
            </a:r>
          </a:p>
          <a:p>
            <a:pPr algn="l">
              <a:lnSpc>
                <a:spcPct val="115000"/>
              </a:lnSpc>
              <a:spcAft>
                <a:spcPts val="400"/>
              </a:spcAft>
            </a:pPr>
            <a:r>
              <a:rPr sz="1050" b="1" i="0">
                <a:solidFill>
                  <a:srgbClr val="B85042"/>
                </a:solidFill>
                <a:latin typeface="Calibri"/>
              </a:rPr>
              <a:t>•  </a:t>
            </a:r>
            <a:r>
              <a:rPr sz="1050" b="0" i="0">
                <a:solidFill>
                  <a:srgbClr val="3A2E26"/>
                </a:solidFill>
                <a:latin typeface="Calibri"/>
              </a:rPr>
              <a:t>Municipal Development Plan</a:t>
            </a:r>
          </a:p>
        </p:txBody>
      </p:sp>
      <p:sp>
        <p:nvSpPr>
          <p:cNvPr id="31" name="TextBox 30"/>
          <p:cNvSpPr txBox="1"/>
          <p:nvPr/>
        </p:nvSpPr>
        <p:spPr>
          <a:xfrm>
            <a:off x="8266176" y="3886200"/>
            <a:ext cx="3429000" cy="274320"/>
          </a:xfrm>
          <a:prstGeom prst="rect">
            <a:avLst/>
          </a:prstGeom>
          <a:noFill/>
        </p:spPr>
        <p:txBody>
          <a:bodyPr wrap="square" lIns="0" rIns="0" tIns="0" bIns="0" anchor="t">
            <a:spAutoFit/>
          </a:bodyPr>
          <a:lstStyle/>
          <a:p>
            <a:pPr algn="ctr">
              <a:lnSpc>
                <a:spcPct val="115000"/>
              </a:lnSpc>
            </a:pPr>
            <a:r>
              <a:rPr sz="1150" b="1" i="0">
                <a:solidFill>
                  <a:srgbClr val="B85042"/>
                </a:solidFill>
                <a:latin typeface="Calibri"/>
              </a:rPr>
              <a:t>2.7M + 1–3M lobbying  ·  12 months</a:t>
            </a:r>
          </a:p>
        </p:txBody>
      </p:sp>
      <p:sp>
        <p:nvSpPr>
          <p:cNvPr id="32" name="TextBox 31"/>
          <p:cNvSpPr txBox="1"/>
          <p:nvPr/>
        </p:nvSpPr>
        <p:spPr>
          <a:xfrm>
            <a:off x="457200" y="4343400"/>
            <a:ext cx="11247120" cy="365760"/>
          </a:xfrm>
          <a:prstGeom prst="rect">
            <a:avLst/>
          </a:prstGeom>
          <a:noFill/>
        </p:spPr>
        <p:txBody>
          <a:bodyPr wrap="square" lIns="0" rIns="0" tIns="0" bIns="0" anchor="t">
            <a:spAutoFit/>
          </a:bodyPr>
          <a:lstStyle/>
          <a:p>
            <a:pPr algn="l">
              <a:lnSpc>
                <a:spcPct val="115000"/>
              </a:lnSpc>
            </a:pPr>
            <a:r>
              <a:rPr sz="1700" b="1" i="0">
                <a:solidFill>
                  <a:srgbClr val="3A2E26"/>
                </a:solidFill>
                <a:latin typeface="Lora"/>
              </a:rPr>
              <a:t>Three public commitments</a:t>
            </a:r>
          </a:p>
        </p:txBody>
      </p:sp>
      <p:sp>
        <p:nvSpPr>
          <p:cNvPr id="33" name="Rectangle 32"/>
          <p:cNvSpPr/>
          <p:nvPr/>
        </p:nvSpPr>
        <p:spPr>
          <a:xfrm>
            <a:off x="457200" y="4846320"/>
            <a:ext cx="3703320" cy="1554480"/>
          </a:xfrm>
          <a:prstGeom prst="rect">
            <a:avLst/>
          </a:prstGeom>
          <a:solidFill>
            <a:srgbClr val="3A2E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457200" y="4846320"/>
            <a:ext cx="91440" cy="1554480"/>
          </a:xfrm>
          <a:prstGeom prst="rect">
            <a:avLst/>
          </a:prstGeom>
          <a:solidFill>
            <a:srgbClr val="B850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85800" y="5010912"/>
            <a:ext cx="3383280" cy="365760"/>
          </a:xfrm>
          <a:prstGeom prst="rect">
            <a:avLst/>
          </a:prstGeom>
          <a:noFill/>
        </p:spPr>
        <p:txBody>
          <a:bodyPr wrap="square" lIns="0" rIns="0" tIns="0" bIns="0" anchor="t">
            <a:spAutoFit/>
          </a:bodyPr>
          <a:lstStyle/>
          <a:p>
            <a:pPr algn="l">
              <a:lnSpc>
                <a:spcPct val="115000"/>
              </a:lnSpc>
            </a:pPr>
            <a:r>
              <a:rPr sz="1500" b="1" i="0">
                <a:solidFill>
                  <a:srgbClr val="FBF6E9"/>
                </a:solidFill>
                <a:latin typeface="Lora"/>
              </a:rPr>
              <a:t>Stage-gated funding</a:t>
            </a:r>
          </a:p>
        </p:txBody>
      </p:sp>
      <p:sp>
        <p:nvSpPr>
          <p:cNvPr id="36" name="TextBox 35"/>
          <p:cNvSpPr txBox="1"/>
          <p:nvPr/>
        </p:nvSpPr>
        <p:spPr>
          <a:xfrm>
            <a:off x="685800" y="5440680"/>
            <a:ext cx="3383280" cy="914400"/>
          </a:xfrm>
          <a:prstGeom prst="rect">
            <a:avLst/>
          </a:prstGeom>
          <a:noFill/>
        </p:spPr>
        <p:txBody>
          <a:bodyPr wrap="square" lIns="0" rIns="0" tIns="0" bIns="0" anchor="t">
            <a:spAutoFit/>
          </a:bodyPr>
          <a:lstStyle/>
          <a:p>
            <a:pPr algn="l">
              <a:lnSpc>
                <a:spcPct val="135000"/>
              </a:lnSpc>
            </a:pPr>
            <a:r>
              <a:rPr sz="1100" b="0" i="0">
                <a:solidFill>
                  <a:srgbClr val="F4ECD9"/>
                </a:solidFill>
                <a:latin typeface="Calibri"/>
              </a:rPr>
              <a:t>We don't raise the next stage until the current stage's deliverables are public. If the community decides not to continue after Stage I, we stop.</a:t>
            </a:r>
          </a:p>
        </p:txBody>
      </p:sp>
      <p:sp>
        <p:nvSpPr>
          <p:cNvPr id="37" name="Rectangle 36"/>
          <p:cNvSpPr/>
          <p:nvPr/>
        </p:nvSpPr>
        <p:spPr>
          <a:xfrm>
            <a:off x="4270248" y="4846320"/>
            <a:ext cx="3703320" cy="1554480"/>
          </a:xfrm>
          <a:prstGeom prst="rect">
            <a:avLst/>
          </a:prstGeom>
          <a:solidFill>
            <a:srgbClr val="3A2E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4270248" y="4846320"/>
            <a:ext cx="91440" cy="1554480"/>
          </a:xfrm>
          <a:prstGeom prst="rect">
            <a:avLst/>
          </a:prstGeom>
          <a:solidFill>
            <a:srgbClr val="B850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498848" y="5010912"/>
            <a:ext cx="3383280" cy="365760"/>
          </a:xfrm>
          <a:prstGeom prst="rect">
            <a:avLst/>
          </a:prstGeom>
          <a:noFill/>
        </p:spPr>
        <p:txBody>
          <a:bodyPr wrap="square" lIns="0" rIns="0" tIns="0" bIns="0" anchor="t">
            <a:spAutoFit/>
          </a:bodyPr>
          <a:lstStyle/>
          <a:p>
            <a:pPr algn="l">
              <a:lnSpc>
                <a:spcPct val="115000"/>
              </a:lnSpc>
            </a:pPr>
            <a:r>
              <a:rPr sz="1500" b="1" i="0">
                <a:solidFill>
                  <a:srgbClr val="FBF6E9"/>
                </a:solidFill>
                <a:latin typeface="Lora"/>
              </a:rPr>
              <a:t>Open books</a:t>
            </a:r>
          </a:p>
        </p:txBody>
      </p:sp>
      <p:sp>
        <p:nvSpPr>
          <p:cNvPr id="40" name="TextBox 39"/>
          <p:cNvSpPr txBox="1"/>
          <p:nvPr/>
        </p:nvSpPr>
        <p:spPr>
          <a:xfrm>
            <a:off x="4498848" y="5440680"/>
            <a:ext cx="3383280" cy="914400"/>
          </a:xfrm>
          <a:prstGeom prst="rect">
            <a:avLst/>
          </a:prstGeom>
          <a:noFill/>
        </p:spPr>
        <p:txBody>
          <a:bodyPr wrap="square" lIns="0" rIns="0" tIns="0" bIns="0" anchor="t">
            <a:spAutoFit/>
          </a:bodyPr>
          <a:lstStyle/>
          <a:p>
            <a:pPr algn="l">
              <a:lnSpc>
                <a:spcPct val="135000"/>
              </a:lnSpc>
            </a:pPr>
            <a:r>
              <a:rPr sz="1100" b="0" i="0">
                <a:solidFill>
                  <a:srgbClr val="F4ECD9"/>
                </a:solidFill>
                <a:latin typeface="Calibri"/>
              </a:rPr>
              <a:t>Public quarterly financial report. Independent audit at the end of each stage.</a:t>
            </a:r>
          </a:p>
        </p:txBody>
      </p:sp>
      <p:sp>
        <p:nvSpPr>
          <p:cNvPr id="41" name="Rectangle 40"/>
          <p:cNvSpPr/>
          <p:nvPr/>
        </p:nvSpPr>
        <p:spPr>
          <a:xfrm>
            <a:off x="8083296" y="4846320"/>
            <a:ext cx="3703320" cy="1554480"/>
          </a:xfrm>
          <a:prstGeom prst="rect">
            <a:avLst/>
          </a:prstGeom>
          <a:solidFill>
            <a:srgbClr val="3A2E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8083296" y="4846320"/>
            <a:ext cx="91440" cy="1554480"/>
          </a:xfrm>
          <a:prstGeom prst="rect">
            <a:avLst/>
          </a:prstGeom>
          <a:solidFill>
            <a:srgbClr val="B850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311896" y="5010912"/>
            <a:ext cx="3383280" cy="365760"/>
          </a:xfrm>
          <a:prstGeom prst="rect">
            <a:avLst/>
          </a:prstGeom>
          <a:noFill/>
        </p:spPr>
        <p:txBody>
          <a:bodyPr wrap="square" lIns="0" rIns="0" tIns="0" bIns="0" anchor="t">
            <a:spAutoFit/>
          </a:bodyPr>
          <a:lstStyle/>
          <a:p>
            <a:pPr algn="l">
              <a:lnSpc>
                <a:spcPct val="115000"/>
              </a:lnSpc>
            </a:pPr>
            <a:r>
              <a:rPr sz="1500" b="1" i="0">
                <a:solidFill>
                  <a:srgbClr val="FBF6E9"/>
                </a:solidFill>
                <a:latin typeface="Lora"/>
              </a:rPr>
              <a:t>Community veto</a:t>
            </a:r>
          </a:p>
        </p:txBody>
      </p:sp>
      <p:sp>
        <p:nvSpPr>
          <p:cNvPr id="44" name="TextBox 43"/>
          <p:cNvSpPr txBox="1"/>
          <p:nvPr/>
        </p:nvSpPr>
        <p:spPr>
          <a:xfrm>
            <a:off x="8311896" y="5440680"/>
            <a:ext cx="3383280" cy="914400"/>
          </a:xfrm>
          <a:prstGeom prst="rect">
            <a:avLst/>
          </a:prstGeom>
          <a:noFill/>
        </p:spPr>
        <p:txBody>
          <a:bodyPr wrap="square" lIns="0" rIns="0" tIns="0" bIns="0" anchor="t">
            <a:spAutoFit/>
          </a:bodyPr>
          <a:lstStyle/>
          <a:p>
            <a:pPr algn="l">
              <a:lnSpc>
                <a:spcPct val="135000"/>
              </a:lnSpc>
            </a:pPr>
            <a:r>
              <a:rPr sz="1100" b="0" i="0">
                <a:solidFill>
                  <a:srgbClr val="F4ECD9"/>
                </a:solidFill>
                <a:latin typeface="Calibri"/>
              </a:rPr>
              <a:t>If community sentiment shifts, the Founding Committee pauses and consults publicly before proceeding.</a:t>
            </a:r>
          </a:p>
        </p:txBody>
      </p:sp>
      <p:sp>
        <p:nvSpPr>
          <p:cNvPr id="45" name="TextBox 44"/>
          <p:cNvSpPr txBox="1"/>
          <p:nvPr/>
        </p:nvSpPr>
        <p:spPr>
          <a:xfrm>
            <a:off x="457200" y="6565392"/>
            <a:ext cx="5486400" cy="228600"/>
          </a:xfrm>
          <a:prstGeom prst="rect">
            <a:avLst/>
          </a:prstGeom>
          <a:noFill/>
        </p:spPr>
        <p:txBody>
          <a:bodyPr wrap="square" lIns="0" rIns="0" tIns="0" bIns="0" anchor="t">
            <a:spAutoFit/>
          </a:bodyPr>
          <a:lstStyle/>
          <a:p>
            <a:pPr algn="l">
              <a:lnSpc>
                <a:spcPct val="115000"/>
              </a:lnSpc>
            </a:pPr>
            <a:r>
              <a:rPr sz="900" b="1" i="0">
                <a:solidFill>
                  <a:srgbClr val="8A7A66"/>
                </a:solidFill>
                <a:latin typeface="Calibri"/>
              </a:rPr>
              <a:t>PARA TODOS</a:t>
            </a:r>
          </a:p>
        </p:txBody>
      </p:sp>
      <p:sp>
        <p:nvSpPr>
          <p:cNvPr id="46" name="TextBox 45"/>
          <p:cNvSpPr txBox="1"/>
          <p:nvPr/>
        </p:nvSpPr>
        <p:spPr>
          <a:xfrm>
            <a:off x="10607040" y="6565392"/>
            <a:ext cx="1188720" cy="228600"/>
          </a:xfrm>
          <a:prstGeom prst="rect">
            <a:avLst/>
          </a:prstGeom>
          <a:noFill/>
        </p:spPr>
        <p:txBody>
          <a:bodyPr wrap="square" lIns="0" rIns="0" tIns="0" bIns="0" anchor="t">
            <a:spAutoFit/>
          </a:bodyPr>
          <a:lstStyle/>
          <a:p>
            <a:pPr algn="r">
              <a:lnSpc>
                <a:spcPct val="115000"/>
              </a:lnSpc>
            </a:pPr>
            <a:r>
              <a:rPr sz="900" b="0" i="0">
                <a:solidFill>
                  <a:srgbClr val="8A7A66"/>
                </a:solidFill>
                <a:latin typeface="Calibri"/>
              </a:rPr>
              <a:t>8 / 14</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BF6E9"/>
        </a:solidFill>
        <a:effectLst/>
      </p:bgPr>
    </p:bg>
    <p:spTree>
      <p:nvGrpSpPr>
        <p:cNvPr id="1" name=""/>
        <p:cNvGrpSpPr/>
        <p:nvPr/>
      </p:nvGrpSpPr>
      <p:grpSpPr/>
      <p:sp>
        <p:nvSpPr>
          <p:cNvPr id="2" name="TextBox 1"/>
          <p:cNvSpPr txBox="1"/>
          <p:nvPr/>
        </p:nvSpPr>
        <p:spPr>
          <a:xfrm>
            <a:off x="411480" y="137160"/>
            <a:ext cx="2286000" cy="1005840"/>
          </a:xfrm>
          <a:prstGeom prst="rect">
            <a:avLst/>
          </a:prstGeom>
          <a:noFill/>
        </p:spPr>
        <p:txBody>
          <a:bodyPr wrap="square" lIns="0" rIns="0" tIns="0" bIns="0" anchor="t">
            <a:spAutoFit/>
          </a:bodyPr>
          <a:lstStyle/>
          <a:p>
            <a:pPr algn="l">
              <a:lnSpc>
                <a:spcPct val="95000"/>
              </a:lnSpc>
            </a:pPr>
            <a:r>
              <a:rPr sz="7200" b="1" i="0">
                <a:solidFill>
                  <a:srgbClr val="E6C8C0"/>
                </a:solidFill>
                <a:latin typeface="Lora"/>
              </a:rPr>
              <a:t>08</a:t>
            </a:r>
          </a:p>
        </p:txBody>
      </p:sp>
      <p:sp>
        <p:nvSpPr>
          <p:cNvPr id="3" name="TextBox 2"/>
          <p:cNvSpPr txBox="1"/>
          <p:nvPr/>
        </p:nvSpPr>
        <p:spPr>
          <a:xfrm>
            <a:off x="457200" y="457200"/>
            <a:ext cx="7315200" cy="365760"/>
          </a:xfrm>
          <a:prstGeom prst="rect">
            <a:avLst/>
          </a:prstGeom>
          <a:noFill/>
        </p:spPr>
        <p:txBody>
          <a:bodyPr wrap="square" lIns="0" rIns="0" tIns="0" bIns="0" anchor="t">
            <a:spAutoFit/>
          </a:bodyPr>
          <a:lstStyle/>
          <a:p>
            <a:pPr algn="l">
              <a:lnSpc>
                <a:spcPct val="115000"/>
              </a:lnSpc>
            </a:pPr>
            <a:r>
              <a:rPr sz="1100" b="1" i="0">
                <a:solidFill>
                  <a:srgbClr val="B85042"/>
                </a:solidFill>
                <a:latin typeface="Calibri"/>
              </a:rPr>
              <a:t>WHO'S BEHIND THIS</a:t>
            </a:r>
          </a:p>
        </p:txBody>
      </p:sp>
      <p:sp>
        <p:nvSpPr>
          <p:cNvPr id="4" name="TextBox 3"/>
          <p:cNvSpPr txBox="1"/>
          <p:nvPr/>
        </p:nvSpPr>
        <p:spPr>
          <a:xfrm>
            <a:off x="457200" y="868680"/>
            <a:ext cx="11247120" cy="914400"/>
          </a:xfrm>
          <a:prstGeom prst="rect">
            <a:avLst/>
          </a:prstGeom>
          <a:noFill/>
        </p:spPr>
        <p:txBody>
          <a:bodyPr wrap="square" lIns="0" rIns="0" tIns="0" bIns="0" anchor="t">
            <a:spAutoFit/>
          </a:bodyPr>
          <a:lstStyle/>
          <a:p>
            <a:pPr algn="l">
              <a:lnSpc>
                <a:spcPct val="105000"/>
              </a:lnSpc>
            </a:pPr>
            <a:r>
              <a:rPr sz="3600" b="1" i="0">
                <a:solidFill>
                  <a:srgbClr val="3A2E26"/>
                </a:solidFill>
                <a:latin typeface="Lora"/>
              </a:rPr>
              <a:t>This conversation is convened by your neighbors</a:t>
            </a:r>
          </a:p>
        </p:txBody>
      </p:sp>
      <p:cxnSp>
        <p:nvCxnSpPr>
          <p:cNvPr id="5" name="Connector 4"/>
          <p:cNvCxnSpPr/>
          <p:nvPr/>
        </p:nvCxnSpPr>
        <p:spPr>
          <a:xfrm flipV="1">
            <a:off x="457200" y="1860803"/>
            <a:ext cx="160020" cy="27432"/>
          </a:xfrm>
          <a:prstGeom prst="line">
            <a:avLst/>
          </a:prstGeom>
          <a:ln w="17780">
            <a:solidFill>
              <a:srgbClr val="6D8A6E"/>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617220" y="1860803"/>
            <a:ext cx="160020" cy="27432"/>
          </a:xfrm>
          <a:prstGeom prst="line">
            <a:avLst/>
          </a:prstGeom>
          <a:ln w="17780">
            <a:solidFill>
              <a:srgbClr val="6D8A6E"/>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V="1">
            <a:off x="777240" y="1860803"/>
            <a:ext cx="160019" cy="27432"/>
          </a:xfrm>
          <a:prstGeom prst="line">
            <a:avLst/>
          </a:prstGeom>
          <a:ln w="17780">
            <a:solidFill>
              <a:srgbClr val="6D8A6E"/>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937259" y="1860803"/>
            <a:ext cx="160021" cy="27432"/>
          </a:xfrm>
          <a:prstGeom prst="line">
            <a:avLst/>
          </a:prstGeom>
          <a:ln w="17780">
            <a:solidFill>
              <a:srgbClr val="6D8A6E"/>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V="1">
            <a:off x="1097280" y="1860803"/>
            <a:ext cx="160020" cy="27432"/>
          </a:xfrm>
          <a:prstGeom prst="line">
            <a:avLst/>
          </a:prstGeom>
          <a:ln w="17780">
            <a:solidFill>
              <a:srgbClr val="6D8A6E"/>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1257300" y="1860803"/>
            <a:ext cx="160019" cy="27432"/>
          </a:xfrm>
          <a:prstGeom prst="line">
            <a:avLst/>
          </a:prstGeom>
          <a:ln w="17780">
            <a:solidFill>
              <a:srgbClr val="6D8A6E"/>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V="1">
            <a:off x="1417319" y="1860803"/>
            <a:ext cx="160020" cy="27432"/>
          </a:xfrm>
          <a:prstGeom prst="line">
            <a:avLst/>
          </a:prstGeom>
          <a:ln w="17780">
            <a:solidFill>
              <a:srgbClr val="6D8A6E"/>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1577339" y="1860803"/>
            <a:ext cx="160021" cy="27432"/>
          </a:xfrm>
          <a:prstGeom prst="line">
            <a:avLst/>
          </a:prstGeom>
          <a:ln w="17780">
            <a:solidFill>
              <a:srgbClr val="6D8A6E"/>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457200" y="2011680"/>
            <a:ext cx="11247120" cy="822960"/>
          </a:xfrm>
          <a:prstGeom prst="rect">
            <a:avLst/>
          </a:prstGeom>
          <a:noFill/>
        </p:spPr>
        <p:txBody>
          <a:bodyPr wrap="square" lIns="0" rIns="0" tIns="0" bIns="0" anchor="t">
            <a:spAutoFit/>
          </a:bodyPr>
          <a:lstStyle/>
          <a:p>
            <a:pPr algn="l">
              <a:lnSpc>
                <a:spcPct val="140000"/>
              </a:lnSpc>
            </a:pPr>
            <a:r>
              <a:rPr sz="1300" b="0" i="0">
                <a:solidFill>
                  <a:srgbClr val="3A2E26"/>
                </a:solidFill>
                <a:latin typeface="Calibri"/>
              </a:rPr>
              <a:t>This conversation is convened by TODOS PARA TODOS A.C., a Mexican civil association whose mission is to improve quality of life in our communities. The association is registered, governed by a community board, and accountable to its mission.</a:t>
            </a:r>
          </a:p>
        </p:txBody>
      </p:sp>
      <p:sp>
        <p:nvSpPr>
          <p:cNvPr id="14" name="TextBox 13"/>
          <p:cNvSpPr txBox="1"/>
          <p:nvPr/>
        </p:nvSpPr>
        <p:spPr>
          <a:xfrm>
            <a:off x="457200" y="3200400"/>
            <a:ext cx="7315200" cy="365760"/>
          </a:xfrm>
          <a:prstGeom prst="rect">
            <a:avLst/>
          </a:prstGeom>
          <a:noFill/>
        </p:spPr>
        <p:txBody>
          <a:bodyPr wrap="square" lIns="0" rIns="0" tIns="0" bIns="0" anchor="t">
            <a:spAutoFit/>
          </a:bodyPr>
          <a:lstStyle/>
          <a:p>
            <a:pPr algn="l">
              <a:lnSpc>
                <a:spcPct val="115000"/>
              </a:lnSpc>
            </a:pPr>
            <a:r>
              <a:rPr sz="1200" b="1" i="0">
                <a:solidFill>
                  <a:srgbClr val="B85042"/>
                </a:solidFill>
                <a:latin typeface="Calibri"/>
              </a:rPr>
              <a:t>Initial Founding Committee</a:t>
            </a:r>
          </a:p>
        </p:txBody>
      </p:sp>
      <p:sp>
        <p:nvSpPr>
          <p:cNvPr id="15" name="Rectangle 14"/>
          <p:cNvSpPr/>
          <p:nvPr/>
        </p:nvSpPr>
        <p:spPr>
          <a:xfrm>
            <a:off x="457200" y="3611880"/>
            <a:ext cx="3749039" cy="1280160"/>
          </a:xfrm>
          <a:prstGeom prst="rect">
            <a:avLst/>
          </a:prstGeom>
          <a:solidFill>
            <a:srgbClr val="FAF4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85800" y="3840480"/>
            <a:ext cx="822960" cy="822960"/>
          </a:xfrm>
          <a:prstGeom prst="ellipse">
            <a:avLst/>
          </a:prstGeom>
          <a:solidFill>
            <a:srgbClr val="3A2E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85800" y="3858768"/>
            <a:ext cx="822960" cy="786384"/>
          </a:xfrm>
          <a:prstGeom prst="rect">
            <a:avLst/>
          </a:prstGeom>
          <a:noFill/>
        </p:spPr>
        <p:txBody>
          <a:bodyPr wrap="square" lIns="0" rIns="0" tIns="0" bIns="0" anchor="ctr">
            <a:spAutoFit/>
          </a:bodyPr>
          <a:lstStyle/>
          <a:p>
            <a:pPr algn="ctr">
              <a:lnSpc>
                <a:spcPct val="115000"/>
              </a:lnSpc>
            </a:pPr>
            <a:r>
              <a:rPr sz="2200" b="1" i="0">
                <a:solidFill>
                  <a:srgbClr val="FBF6E9"/>
                </a:solidFill>
                <a:latin typeface="Lora"/>
              </a:rPr>
              <a:t>ST</a:t>
            </a:r>
          </a:p>
        </p:txBody>
      </p:sp>
      <p:sp>
        <p:nvSpPr>
          <p:cNvPr id="18" name="TextBox 17"/>
          <p:cNvSpPr txBox="1"/>
          <p:nvPr/>
        </p:nvSpPr>
        <p:spPr>
          <a:xfrm>
            <a:off x="1600200" y="3886200"/>
            <a:ext cx="2468879" cy="365760"/>
          </a:xfrm>
          <a:prstGeom prst="rect">
            <a:avLst/>
          </a:prstGeom>
          <a:noFill/>
        </p:spPr>
        <p:txBody>
          <a:bodyPr wrap="square" lIns="0" rIns="0" tIns="0" bIns="0" anchor="t">
            <a:spAutoFit/>
          </a:bodyPr>
          <a:lstStyle/>
          <a:p>
            <a:pPr algn="l">
              <a:lnSpc>
                <a:spcPct val="115000"/>
              </a:lnSpc>
            </a:pPr>
            <a:r>
              <a:rPr sz="1500" b="1" i="0">
                <a:solidFill>
                  <a:srgbClr val="3A2E26"/>
                </a:solidFill>
                <a:latin typeface="Lora"/>
              </a:rPr>
              <a:t>Sarai Torres</a:t>
            </a:r>
          </a:p>
        </p:txBody>
      </p:sp>
      <p:sp>
        <p:nvSpPr>
          <p:cNvPr id="19" name="TextBox 18"/>
          <p:cNvSpPr txBox="1"/>
          <p:nvPr/>
        </p:nvSpPr>
        <p:spPr>
          <a:xfrm>
            <a:off x="1600200" y="4297680"/>
            <a:ext cx="2468879" cy="502920"/>
          </a:xfrm>
          <a:prstGeom prst="rect">
            <a:avLst/>
          </a:prstGeom>
          <a:noFill/>
        </p:spPr>
        <p:txBody>
          <a:bodyPr wrap="square" lIns="0" rIns="0" tIns="0" bIns="0" anchor="t">
            <a:spAutoFit/>
          </a:bodyPr>
          <a:lstStyle/>
          <a:p>
            <a:pPr algn="l">
              <a:lnSpc>
                <a:spcPct val="130000"/>
              </a:lnSpc>
            </a:pPr>
            <a:r>
              <a:rPr sz="1150" b="0" i="1">
                <a:solidFill>
                  <a:srgbClr val="3A2E26"/>
                </a:solidFill>
                <a:latin typeface="Calibri"/>
              </a:rPr>
              <a:t>resident and co-founder</a:t>
            </a:r>
          </a:p>
        </p:txBody>
      </p:sp>
      <p:sp>
        <p:nvSpPr>
          <p:cNvPr id="20" name="Rectangle 19"/>
          <p:cNvSpPr/>
          <p:nvPr/>
        </p:nvSpPr>
        <p:spPr>
          <a:xfrm>
            <a:off x="4315967" y="3611880"/>
            <a:ext cx="3749039" cy="1280160"/>
          </a:xfrm>
          <a:prstGeom prst="rect">
            <a:avLst/>
          </a:prstGeom>
          <a:solidFill>
            <a:srgbClr val="FAF4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4544567" y="3840480"/>
            <a:ext cx="822960" cy="822960"/>
          </a:xfrm>
          <a:prstGeom prst="ellipse">
            <a:avLst/>
          </a:prstGeom>
          <a:solidFill>
            <a:srgbClr val="3A2E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544567" y="3858768"/>
            <a:ext cx="822960" cy="786384"/>
          </a:xfrm>
          <a:prstGeom prst="rect">
            <a:avLst/>
          </a:prstGeom>
          <a:noFill/>
        </p:spPr>
        <p:txBody>
          <a:bodyPr wrap="square" lIns="0" rIns="0" tIns="0" bIns="0" anchor="ctr">
            <a:spAutoFit/>
          </a:bodyPr>
          <a:lstStyle/>
          <a:p>
            <a:pPr algn="ctr">
              <a:lnSpc>
                <a:spcPct val="115000"/>
              </a:lnSpc>
            </a:pPr>
            <a:r>
              <a:rPr sz="2200" b="1" i="0">
                <a:solidFill>
                  <a:srgbClr val="FBF6E9"/>
                </a:solidFill>
                <a:latin typeface="Lora"/>
              </a:rPr>
              <a:t>BM</a:t>
            </a:r>
          </a:p>
        </p:txBody>
      </p:sp>
      <p:sp>
        <p:nvSpPr>
          <p:cNvPr id="23" name="TextBox 22"/>
          <p:cNvSpPr txBox="1"/>
          <p:nvPr/>
        </p:nvSpPr>
        <p:spPr>
          <a:xfrm>
            <a:off x="5458967" y="3886200"/>
            <a:ext cx="2468879" cy="365760"/>
          </a:xfrm>
          <a:prstGeom prst="rect">
            <a:avLst/>
          </a:prstGeom>
          <a:noFill/>
        </p:spPr>
        <p:txBody>
          <a:bodyPr wrap="square" lIns="0" rIns="0" tIns="0" bIns="0" anchor="t">
            <a:spAutoFit/>
          </a:bodyPr>
          <a:lstStyle/>
          <a:p>
            <a:pPr algn="l">
              <a:lnSpc>
                <a:spcPct val="115000"/>
              </a:lnSpc>
            </a:pPr>
            <a:r>
              <a:rPr sz="1500" b="1" i="0">
                <a:solidFill>
                  <a:srgbClr val="3A2E26"/>
                </a:solidFill>
                <a:latin typeface="Lora"/>
              </a:rPr>
              <a:t>Barrett Masso</a:t>
            </a:r>
          </a:p>
        </p:txBody>
      </p:sp>
      <p:sp>
        <p:nvSpPr>
          <p:cNvPr id="24" name="TextBox 23"/>
          <p:cNvSpPr txBox="1"/>
          <p:nvPr/>
        </p:nvSpPr>
        <p:spPr>
          <a:xfrm>
            <a:off x="5458967" y="4297680"/>
            <a:ext cx="2468879" cy="502920"/>
          </a:xfrm>
          <a:prstGeom prst="rect">
            <a:avLst/>
          </a:prstGeom>
          <a:noFill/>
        </p:spPr>
        <p:txBody>
          <a:bodyPr wrap="square" lIns="0" rIns="0" tIns="0" bIns="0" anchor="t">
            <a:spAutoFit/>
          </a:bodyPr>
          <a:lstStyle/>
          <a:p>
            <a:pPr algn="l">
              <a:lnSpc>
                <a:spcPct val="130000"/>
              </a:lnSpc>
            </a:pPr>
            <a:r>
              <a:rPr sz="1150" b="0" i="1">
                <a:solidFill>
                  <a:srgbClr val="3A2E26"/>
                </a:solidFill>
                <a:latin typeface="Calibri"/>
              </a:rPr>
              <a:t>resident and co-founder</a:t>
            </a:r>
          </a:p>
        </p:txBody>
      </p:sp>
      <p:sp>
        <p:nvSpPr>
          <p:cNvPr id="25" name="Rectangle 24"/>
          <p:cNvSpPr/>
          <p:nvPr/>
        </p:nvSpPr>
        <p:spPr>
          <a:xfrm>
            <a:off x="8174734" y="3611880"/>
            <a:ext cx="3749039" cy="1280160"/>
          </a:xfrm>
          <a:prstGeom prst="rect">
            <a:avLst/>
          </a:prstGeom>
          <a:solidFill>
            <a:srgbClr val="FAF4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8403334" y="3840480"/>
            <a:ext cx="822960" cy="822960"/>
          </a:xfrm>
          <a:prstGeom prst="ellipse">
            <a:avLst/>
          </a:prstGeom>
          <a:solidFill>
            <a:srgbClr val="3A2E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403334" y="3858768"/>
            <a:ext cx="822960" cy="786384"/>
          </a:xfrm>
          <a:prstGeom prst="rect">
            <a:avLst/>
          </a:prstGeom>
          <a:noFill/>
        </p:spPr>
        <p:txBody>
          <a:bodyPr wrap="square" lIns="0" rIns="0" tIns="0" bIns="0" anchor="ctr">
            <a:spAutoFit/>
          </a:bodyPr>
          <a:lstStyle/>
          <a:p>
            <a:pPr algn="ctr">
              <a:lnSpc>
                <a:spcPct val="115000"/>
              </a:lnSpc>
            </a:pPr>
            <a:r>
              <a:rPr sz="2200" b="1" i="0">
                <a:solidFill>
                  <a:srgbClr val="FBF6E9"/>
                </a:solidFill>
                <a:latin typeface="Lora"/>
              </a:rPr>
              <a:t>+</a:t>
            </a:r>
          </a:p>
        </p:txBody>
      </p:sp>
      <p:sp>
        <p:nvSpPr>
          <p:cNvPr id="28" name="TextBox 27"/>
          <p:cNvSpPr txBox="1"/>
          <p:nvPr/>
        </p:nvSpPr>
        <p:spPr>
          <a:xfrm>
            <a:off x="9317734" y="3886200"/>
            <a:ext cx="2468879" cy="365760"/>
          </a:xfrm>
          <a:prstGeom prst="rect">
            <a:avLst/>
          </a:prstGeom>
          <a:noFill/>
        </p:spPr>
        <p:txBody>
          <a:bodyPr wrap="square" lIns="0" rIns="0" tIns="0" bIns="0" anchor="t">
            <a:spAutoFit/>
          </a:bodyPr>
          <a:lstStyle/>
          <a:p>
            <a:pPr algn="l">
              <a:lnSpc>
                <a:spcPct val="115000"/>
              </a:lnSpc>
            </a:pPr>
            <a:r>
              <a:rPr sz="1500" b="1" i="0">
                <a:solidFill>
                  <a:srgbClr val="3A2E26"/>
                </a:solidFill>
                <a:latin typeface="Lora"/>
              </a:rPr>
              <a:t>More members soon</a:t>
            </a:r>
          </a:p>
        </p:txBody>
      </p:sp>
      <p:sp>
        <p:nvSpPr>
          <p:cNvPr id="29" name="TextBox 28"/>
          <p:cNvSpPr txBox="1"/>
          <p:nvPr/>
        </p:nvSpPr>
        <p:spPr>
          <a:xfrm>
            <a:off x="9317734" y="4297680"/>
            <a:ext cx="2468879" cy="502920"/>
          </a:xfrm>
          <a:prstGeom prst="rect">
            <a:avLst/>
          </a:prstGeom>
          <a:noFill/>
        </p:spPr>
        <p:txBody>
          <a:bodyPr wrap="square" lIns="0" rIns="0" tIns="0" bIns="0" anchor="t">
            <a:spAutoFit/>
          </a:bodyPr>
          <a:lstStyle/>
          <a:p>
            <a:pPr algn="l">
              <a:lnSpc>
                <a:spcPct val="130000"/>
              </a:lnSpc>
            </a:pPr>
            <a:r>
              <a:rPr sz="1150" b="0" i="1">
                <a:solidFill>
                  <a:srgbClr val="3A2E26"/>
                </a:solidFill>
                <a:latin typeface="Calibri"/>
              </a:rPr>
              <a:t>as the group is built</a:t>
            </a:r>
          </a:p>
        </p:txBody>
      </p:sp>
      <p:sp>
        <p:nvSpPr>
          <p:cNvPr id="30" name="Rectangle 29"/>
          <p:cNvSpPr/>
          <p:nvPr/>
        </p:nvSpPr>
        <p:spPr>
          <a:xfrm>
            <a:off x="457200" y="5074920"/>
            <a:ext cx="11247120" cy="1280160"/>
          </a:xfrm>
          <a:prstGeom prst="rect">
            <a:avLst/>
          </a:prstGeom>
          <a:solidFill>
            <a:srgbClr val="3A2E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85800" y="5212080"/>
            <a:ext cx="10835640" cy="1005840"/>
          </a:xfrm>
          <a:prstGeom prst="rect">
            <a:avLst/>
          </a:prstGeom>
          <a:noFill/>
        </p:spPr>
        <p:txBody>
          <a:bodyPr wrap="square" lIns="0" rIns="0" tIns="0" bIns="0" anchor="t">
            <a:spAutoFit/>
          </a:bodyPr>
          <a:lstStyle/>
          <a:p>
            <a:pPr algn="l">
              <a:lnSpc>
                <a:spcPct val="140000"/>
              </a:lnSpc>
            </a:pPr>
            <a:r>
              <a:rPr sz="1300" b="0" i="1">
                <a:solidFill>
                  <a:srgbClr val="FBF6E9"/>
                </a:solidFill>
                <a:latin typeface="Lora"/>
              </a:rPr>
              <a:t>This is not a top-down initiative. It started with neighbors asking neighbors: should we be having this conversation? The answer was yes — and we wanted to host it openly, with transparency and rigor.</a:t>
            </a:r>
          </a:p>
        </p:txBody>
      </p:sp>
      <p:sp>
        <p:nvSpPr>
          <p:cNvPr id="32" name="TextBox 31"/>
          <p:cNvSpPr txBox="1"/>
          <p:nvPr/>
        </p:nvSpPr>
        <p:spPr>
          <a:xfrm>
            <a:off x="457200" y="6565392"/>
            <a:ext cx="5486400" cy="228600"/>
          </a:xfrm>
          <a:prstGeom prst="rect">
            <a:avLst/>
          </a:prstGeom>
          <a:noFill/>
        </p:spPr>
        <p:txBody>
          <a:bodyPr wrap="square" lIns="0" rIns="0" tIns="0" bIns="0" anchor="t">
            <a:spAutoFit/>
          </a:bodyPr>
          <a:lstStyle/>
          <a:p>
            <a:pPr algn="l">
              <a:lnSpc>
                <a:spcPct val="115000"/>
              </a:lnSpc>
            </a:pPr>
            <a:r>
              <a:rPr sz="900" b="1" i="0">
                <a:solidFill>
                  <a:srgbClr val="8A7A66"/>
                </a:solidFill>
                <a:latin typeface="Calibri"/>
              </a:rPr>
              <a:t>PARA TODOS</a:t>
            </a:r>
          </a:p>
        </p:txBody>
      </p:sp>
      <p:sp>
        <p:nvSpPr>
          <p:cNvPr id="33" name="TextBox 32"/>
          <p:cNvSpPr txBox="1"/>
          <p:nvPr/>
        </p:nvSpPr>
        <p:spPr>
          <a:xfrm>
            <a:off x="10607040" y="6565392"/>
            <a:ext cx="1188720" cy="228600"/>
          </a:xfrm>
          <a:prstGeom prst="rect">
            <a:avLst/>
          </a:prstGeom>
          <a:noFill/>
        </p:spPr>
        <p:txBody>
          <a:bodyPr wrap="square" lIns="0" rIns="0" tIns="0" bIns="0" anchor="t">
            <a:spAutoFit/>
          </a:bodyPr>
          <a:lstStyle/>
          <a:p>
            <a:pPr algn="r">
              <a:lnSpc>
                <a:spcPct val="115000"/>
              </a:lnSpc>
            </a:pPr>
            <a:r>
              <a:rPr sz="900" b="0" i="0">
                <a:solidFill>
                  <a:srgbClr val="8A7A66"/>
                </a:solidFill>
                <a:latin typeface="Calibri"/>
              </a:rPr>
              <a:t>9 / 14</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BF6E9"/>
        </a:solidFill>
        <a:effectLst/>
      </p:bgPr>
    </p:bg>
    <p:spTree>
      <p:nvGrpSpPr>
        <p:cNvPr id="1" name=""/>
        <p:cNvGrpSpPr/>
        <p:nvPr/>
      </p:nvGrpSpPr>
      <p:grpSpPr/>
      <p:sp>
        <p:nvSpPr>
          <p:cNvPr id="2" name="TextBox 1"/>
          <p:cNvSpPr txBox="1"/>
          <p:nvPr/>
        </p:nvSpPr>
        <p:spPr>
          <a:xfrm>
            <a:off x="411480" y="137160"/>
            <a:ext cx="2286000" cy="1005840"/>
          </a:xfrm>
          <a:prstGeom prst="rect">
            <a:avLst/>
          </a:prstGeom>
          <a:noFill/>
        </p:spPr>
        <p:txBody>
          <a:bodyPr wrap="square" lIns="0" rIns="0" tIns="0" bIns="0" anchor="t">
            <a:spAutoFit/>
          </a:bodyPr>
          <a:lstStyle/>
          <a:p>
            <a:pPr algn="l">
              <a:lnSpc>
                <a:spcPct val="95000"/>
              </a:lnSpc>
            </a:pPr>
            <a:r>
              <a:rPr sz="7200" b="1" i="0">
                <a:solidFill>
                  <a:srgbClr val="E6C8C0"/>
                </a:solidFill>
                <a:latin typeface="Lora"/>
              </a:rPr>
              <a:t>09</a:t>
            </a:r>
          </a:p>
        </p:txBody>
      </p:sp>
      <p:sp>
        <p:nvSpPr>
          <p:cNvPr id="3" name="TextBox 2"/>
          <p:cNvSpPr txBox="1"/>
          <p:nvPr/>
        </p:nvSpPr>
        <p:spPr>
          <a:xfrm>
            <a:off x="457200" y="457200"/>
            <a:ext cx="7315200" cy="365760"/>
          </a:xfrm>
          <a:prstGeom prst="rect">
            <a:avLst/>
          </a:prstGeom>
          <a:noFill/>
        </p:spPr>
        <p:txBody>
          <a:bodyPr wrap="square" lIns="0" rIns="0" tIns="0" bIns="0" anchor="t">
            <a:spAutoFit/>
          </a:bodyPr>
          <a:lstStyle/>
          <a:p>
            <a:pPr algn="l">
              <a:lnSpc>
                <a:spcPct val="115000"/>
              </a:lnSpc>
            </a:pPr>
            <a:r>
              <a:rPr sz="1100" b="1" i="0">
                <a:solidFill>
                  <a:srgbClr val="B85042"/>
                </a:solidFill>
                <a:latin typeface="Calibri"/>
              </a:rPr>
              <a:t>A REGIONAL EXAMPLE</a:t>
            </a:r>
          </a:p>
        </p:txBody>
      </p:sp>
      <p:sp>
        <p:nvSpPr>
          <p:cNvPr id="4" name="TextBox 3"/>
          <p:cNvSpPr txBox="1"/>
          <p:nvPr/>
        </p:nvSpPr>
        <p:spPr>
          <a:xfrm>
            <a:off x="457200" y="868680"/>
            <a:ext cx="11247120" cy="914400"/>
          </a:xfrm>
          <a:prstGeom prst="rect">
            <a:avLst/>
          </a:prstGeom>
          <a:noFill/>
        </p:spPr>
        <p:txBody>
          <a:bodyPr wrap="square" lIns="0" rIns="0" tIns="0" bIns="0" anchor="t">
            <a:spAutoFit/>
          </a:bodyPr>
          <a:lstStyle/>
          <a:p>
            <a:pPr algn="l">
              <a:lnSpc>
                <a:spcPct val="105000"/>
              </a:lnSpc>
            </a:pPr>
            <a:r>
              <a:rPr sz="3600" b="1" i="0">
                <a:solidFill>
                  <a:srgbClr val="3A2E26"/>
                </a:solidFill>
                <a:latin typeface="Lora"/>
              </a:rPr>
              <a:t>What's possible — looking at Los Cabos</a:t>
            </a:r>
          </a:p>
        </p:txBody>
      </p:sp>
      <p:cxnSp>
        <p:nvCxnSpPr>
          <p:cNvPr id="5" name="Connector 4"/>
          <p:cNvCxnSpPr/>
          <p:nvPr/>
        </p:nvCxnSpPr>
        <p:spPr>
          <a:xfrm flipV="1">
            <a:off x="457200" y="1860803"/>
            <a:ext cx="160020" cy="27432"/>
          </a:xfrm>
          <a:prstGeom prst="line">
            <a:avLst/>
          </a:prstGeom>
          <a:ln w="17780">
            <a:solidFill>
              <a:srgbClr val="6D8A6E"/>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617220" y="1860803"/>
            <a:ext cx="160020" cy="27432"/>
          </a:xfrm>
          <a:prstGeom prst="line">
            <a:avLst/>
          </a:prstGeom>
          <a:ln w="17780">
            <a:solidFill>
              <a:srgbClr val="6D8A6E"/>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V="1">
            <a:off x="777240" y="1860803"/>
            <a:ext cx="160019" cy="27432"/>
          </a:xfrm>
          <a:prstGeom prst="line">
            <a:avLst/>
          </a:prstGeom>
          <a:ln w="17780">
            <a:solidFill>
              <a:srgbClr val="6D8A6E"/>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937259" y="1860803"/>
            <a:ext cx="160021" cy="27432"/>
          </a:xfrm>
          <a:prstGeom prst="line">
            <a:avLst/>
          </a:prstGeom>
          <a:ln w="17780">
            <a:solidFill>
              <a:srgbClr val="6D8A6E"/>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V="1">
            <a:off x="1097280" y="1860803"/>
            <a:ext cx="160020" cy="27432"/>
          </a:xfrm>
          <a:prstGeom prst="line">
            <a:avLst/>
          </a:prstGeom>
          <a:ln w="17780">
            <a:solidFill>
              <a:srgbClr val="6D8A6E"/>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1257300" y="1860803"/>
            <a:ext cx="160019" cy="27432"/>
          </a:xfrm>
          <a:prstGeom prst="line">
            <a:avLst/>
          </a:prstGeom>
          <a:ln w="17780">
            <a:solidFill>
              <a:srgbClr val="6D8A6E"/>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V="1">
            <a:off x="1417319" y="1860803"/>
            <a:ext cx="160020" cy="27432"/>
          </a:xfrm>
          <a:prstGeom prst="line">
            <a:avLst/>
          </a:prstGeom>
          <a:ln w="17780">
            <a:solidFill>
              <a:srgbClr val="6D8A6E"/>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1577339" y="1860803"/>
            <a:ext cx="160021" cy="27432"/>
          </a:xfrm>
          <a:prstGeom prst="line">
            <a:avLst/>
          </a:prstGeom>
          <a:ln w="17780">
            <a:solidFill>
              <a:srgbClr val="6D8A6E"/>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457200" y="1920240"/>
            <a:ext cx="11247120" cy="640080"/>
          </a:xfrm>
          <a:prstGeom prst="rect">
            <a:avLst/>
          </a:prstGeom>
          <a:noFill/>
        </p:spPr>
        <p:txBody>
          <a:bodyPr wrap="square" lIns="0" rIns="0" tIns="0" bIns="0" anchor="t">
            <a:spAutoFit/>
          </a:bodyPr>
          <a:lstStyle/>
          <a:p>
            <a:pPr algn="l">
              <a:lnSpc>
                <a:spcPct val="140000"/>
              </a:lnSpc>
            </a:pPr>
            <a:r>
              <a:rPr sz="1400" b="0" i="0">
                <a:solidFill>
                  <a:srgbClr val="3A2E26"/>
                </a:solidFill>
                <a:latin typeface="Calibri"/>
              </a:rPr>
              <a:t>In 1992, Los Cabos became its own municipality, separated from La Paz. The community followed a similar legal pathway. Since then:</a:t>
            </a:r>
          </a:p>
        </p:txBody>
      </p:sp>
      <p:sp>
        <p:nvSpPr>
          <p:cNvPr id="14" name="Rectangle 13"/>
          <p:cNvSpPr/>
          <p:nvPr/>
        </p:nvSpPr>
        <p:spPr>
          <a:xfrm>
            <a:off x="457200" y="2697480"/>
            <a:ext cx="3703320" cy="1554480"/>
          </a:xfrm>
          <a:prstGeom prst="rect">
            <a:avLst/>
          </a:prstGeom>
          <a:solidFill>
            <a:srgbClr val="3A2E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2880360"/>
            <a:ext cx="3703320" cy="777240"/>
          </a:xfrm>
          <a:prstGeom prst="rect">
            <a:avLst/>
          </a:prstGeom>
          <a:noFill/>
        </p:spPr>
        <p:txBody>
          <a:bodyPr wrap="square" lIns="0" rIns="0" tIns="0" bIns="0" anchor="t">
            <a:spAutoFit/>
          </a:bodyPr>
          <a:lstStyle/>
          <a:p>
            <a:pPr algn="ctr">
              <a:lnSpc>
                <a:spcPct val="115000"/>
              </a:lnSpc>
            </a:pPr>
            <a:r>
              <a:rPr sz="4000" b="1" i="0">
                <a:solidFill>
                  <a:srgbClr val="B85042"/>
                </a:solidFill>
                <a:latin typeface="Lora"/>
              </a:rPr>
              <a:t>$7.7 B USD</a:t>
            </a:r>
          </a:p>
        </p:txBody>
      </p:sp>
      <p:sp>
        <p:nvSpPr>
          <p:cNvPr id="16" name="TextBox 15"/>
          <p:cNvSpPr txBox="1"/>
          <p:nvPr/>
        </p:nvSpPr>
        <p:spPr>
          <a:xfrm>
            <a:off x="731520" y="3703320"/>
            <a:ext cx="3154680" cy="457200"/>
          </a:xfrm>
          <a:prstGeom prst="rect">
            <a:avLst/>
          </a:prstGeom>
          <a:noFill/>
        </p:spPr>
        <p:txBody>
          <a:bodyPr wrap="square" lIns="0" rIns="0" tIns="0" bIns="0" anchor="t">
            <a:spAutoFit/>
          </a:bodyPr>
          <a:lstStyle/>
          <a:p>
            <a:pPr algn="ctr">
              <a:lnSpc>
                <a:spcPct val="130000"/>
              </a:lnSpc>
            </a:pPr>
            <a:r>
              <a:rPr sz="1150" b="0" i="0">
                <a:solidFill>
                  <a:srgbClr val="FBF6E9"/>
                </a:solidFill>
                <a:latin typeface="Calibri"/>
              </a:rPr>
              <a:t>Annual economic output (2024)</a:t>
            </a:r>
          </a:p>
        </p:txBody>
      </p:sp>
      <p:sp>
        <p:nvSpPr>
          <p:cNvPr id="17" name="Rectangle 16"/>
          <p:cNvSpPr/>
          <p:nvPr/>
        </p:nvSpPr>
        <p:spPr>
          <a:xfrm>
            <a:off x="4270248" y="2697480"/>
            <a:ext cx="3703320" cy="1554480"/>
          </a:xfrm>
          <a:prstGeom prst="rect">
            <a:avLst/>
          </a:prstGeom>
          <a:solidFill>
            <a:srgbClr val="3A2E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270248" y="2880360"/>
            <a:ext cx="3703320" cy="777240"/>
          </a:xfrm>
          <a:prstGeom prst="rect">
            <a:avLst/>
          </a:prstGeom>
          <a:noFill/>
        </p:spPr>
        <p:txBody>
          <a:bodyPr wrap="square" lIns="0" rIns="0" tIns="0" bIns="0" anchor="t">
            <a:spAutoFit/>
          </a:bodyPr>
          <a:lstStyle/>
          <a:p>
            <a:pPr algn="ctr">
              <a:lnSpc>
                <a:spcPct val="115000"/>
              </a:lnSpc>
            </a:pPr>
            <a:r>
              <a:rPr sz="4000" b="1" i="0">
                <a:solidFill>
                  <a:srgbClr val="B85042"/>
                </a:solidFill>
                <a:latin typeface="Lora"/>
              </a:rPr>
              <a:t>350,000</a:t>
            </a:r>
          </a:p>
        </p:txBody>
      </p:sp>
      <p:sp>
        <p:nvSpPr>
          <p:cNvPr id="19" name="TextBox 18"/>
          <p:cNvSpPr txBox="1"/>
          <p:nvPr/>
        </p:nvSpPr>
        <p:spPr>
          <a:xfrm>
            <a:off x="4544568" y="3703320"/>
            <a:ext cx="3154680" cy="457200"/>
          </a:xfrm>
          <a:prstGeom prst="rect">
            <a:avLst/>
          </a:prstGeom>
          <a:noFill/>
        </p:spPr>
        <p:txBody>
          <a:bodyPr wrap="square" lIns="0" rIns="0" tIns="0" bIns="0" anchor="t">
            <a:spAutoFit/>
          </a:bodyPr>
          <a:lstStyle/>
          <a:p>
            <a:pPr algn="ctr">
              <a:lnSpc>
                <a:spcPct val="130000"/>
              </a:lnSpc>
            </a:pPr>
            <a:r>
              <a:rPr sz="1150" b="0" i="0">
                <a:solidFill>
                  <a:srgbClr val="FBF6E9"/>
                </a:solidFill>
                <a:latin typeface="Calibri"/>
              </a:rPr>
              <a:t>Approximate annual visitors</a:t>
            </a:r>
          </a:p>
        </p:txBody>
      </p:sp>
      <p:sp>
        <p:nvSpPr>
          <p:cNvPr id="20" name="Rectangle 19"/>
          <p:cNvSpPr/>
          <p:nvPr/>
        </p:nvSpPr>
        <p:spPr>
          <a:xfrm>
            <a:off x="8083296" y="2697480"/>
            <a:ext cx="3703320" cy="1554480"/>
          </a:xfrm>
          <a:prstGeom prst="rect">
            <a:avLst/>
          </a:prstGeom>
          <a:solidFill>
            <a:srgbClr val="3A2E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083296" y="2880360"/>
            <a:ext cx="3703320" cy="777240"/>
          </a:xfrm>
          <a:prstGeom prst="rect">
            <a:avLst/>
          </a:prstGeom>
          <a:noFill/>
        </p:spPr>
        <p:txBody>
          <a:bodyPr wrap="square" lIns="0" rIns="0" tIns="0" bIns="0" anchor="t">
            <a:spAutoFit/>
          </a:bodyPr>
          <a:lstStyle/>
          <a:p>
            <a:pPr algn="ctr">
              <a:lnSpc>
                <a:spcPct val="115000"/>
              </a:lnSpc>
            </a:pPr>
            <a:r>
              <a:rPr sz="4000" b="1" i="0">
                <a:solidFill>
                  <a:srgbClr val="B85042"/>
                </a:solidFill>
                <a:latin typeface="Lora"/>
              </a:rPr>
              <a:t>130%</a:t>
            </a:r>
          </a:p>
        </p:txBody>
      </p:sp>
      <p:sp>
        <p:nvSpPr>
          <p:cNvPr id="22" name="TextBox 21"/>
          <p:cNvSpPr txBox="1"/>
          <p:nvPr/>
        </p:nvSpPr>
        <p:spPr>
          <a:xfrm>
            <a:off x="8357616" y="3703320"/>
            <a:ext cx="3154680" cy="457200"/>
          </a:xfrm>
          <a:prstGeom prst="rect">
            <a:avLst/>
          </a:prstGeom>
          <a:noFill/>
        </p:spPr>
        <p:txBody>
          <a:bodyPr wrap="square" lIns="0" rIns="0" tIns="0" bIns="0" anchor="t">
            <a:spAutoFit/>
          </a:bodyPr>
          <a:lstStyle/>
          <a:p>
            <a:pPr algn="ctr">
              <a:lnSpc>
                <a:spcPct val="130000"/>
              </a:lnSpc>
            </a:pPr>
            <a:r>
              <a:rPr sz="1150" b="0" i="0">
                <a:solidFill>
                  <a:srgbClr val="FBF6E9"/>
                </a:solidFill>
                <a:latin typeface="Calibri"/>
              </a:rPr>
              <a:t>Tourism growth over the past decade</a:t>
            </a:r>
          </a:p>
        </p:txBody>
      </p:sp>
      <p:sp>
        <p:nvSpPr>
          <p:cNvPr id="23" name="TextBox 22"/>
          <p:cNvSpPr txBox="1"/>
          <p:nvPr/>
        </p:nvSpPr>
        <p:spPr>
          <a:xfrm>
            <a:off x="457200" y="4480560"/>
            <a:ext cx="5486400" cy="365760"/>
          </a:xfrm>
          <a:prstGeom prst="rect">
            <a:avLst/>
          </a:prstGeom>
          <a:noFill/>
        </p:spPr>
        <p:txBody>
          <a:bodyPr wrap="square" lIns="0" rIns="0" tIns="0" bIns="0" anchor="t">
            <a:spAutoFit/>
          </a:bodyPr>
          <a:lstStyle/>
          <a:p>
            <a:pPr algn="l">
              <a:lnSpc>
                <a:spcPct val="115000"/>
              </a:lnSpc>
            </a:pPr>
            <a:r>
              <a:rPr sz="1200" b="1" i="0">
                <a:solidFill>
                  <a:srgbClr val="B85042"/>
                </a:solidFill>
                <a:latin typeface="Calibri"/>
              </a:rPr>
              <a:t>What this does NOT say</a:t>
            </a:r>
          </a:p>
        </p:txBody>
      </p:sp>
      <p:sp>
        <p:nvSpPr>
          <p:cNvPr id="24" name="TextBox 23"/>
          <p:cNvSpPr txBox="1"/>
          <p:nvPr/>
        </p:nvSpPr>
        <p:spPr>
          <a:xfrm>
            <a:off x="457200" y="4846320"/>
            <a:ext cx="5486400" cy="1554480"/>
          </a:xfrm>
          <a:prstGeom prst="rect">
            <a:avLst/>
          </a:prstGeom>
          <a:noFill/>
        </p:spPr>
        <p:txBody>
          <a:bodyPr wrap="square" lIns="0" rIns="0" tIns="0" bIns="0" anchor="t">
            <a:spAutoFit/>
          </a:bodyPr>
          <a:lstStyle/>
          <a:p>
            <a:pPr algn="l">
              <a:lnSpc>
                <a:spcPct val="140000"/>
              </a:lnSpc>
            </a:pPr>
            <a:r>
              <a:rPr sz="1200" b="0" i="1">
                <a:solidFill>
                  <a:srgbClr val="3A2E26"/>
                </a:solidFill>
                <a:latin typeface="Calibri"/>
              </a:rPr>
              <a:t>Los Cabos had different geography, different timing, different leadership, different luck. Rapid growth has costs: traffic, housing pressure, character shifts. Not every resident would say it went perfectly.</a:t>
            </a:r>
          </a:p>
        </p:txBody>
      </p:sp>
      <p:sp>
        <p:nvSpPr>
          <p:cNvPr id="25" name="TextBox 24"/>
          <p:cNvSpPr txBox="1"/>
          <p:nvPr/>
        </p:nvSpPr>
        <p:spPr>
          <a:xfrm>
            <a:off x="6245352" y="4480560"/>
            <a:ext cx="5486400" cy="365760"/>
          </a:xfrm>
          <a:prstGeom prst="rect">
            <a:avLst/>
          </a:prstGeom>
          <a:noFill/>
        </p:spPr>
        <p:txBody>
          <a:bodyPr wrap="square" lIns="0" rIns="0" tIns="0" bIns="0" anchor="t">
            <a:spAutoFit/>
          </a:bodyPr>
          <a:lstStyle/>
          <a:p>
            <a:pPr algn="l">
              <a:lnSpc>
                <a:spcPct val="115000"/>
              </a:lnSpc>
            </a:pPr>
            <a:r>
              <a:rPr sz="1200" b="1" i="0">
                <a:solidFill>
                  <a:srgbClr val="3A2E26"/>
                </a:solidFill>
                <a:latin typeface="Calibri"/>
              </a:rPr>
              <a:t>What it does show</a:t>
            </a:r>
          </a:p>
        </p:txBody>
      </p:sp>
      <p:sp>
        <p:nvSpPr>
          <p:cNvPr id="26" name="TextBox 25"/>
          <p:cNvSpPr txBox="1"/>
          <p:nvPr/>
        </p:nvSpPr>
        <p:spPr>
          <a:xfrm>
            <a:off x="6245352" y="4846320"/>
            <a:ext cx="5486400" cy="1554480"/>
          </a:xfrm>
          <a:prstGeom prst="rect">
            <a:avLst/>
          </a:prstGeom>
          <a:noFill/>
        </p:spPr>
        <p:txBody>
          <a:bodyPr wrap="square" lIns="0" rIns="0" tIns="0" bIns="0" anchor="t">
            <a:spAutoFit/>
          </a:bodyPr>
          <a:lstStyle/>
          <a:p>
            <a:pPr algn="l">
              <a:lnSpc>
                <a:spcPct val="140000"/>
              </a:lnSpc>
            </a:pPr>
            <a:r>
              <a:rPr sz="1200" b="0" i="0">
                <a:solidFill>
                  <a:srgbClr val="3A2E26"/>
                </a:solidFill>
                <a:latin typeface="Calibri"/>
              </a:rPr>
              <a:t>That the legal pathway works. That a coastal BCS community can self-govern. That community character can survive and adapt under local governance.</a:t>
            </a:r>
          </a:p>
        </p:txBody>
      </p:sp>
      <p:sp>
        <p:nvSpPr>
          <p:cNvPr id="27" name="TextBox 26"/>
          <p:cNvSpPr txBox="1"/>
          <p:nvPr/>
        </p:nvSpPr>
        <p:spPr>
          <a:xfrm>
            <a:off x="457200" y="6565392"/>
            <a:ext cx="5486400" cy="228600"/>
          </a:xfrm>
          <a:prstGeom prst="rect">
            <a:avLst/>
          </a:prstGeom>
          <a:noFill/>
        </p:spPr>
        <p:txBody>
          <a:bodyPr wrap="square" lIns="0" rIns="0" tIns="0" bIns="0" anchor="t">
            <a:spAutoFit/>
          </a:bodyPr>
          <a:lstStyle/>
          <a:p>
            <a:pPr algn="l">
              <a:lnSpc>
                <a:spcPct val="115000"/>
              </a:lnSpc>
            </a:pPr>
            <a:r>
              <a:rPr sz="900" b="1" i="0">
                <a:solidFill>
                  <a:srgbClr val="8A7A66"/>
                </a:solidFill>
                <a:latin typeface="Calibri"/>
              </a:rPr>
              <a:t>PARA TODOS</a:t>
            </a:r>
          </a:p>
        </p:txBody>
      </p:sp>
      <p:sp>
        <p:nvSpPr>
          <p:cNvPr id="28" name="TextBox 27"/>
          <p:cNvSpPr txBox="1"/>
          <p:nvPr/>
        </p:nvSpPr>
        <p:spPr>
          <a:xfrm>
            <a:off x="10607040" y="6565392"/>
            <a:ext cx="1188720" cy="228600"/>
          </a:xfrm>
          <a:prstGeom prst="rect">
            <a:avLst/>
          </a:prstGeom>
          <a:noFill/>
        </p:spPr>
        <p:txBody>
          <a:bodyPr wrap="square" lIns="0" rIns="0" tIns="0" bIns="0" anchor="t">
            <a:spAutoFit/>
          </a:bodyPr>
          <a:lstStyle/>
          <a:p>
            <a:pPr algn="r">
              <a:lnSpc>
                <a:spcPct val="115000"/>
              </a:lnSpc>
            </a:pPr>
            <a:r>
              <a:rPr sz="900" b="0" i="0">
                <a:solidFill>
                  <a:srgbClr val="8A7A66"/>
                </a:solidFill>
                <a:latin typeface="Calibri"/>
              </a:rPr>
              <a:t>10 / 14</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BF6E9"/>
        </a:solidFill>
        <a:effectLst/>
      </p:bgPr>
    </p:bg>
    <p:spTree>
      <p:nvGrpSpPr>
        <p:cNvPr id="1" name=""/>
        <p:cNvGrpSpPr/>
        <p:nvPr/>
      </p:nvGrpSpPr>
      <p:grpSpPr/>
      <p:sp>
        <p:nvSpPr>
          <p:cNvPr id="2" name="TextBox 1"/>
          <p:cNvSpPr txBox="1"/>
          <p:nvPr/>
        </p:nvSpPr>
        <p:spPr>
          <a:xfrm>
            <a:off x="411480" y="137160"/>
            <a:ext cx="2286000" cy="1005840"/>
          </a:xfrm>
          <a:prstGeom prst="rect">
            <a:avLst/>
          </a:prstGeom>
          <a:noFill/>
        </p:spPr>
        <p:txBody>
          <a:bodyPr wrap="square" lIns="0" rIns="0" tIns="0" bIns="0" anchor="t">
            <a:spAutoFit/>
          </a:bodyPr>
          <a:lstStyle/>
          <a:p>
            <a:pPr algn="l">
              <a:lnSpc>
                <a:spcPct val="95000"/>
              </a:lnSpc>
            </a:pPr>
            <a:r>
              <a:rPr sz="7200" b="1" i="0">
                <a:solidFill>
                  <a:srgbClr val="E6C8C0"/>
                </a:solidFill>
                <a:latin typeface="Lora"/>
              </a:rPr>
              <a:t>10</a:t>
            </a:r>
          </a:p>
        </p:txBody>
      </p:sp>
      <p:sp>
        <p:nvSpPr>
          <p:cNvPr id="3" name="TextBox 2"/>
          <p:cNvSpPr txBox="1"/>
          <p:nvPr/>
        </p:nvSpPr>
        <p:spPr>
          <a:xfrm>
            <a:off x="457200" y="457200"/>
            <a:ext cx="7315200" cy="365760"/>
          </a:xfrm>
          <a:prstGeom prst="rect">
            <a:avLst/>
          </a:prstGeom>
          <a:noFill/>
        </p:spPr>
        <p:txBody>
          <a:bodyPr wrap="square" lIns="0" rIns="0" tIns="0" bIns="0" anchor="t">
            <a:spAutoFit/>
          </a:bodyPr>
          <a:lstStyle/>
          <a:p>
            <a:pPr algn="l">
              <a:lnSpc>
                <a:spcPct val="115000"/>
              </a:lnSpc>
            </a:pPr>
            <a:r>
              <a:rPr sz="1100" b="1" i="0">
                <a:solidFill>
                  <a:srgbClr val="B85042"/>
                </a:solidFill>
                <a:latin typeface="Calibri"/>
              </a:rPr>
              <a:t>THE PROCESS</a:t>
            </a:r>
          </a:p>
        </p:txBody>
      </p:sp>
      <p:sp>
        <p:nvSpPr>
          <p:cNvPr id="4" name="TextBox 3"/>
          <p:cNvSpPr txBox="1"/>
          <p:nvPr/>
        </p:nvSpPr>
        <p:spPr>
          <a:xfrm>
            <a:off x="457200" y="868680"/>
            <a:ext cx="11247120" cy="914400"/>
          </a:xfrm>
          <a:prstGeom prst="rect">
            <a:avLst/>
          </a:prstGeom>
          <a:noFill/>
        </p:spPr>
        <p:txBody>
          <a:bodyPr wrap="square" lIns="0" rIns="0" tIns="0" bIns="0" anchor="t">
            <a:spAutoFit/>
          </a:bodyPr>
          <a:lstStyle/>
          <a:p>
            <a:pPr algn="l">
              <a:lnSpc>
                <a:spcPct val="105000"/>
              </a:lnSpc>
            </a:pPr>
            <a:r>
              <a:rPr sz="3600" b="1" i="0">
                <a:solidFill>
                  <a:srgbClr val="3A2E26"/>
                </a:solidFill>
                <a:latin typeface="Lora"/>
              </a:rPr>
              <a:t>How this conversation unfolds</a:t>
            </a:r>
          </a:p>
        </p:txBody>
      </p:sp>
      <p:cxnSp>
        <p:nvCxnSpPr>
          <p:cNvPr id="5" name="Connector 4"/>
          <p:cNvCxnSpPr/>
          <p:nvPr/>
        </p:nvCxnSpPr>
        <p:spPr>
          <a:xfrm flipV="1">
            <a:off x="457200" y="1860803"/>
            <a:ext cx="160020" cy="27432"/>
          </a:xfrm>
          <a:prstGeom prst="line">
            <a:avLst/>
          </a:prstGeom>
          <a:ln w="17780">
            <a:solidFill>
              <a:srgbClr val="6D8A6E"/>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617220" y="1860803"/>
            <a:ext cx="160020" cy="27432"/>
          </a:xfrm>
          <a:prstGeom prst="line">
            <a:avLst/>
          </a:prstGeom>
          <a:ln w="17780">
            <a:solidFill>
              <a:srgbClr val="6D8A6E"/>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V="1">
            <a:off x="777240" y="1860803"/>
            <a:ext cx="160019" cy="27432"/>
          </a:xfrm>
          <a:prstGeom prst="line">
            <a:avLst/>
          </a:prstGeom>
          <a:ln w="17780">
            <a:solidFill>
              <a:srgbClr val="6D8A6E"/>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937259" y="1860803"/>
            <a:ext cx="160021" cy="27432"/>
          </a:xfrm>
          <a:prstGeom prst="line">
            <a:avLst/>
          </a:prstGeom>
          <a:ln w="17780">
            <a:solidFill>
              <a:srgbClr val="6D8A6E"/>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V="1">
            <a:off x="1097280" y="1860803"/>
            <a:ext cx="160020" cy="27432"/>
          </a:xfrm>
          <a:prstGeom prst="line">
            <a:avLst/>
          </a:prstGeom>
          <a:ln w="17780">
            <a:solidFill>
              <a:srgbClr val="6D8A6E"/>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1257300" y="1860803"/>
            <a:ext cx="160019" cy="27432"/>
          </a:xfrm>
          <a:prstGeom prst="line">
            <a:avLst/>
          </a:prstGeom>
          <a:ln w="17780">
            <a:solidFill>
              <a:srgbClr val="6D8A6E"/>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V="1">
            <a:off x="1417319" y="1860803"/>
            <a:ext cx="160020" cy="27432"/>
          </a:xfrm>
          <a:prstGeom prst="line">
            <a:avLst/>
          </a:prstGeom>
          <a:ln w="17780">
            <a:solidFill>
              <a:srgbClr val="6D8A6E"/>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1577339" y="1860803"/>
            <a:ext cx="160021" cy="27432"/>
          </a:xfrm>
          <a:prstGeom prst="line">
            <a:avLst/>
          </a:prstGeom>
          <a:ln w="17780">
            <a:solidFill>
              <a:srgbClr val="6D8A6E"/>
            </a:solidFill>
          </a:ln>
        </p:spPr>
        <p:style>
          <a:lnRef idx="2">
            <a:schemeClr val="accent1"/>
          </a:lnRef>
          <a:fillRef idx="0">
            <a:schemeClr val="accent1"/>
          </a:fillRef>
          <a:effectRef idx="1">
            <a:schemeClr val="accent1"/>
          </a:effectRef>
          <a:fontRef idx="minor">
            <a:schemeClr val="tx1"/>
          </a:fontRef>
        </p:style>
      </p:cxnSp>
      <p:sp>
        <p:nvSpPr>
          <p:cNvPr id="13" name="Rectangle 12"/>
          <p:cNvSpPr/>
          <p:nvPr/>
        </p:nvSpPr>
        <p:spPr>
          <a:xfrm>
            <a:off x="457200" y="2103120"/>
            <a:ext cx="777240" cy="960120"/>
          </a:xfrm>
          <a:prstGeom prst="rect">
            <a:avLst/>
          </a:prstGeom>
          <a:solidFill>
            <a:srgbClr val="B850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2103120"/>
            <a:ext cx="777240" cy="960120"/>
          </a:xfrm>
          <a:prstGeom prst="rect">
            <a:avLst/>
          </a:prstGeom>
          <a:noFill/>
        </p:spPr>
        <p:txBody>
          <a:bodyPr wrap="square" lIns="0" rIns="0" tIns="0" bIns="0" anchor="ctr">
            <a:spAutoFit/>
          </a:bodyPr>
          <a:lstStyle/>
          <a:p>
            <a:pPr algn="ctr">
              <a:lnSpc>
                <a:spcPct val="115000"/>
              </a:lnSpc>
            </a:pPr>
            <a:r>
              <a:rPr sz="3200" b="1" i="0">
                <a:solidFill>
                  <a:srgbClr val="FBF6E9"/>
                </a:solidFill>
                <a:latin typeface="Lora"/>
              </a:rPr>
              <a:t>1</a:t>
            </a:r>
          </a:p>
        </p:txBody>
      </p:sp>
      <p:sp>
        <p:nvSpPr>
          <p:cNvPr id="15" name="Rectangle 14"/>
          <p:cNvSpPr/>
          <p:nvPr/>
        </p:nvSpPr>
        <p:spPr>
          <a:xfrm>
            <a:off x="1325880" y="2103120"/>
            <a:ext cx="10378440" cy="960120"/>
          </a:xfrm>
          <a:prstGeom prst="rect">
            <a:avLst/>
          </a:prstGeom>
          <a:solidFill>
            <a:srgbClr val="FAF4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554480" y="2194560"/>
            <a:ext cx="10058400" cy="365760"/>
          </a:xfrm>
          <a:prstGeom prst="rect">
            <a:avLst/>
          </a:prstGeom>
          <a:noFill/>
        </p:spPr>
        <p:txBody>
          <a:bodyPr wrap="square" lIns="0" rIns="0" tIns="0" bIns="0" anchor="t">
            <a:spAutoFit/>
          </a:bodyPr>
          <a:lstStyle/>
          <a:p>
            <a:pPr algn="l">
              <a:lnSpc>
                <a:spcPct val="115000"/>
              </a:lnSpc>
            </a:pPr>
            <a:r>
              <a:rPr sz="1400" b="1" i="0">
                <a:solidFill>
                  <a:srgbClr val="3A2E26"/>
                </a:solidFill>
                <a:latin typeface="Lora"/>
              </a:rPr>
              <a:t>Weeks 1–4 · Listening phase</a:t>
            </a:r>
          </a:p>
        </p:txBody>
      </p:sp>
      <p:sp>
        <p:nvSpPr>
          <p:cNvPr id="17" name="TextBox 16"/>
          <p:cNvSpPr txBox="1"/>
          <p:nvPr/>
        </p:nvSpPr>
        <p:spPr>
          <a:xfrm>
            <a:off x="1554480" y="2542032"/>
            <a:ext cx="10058400" cy="502920"/>
          </a:xfrm>
          <a:prstGeom prst="rect">
            <a:avLst/>
          </a:prstGeom>
          <a:noFill/>
        </p:spPr>
        <p:txBody>
          <a:bodyPr wrap="square" lIns="0" rIns="0" tIns="0" bIns="0" anchor="t">
            <a:spAutoFit/>
          </a:bodyPr>
          <a:lstStyle/>
          <a:p>
            <a:pPr algn="l">
              <a:lnSpc>
                <a:spcPct val="135000"/>
              </a:lnSpc>
            </a:pPr>
            <a:r>
              <a:rPr sz="1050" b="0" i="0">
                <a:solidFill>
                  <a:srgbClr val="3A2E26"/>
                </a:solidFill>
                <a:latin typeface="Calibri"/>
              </a:rPr>
              <a:t>Confidential conversations with community leaders, business owners, residents from all sectors. Public opinion survey designed and fielded. Boundary scenarios studied by an independent technical team. No commitments. No signatures. We listen.</a:t>
            </a:r>
          </a:p>
        </p:txBody>
      </p:sp>
      <p:sp>
        <p:nvSpPr>
          <p:cNvPr id="18" name="Rectangle 17"/>
          <p:cNvSpPr/>
          <p:nvPr/>
        </p:nvSpPr>
        <p:spPr>
          <a:xfrm>
            <a:off x="457200" y="3154680"/>
            <a:ext cx="777240" cy="960120"/>
          </a:xfrm>
          <a:prstGeom prst="rect">
            <a:avLst/>
          </a:prstGeom>
          <a:solidFill>
            <a:srgbClr val="B850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 y="3154680"/>
            <a:ext cx="777240" cy="960120"/>
          </a:xfrm>
          <a:prstGeom prst="rect">
            <a:avLst/>
          </a:prstGeom>
          <a:noFill/>
        </p:spPr>
        <p:txBody>
          <a:bodyPr wrap="square" lIns="0" rIns="0" tIns="0" bIns="0" anchor="ctr">
            <a:spAutoFit/>
          </a:bodyPr>
          <a:lstStyle/>
          <a:p>
            <a:pPr algn="ctr">
              <a:lnSpc>
                <a:spcPct val="115000"/>
              </a:lnSpc>
            </a:pPr>
            <a:r>
              <a:rPr sz="3200" b="1" i="0">
                <a:solidFill>
                  <a:srgbClr val="FBF6E9"/>
                </a:solidFill>
                <a:latin typeface="Lora"/>
              </a:rPr>
              <a:t>2</a:t>
            </a:r>
          </a:p>
        </p:txBody>
      </p:sp>
      <p:sp>
        <p:nvSpPr>
          <p:cNvPr id="20" name="Rectangle 19"/>
          <p:cNvSpPr/>
          <p:nvPr/>
        </p:nvSpPr>
        <p:spPr>
          <a:xfrm>
            <a:off x="1325880" y="3154680"/>
            <a:ext cx="10378440" cy="960120"/>
          </a:xfrm>
          <a:prstGeom prst="rect">
            <a:avLst/>
          </a:prstGeom>
          <a:solidFill>
            <a:srgbClr val="FAF4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554480" y="3246120"/>
            <a:ext cx="10058400" cy="365760"/>
          </a:xfrm>
          <a:prstGeom prst="rect">
            <a:avLst/>
          </a:prstGeom>
          <a:noFill/>
        </p:spPr>
        <p:txBody>
          <a:bodyPr wrap="square" lIns="0" rIns="0" tIns="0" bIns="0" anchor="t">
            <a:spAutoFit/>
          </a:bodyPr>
          <a:lstStyle/>
          <a:p>
            <a:pPr algn="l">
              <a:lnSpc>
                <a:spcPct val="115000"/>
              </a:lnSpc>
            </a:pPr>
            <a:r>
              <a:rPr sz="1400" b="1" i="0">
                <a:solidFill>
                  <a:srgbClr val="3A2E26"/>
                </a:solidFill>
                <a:latin typeface="Lora"/>
              </a:rPr>
              <a:t>Weeks 5–8 · Public engagement</a:t>
            </a:r>
          </a:p>
        </p:txBody>
      </p:sp>
      <p:sp>
        <p:nvSpPr>
          <p:cNvPr id="22" name="TextBox 21"/>
          <p:cNvSpPr txBox="1"/>
          <p:nvPr/>
        </p:nvSpPr>
        <p:spPr>
          <a:xfrm>
            <a:off x="1554480" y="3593592"/>
            <a:ext cx="10058400" cy="502920"/>
          </a:xfrm>
          <a:prstGeom prst="rect">
            <a:avLst/>
          </a:prstGeom>
          <a:noFill/>
        </p:spPr>
        <p:txBody>
          <a:bodyPr wrap="square" lIns="0" rIns="0" tIns="0" bIns="0" anchor="t">
            <a:spAutoFit/>
          </a:bodyPr>
          <a:lstStyle/>
          <a:p>
            <a:pPr algn="l">
              <a:lnSpc>
                <a:spcPct val="135000"/>
              </a:lnSpc>
            </a:pPr>
            <a:r>
              <a:rPr sz="1050" b="0" i="0">
                <a:solidFill>
                  <a:srgbClr val="3A2E26"/>
                </a:solidFill>
                <a:latin typeface="Calibri"/>
              </a:rPr>
              <a:t>Town halls in Todos Santos, Pescadero, Las Tunas, Las Playitas, Elías Calles. Smaller listening sessions in surrounding communities. Bilingual. Online + WhatsApp Q&amp;A. Preliminary results shared publicly.</a:t>
            </a:r>
          </a:p>
        </p:txBody>
      </p:sp>
      <p:sp>
        <p:nvSpPr>
          <p:cNvPr id="23" name="Rectangle 22"/>
          <p:cNvSpPr/>
          <p:nvPr/>
        </p:nvSpPr>
        <p:spPr>
          <a:xfrm>
            <a:off x="457200" y="4206240"/>
            <a:ext cx="777240" cy="960120"/>
          </a:xfrm>
          <a:prstGeom prst="rect">
            <a:avLst/>
          </a:prstGeom>
          <a:solidFill>
            <a:srgbClr val="B850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57200" y="4206240"/>
            <a:ext cx="777240" cy="960120"/>
          </a:xfrm>
          <a:prstGeom prst="rect">
            <a:avLst/>
          </a:prstGeom>
          <a:noFill/>
        </p:spPr>
        <p:txBody>
          <a:bodyPr wrap="square" lIns="0" rIns="0" tIns="0" bIns="0" anchor="ctr">
            <a:spAutoFit/>
          </a:bodyPr>
          <a:lstStyle/>
          <a:p>
            <a:pPr algn="ctr">
              <a:lnSpc>
                <a:spcPct val="115000"/>
              </a:lnSpc>
            </a:pPr>
            <a:r>
              <a:rPr sz="3200" b="1" i="0">
                <a:solidFill>
                  <a:srgbClr val="FBF6E9"/>
                </a:solidFill>
                <a:latin typeface="Lora"/>
              </a:rPr>
              <a:t>3</a:t>
            </a:r>
          </a:p>
        </p:txBody>
      </p:sp>
      <p:sp>
        <p:nvSpPr>
          <p:cNvPr id="25" name="Rectangle 24"/>
          <p:cNvSpPr/>
          <p:nvPr/>
        </p:nvSpPr>
        <p:spPr>
          <a:xfrm>
            <a:off x="1325880" y="4206240"/>
            <a:ext cx="10378440" cy="960120"/>
          </a:xfrm>
          <a:prstGeom prst="rect">
            <a:avLst/>
          </a:prstGeom>
          <a:solidFill>
            <a:srgbClr val="FAF4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554480" y="4297680"/>
            <a:ext cx="10058400" cy="365760"/>
          </a:xfrm>
          <a:prstGeom prst="rect">
            <a:avLst/>
          </a:prstGeom>
          <a:noFill/>
        </p:spPr>
        <p:txBody>
          <a:bodyPr wrap="square" lIns="0" rIns="0" tIns="0" bIns="0" anchor="t">
            <a:spAutoFit/>
          </a:bodyPr>
          <a:lstStyle/>
          <a:p>
            <a:pPr algn="l">
              <a:lnSpc>
                <a:spcPct val="115000"/>
              </a:lnSpc>
            </a:pPr>
            <a:r>
              <a:rPr sz="1400" b="1" i="0">
                <a:solidFill>
                  <a:srgbClr val="3A2E26"/>
                </a:solidFill>
                <a:latin typeface="Lora"/>
              </a:rPr>
              <a:t>Week 8 · Community decision point</a:t>
            </a:r>
          </a:p>
        </p:txBody>
      </p:sp>
      <p:sp>
        <p:nvSpPr>
          <p:cNvPr id="27" name="TextBox 26"/>
          <p:cNvSpPr txBox="1"/>
          <p:nvPr/>
        </p:nvSpPr>
        <p:spPr>
          <a:xfrm>
            <a:off x="1554480" y="4645152"/>
            <a:ext cx="10058400" cy="502920"/>
          </a:xfrm>
          <a:prstGeom prst="rect">
            <a:avLst/>
          </a:prstGeom>
          <a:noFill/>
        </p:spPr>
        <p:txBody>
          <a:bodyPr wrap="square" lIns="0" rIns="0" tIns="0" bIns="0" anchor="t">
            <a:spAutoFit/>
          </a:bodyPr>
          <a:lstStyle/>
          <a:p>
            <a:pPr algn="l">
              <a:lnSpc>
                <a:spcPct val="135000"/>
              </a:lnSpc>
            </a:pPr>
            <a:r>
              <a:rPr sz="1050" b="0" i="0">
                <a:solidFill>
                  <a:srgbClr val="3A2E26"/>
                </a:solidFill>
                <a:latin typeface="Calibri"/>
              </a:rPr>
              <a:t>Do we continue to Stage II (formal plebiscite process)? Or do we pause / not proceed? The decision is made publicly, with full data, transparent reasoning, and Founding Committee consultation.</a:t>
            </a:r>
          </a:p>
        </p:txBody>
      </p:sp>
      <p:sp>
        <p:nvSpPr>
          <p:cNvPr id="28" name="Rectangle 27"/>
          <p:cNvSpPr/>
          <p:nvPr/>
        </p:nvSpPr>
        <p:spPr>
          <a:xfrm>
            <a:off x="457200" y="5257800"/>
            <a:ext cx="777240" cy="960120"/>
          </a:xfrm>
          <a:prstGeom prst="rect">
            <a:avLst/>
          </a:prstGeom>
          <a:solidFill>
            <a:srgbClr val="B850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57200" y="5257800"/>
            <a:ext cx="777240" cy="960120"/>
          </a:xfrm>
          <a:prstGeom prst="rect">
            <a:avLst/>
          </a:prstGeom>
          <a:noFill/>
        </p:spPr>
        <p:txBody>
          <a:bodyPr wrap="square" lIns="0" rIns="0" tIns="0" bIns="0" anchor="ctr">
            <a:spAutoFit/>
          </a:bodyPr>
          <a:lstStyle/>
          <a:p>
            <a:pPr algn="ctr">
              <a:lnSpc>
                <a:spcPct val="115000"/>
              </a:lnSpc>
            </a:pPr>
            <a:r>
              <a:rPr sz="3200" b="1" i="0">
                <a:solidFill>
                  <a:srgbClr val="FBF6E9"/>
                </a:solidFill>
                <a:latin typeface="Lora"/>
              </a:rPr>
              <a:t>4</a:t>
            </a:r>
          </a:p>
        </p:txBody>
      </p:sp>
      <p:sp>
        <p:nvSpPr>
          <p:cNvPr id="30" name="Rectangle 29"/>
          <p:cNvSpPr/>
          <p:nvPr/>
        </p:nvSpPr>
        <p:spPr>
          <a:xfrm>
            <a:off x="1325880" y="5257800"/>
            <a:ext cx="10378440" cy="960120"/>
          </a:xfrm>
          <a:prstGeom prst="rect">
            <a:avLst/>
          </a:prstGeom>
          <a:solidFill>
            <a:srgbClr val="FAF4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554480" y="5349240"/>
            <a:ext cx="10058400" cy="365760"/>
          </a:xfrm>
          <a:prstGeom prst="rect">
            <a:avLst/>
          </a:prstGeom>
          <a:noFill/>
        </p:spPr>
        <p:txBody>
          <a:bodyPr wrap="square" lIns="0" rIns="0" tIns="0" bIns="0" anchor="t">
            <a:spAutoFit/>
          </a:bodyPr>
          <a:lstStyle/>
          <a:p>
            <a:pPr algn="l">
              <a:lnSpc>
                <a:spcPct val="115000"/>
              </a:lnSpc>
            </a:pPr>
            <a:r>
              <a:rPr sz="1400" b="1" i="0">
                <a:solidFill>
                  <a:srgbClr val="3A2E26"/>
                </a:solidFill>
                <a:latin typeface="Lora"/>
              </a:rPr>
              <a:t>After week 8 — only if community supports</a:t>
            </a:r>
          </a:p>
        </p:txBody>
      </p:sp>
      <p:sp>
        <p:nvSpPr>
          <p:cNvPr id="32" name="TextBox 31"/>
          <p:cNvSpPr txBox="1"/>
          <p:nvPr/>
        </p:nvSpPr>
        <p:spPr>
          <a:xfrm>
            <a:off x="1554480" y="5696712"/>
            <a:ext cx="10058400" cy="502920"/>
          </a:xfrm>
          <a:prstGeom prst="rect">
            <a:avLst/>
          </a:prstGeom>
          <a:noFill/>
        </p:spPr>
        <p:txBody>
          <a:bodyPr wrap="square" lIns="0" rIns="0" tIns="0" bIns="0" anchor="t">
            <a:spAutoFit/>
          </a:bodyPr>
          <a:lstStyle/>
          <a:p>
            <a:pPr algn="l">
              <a:lnSpc>
                <a:spcPct val="135000"/>
              </a:lnSpc>
            </a:pPr>
            <a:r>
              <a:rPr sz="1050" b="0" i="0">
                <a:solidFill>
                  <a:srgbClr val="3A2E26"/>
                </a:solidFill>
                <a:latin typeface="Calibri"/>
              </a:rPr>
              <a:t>Stage II begins: information campaign, signature collection, formal plebiscite filing. Electoral authority schedules the plebiscite. The community votes.</a:t>
            </a:r>
          </a:p>
        </p:txBody>
      </p:sp>
      <p:sp>
        <p:nvSpPr>
          <p:cNvPr id="33" name="TextBox 32"/>
          <p:cNvSpPr txBox="1"/>
          <p:nvPr/>
        </p:nvSpPr>
        <p:spPr>
          <a:xfrm>
            <a:off x="457200" y="6565392"/>
            <a:ext cx="5486400" cy="228600"/>
          </a:xfrm>
          <a:prstGeom prst="rect">
            <a:avLst/>
          </a:prstGeom>
          <a:noFill/>
        </p:spPr>
        <p:txBody>
          <a:bodyPr wrap="square" lIns="0" rIns="0" tIns="0" bIns="0" anchor="t">
            <a:spAutoFit/>
          </a:bodyPr>
          <a:lstStyle/>
          <a:p>
            <a:pPr algn="l">
              <a:lnSpc>
                <a:spcPct val="115000"/>
              </a:lnSpc>
            </a:pPr>
            <a:r>
              <a:rPr sz="900" b="1" i="0">
                <a:solidFill>
                  <a:srgbClr val="8A7A66"/>
                </a:solidFill>
                <a:latin typeface="Calibri"/>
              </a:rPr>
              <a:t>PARA TODOS</a:t>
            </a:r>
          </a:p>
        </p:txBody>
      </p:sp>
      <p:sp>
        <p:nvSpPr>
          <p:cNvPr id="34" name="TextBox 33"/>
          <p:cNvSpPr txBox="1"/>
          <p:nvPr/>
        </p:nvSpPr>
        <p:spPr>
          <a:xfrm>
            <a:off x="10607040" y="6565392"/>
            <a:ext cx="1188720" cy="228600"/>
          </a:xfrm>
          <a:prstGeom prst="rect">
            <a:avLst/>
          </a:prstGeom>
          <a:noFill/>
        </p:spPr>
        <p:txBody>
          <a:bodyPr wrap="square" lIns="0" rIns="0" tIns="0" bIns="0" anchor="t">
            <a:spAutoFit/>
          </a:bodyPr>
          <a:lstStyle/>
          <a:p>
            <a:pPr algn="r">
              <a:lnSpc>
                <a:spcPct val="115000"/>
              </a:lnSpc>
            </a:pPr>
            <a:r>
              <a:rPr sz="900" b="0" i="0">
                <a:solidFill>
                  <a:srgbClr val="8A7A66"/>
                </a:solidFill>
                <a:latin typeface="Calibri"/>
              </a:rPr>
              <a:t>11 / 14</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BF6E9"/>
        </a:solidFill>
        <a:effectLst/>
      </p:bgPr>
    </p:bg>
    <p:spTree>
      <p:nvGrpSpPr>
        <p:cNvPr id="1" name=""/>
        <p:cNvGrpSpPr/>
        <p:nvPr/>
      </p:nvGrpSpPr>
      <p:grpSpPr/>
      <p:sp>
        <p:nvSpPr>
          <p:cNvPr id="2" name="TextBox 1"/>
          <p:cNvSpPr txBox="1"/>
          <p:nvPr/>
        </p:nvSpPr>
        <p:spPr>
          <a:xfrm>
            <a:off x="411480" y="137160"/>
            <a:ext cx="2286000" cy="1005840"/>
          </a:xfrm>
          <a:prstGeom prst="rect">
            <a:avLst/>
          </a:prstGeom>
          <a:noFill/>
        </p:spPr>
        <p:txBody>
          <a:bodyPr wrap="square" lIns="0" rIns="0" tIns="0" bIns="0" anchor="t">
            <a:spAutoFit/>
          </a:bodyPr>
          <a:lstStyle/>
          <a:p>
            <a:pPr algn="l">
              <a:lnSpc>
                <a:spcPct val="95000"/>
              </a:lnSpc>
            </a:pPr>
            <a:r>
              <a:rPr sz="7200" b="1" i="0">
                <a:solidFill>
                  <a:srgbClr val="E6C8C0"/>
                </a:solidFill>
                <a:latin typeface="Lora"/>
              </a:rPr>
              <a:t>11</a:t>
            </a:r>
          </a:p>
        </p:txBody>
      </p:sp>
      <p:sp>
        <p:nvSpPr>
          <p:cNvPr id="3" name="TextBox 2"/>
          <p:cNvSpPr txBox="1"/>
          <p:nvPr/>
        </p:nvSpPr>
        <p:spPr>
          <a:xfrm>
            <a:off x="457200" y="457200"/>
            <a:ext cx="7315200" cy="365760"/>
          </a:xfrm>
          <a:prstGeom prst="rect">
            <a:avLst/>
          </a:prstGeom>
          <a:noFill/>
        </p:spPr>
        <p:txBody>
          <a:bodyPr wrap="square" lIns="0" rIns="0" tIns="0" bIns="0" anchor="t">
            <a:spAutoFit/>
          </a:bodyPr>
          <a:lstStyle/>
          <a:p>
            <a:pPr algn="l">
              <a:lnSpc>
                <a:spcPct val="115000"/>
              </a:lnSpc>
            </a:pPr>
            <a:r>
              <a:rPr sz="1100" b="1" i="0">
                <a:solidFill>
                  <a:srgbClr val="B85042"/>
                </a:solidFill>
                <a:latin typeface="Calibri"/>
              </a:rPr>
              <a:t>IF IT WERE TODAY</a:t>
            </a:r>
          </a:p>
        </p:txBody>
      </p:sp>
      <p:sp>
        <p:nvSpPr>
          <p:cNvPr id="4" name="TextBox 3"/>
          <p:cNvSpPr txBox="1"/>
          <p:nvPr/>
        </p:nvSpPr>
        <p:spPr>
          <a:xfrm>
            <a:off x="457200" y="868680"/>
            <a:ext cx="11247120" cy="914400"/>
          </a:xfrm>
          <a:prstGeom prst="rect">
            <a:avLst/>
          </a:prstGeom>
          <a:noFill/>
        </p:spPr>
        <p:txBody>
          <a:bodyPr wrap="square" lIns="0" rIns="0" tIns="0" bIns="0" anchor="t">
            <a:spAutoFit/>
          </a:bodyPr>
          <a:lstStyle/>
          <a:p>
            <a:pPr algn="l">
              <a:lnSpc>
                <a:spcPct val="105000"/>
              </a:lnSpc>
            </a:pPr>
            <a:r>
              <a:rPr sz="3600" b="1" i="0">
                <a:solidFill>
                  <a:srgbClr val="3A2E26"/>
                </a:solidFill>
                <a:latin typeface="Lora"/>
              </a:rPr>
              <a:t>If we were our own municipality tomorrow</a:t>
            </a:r>
          </a:p>
        </p:txBody>
      </p:sp>
      <p:cxnSp>
        <p:nvCxnSpPr>
          <p:cNvPr id="5" name="Connector 4"/>
          <p:cNvCxnSpPr/>
          <p:nvPr/>
        </p:nvCxnSpPr>
        <p:spPr>
          <a:xfrm flipV="1">
            <a:off x="457200" y="1860803"/>
            <a:ext cx="160020" cy="27432"/>
          </a:xfrm>
          <a:prstGeom prst="line">
            <a:avLst/>
          </a:prstGeom>
          <a:ln w="17780">
            <a:solidFill>
              <a:srgbClr val="6D8A6E"/>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617220" y="1860803"/>
            <a:ext cx="160020" cy="27432"/>
          </a:xfrm>
          <a:prstGeom prst="line">
            <a:avLst/>
          </a:prstGeom>
          <a:ln w="17780">
            <a:solidFill>
              <a:srgbClr val="6D8A6E"/>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V="1">
            <a:off x="777240" y="1860803"/>
            <a:ext cx="160019" cy="27432"/>
          </a:xfrm>
          <a:prstGeom prst="line">
            <a:avLst/>
          </a:prstGeom>
          <a:ln w="17780">
            <a:solidFill>
              <a:srgbClr val="6D8A6E"/>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937259" y="1860803"/>
            <a:ext cx="160021" cy="27432"/>
          </a:xfrm>
          <a:prstGeom prst="line">
            <a:avLst/>
          </a:prstGeom>
          <a:ln w="17780">
            <a:solidFill>
              <a:srgbClr val="6D8A6E"/>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V="1">
            <a:off x="1097280" y="1860803"/>
            <a:ext cx="160020" cy="27432"/>
          </a:xfrm>
          <a:prstGeom prst="line">
            <a:avLst/>
          </a:prstGeom>
          <a:ln w="17780">
            <a:solidFill>
              <a:srgbClr val="6D8A6E"/>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1257300" y="1860803"/>
            <a:ext cx="160019" cy="27432"/>
          </a:xfrm>
          <a:prstGeom prst="line">
            <a:avLst/>
          </a:prstGeom>
          <a:ln w="17780">
            <a:solidFill>
              <a:srgbClr val="6D8A6E"/>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V="1">
            <a:off x="1417319" y="1860803"/>
            <a:ext cx="160020" cy="27432"/>
          </a:xfrm>
          <a:prstGeom prst="line">
            <a:avLst/>
          </a:prstGeom>
          <a:ln w="17780">
            <a:solidFill>
              <a:srgbClr val="6D8A6E"/>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1577339" y="1860803"/>
            <a:ext cx="160021" cy="27432"/>
          </a:xfrm>
          <a:prstGeom prst="line">
            <a:avLst/>
          </a:prstGeom>
          <a:ln w="17780">
            <a:solidFill>
              <a:srgbClr val="6D8A6E"/>
            </a:solidFill>
          </a:ln>
        </p:spPr>
        <p:style>
          <a:lnRef idx="2">
            <a:schemeClr val="accent1"/>
          </a:lnRef>
          <a:fillRef idx="0">
            <a:schemeClr val="accent1"/>
          </a:fillRef>
          <a:effectRef idx="1">
            <a:schemeClr val="accent1"/>
          </a:effectRef>
          <a:fontRef idx="minor">
            <a:schemeClr val="tx1"/>
          </a:fontRef>
        </p:style>
      </p:cxnSp>
      <p:sp>
        <p:nvSpPr>
          <p:cNvPr id="13" name="Rectangle 12"/>
          <p:cNvSpPr/>
          <p:nvPr/>
        </p:nvSpPr>
        <p:spPr>
          <a:xfrm>
            <a:off x="457200" y="2057400"/>
            <a:ext cx="5532120" cy="457200"/>
          </a:xfrm>
          <a:prstGeom prst="rect">
            <a:avLst/>
          </a:prstGeom>
          <a:solidFill>
            <a:srgbClr val="B850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2057400"/>
            <a:ext cx="5532120" cy="457200"/>
          </a:xfrm>
          <a:prstGeom prst="rect">
            <a:avLst/>
          </a:prstGeom>
          <a:noFill/>
        </p:spPr>
        <p:txBody>
          <a:bodyPr wrap="square" lIns="0" rIns="0" tIns="0" bIns="0" anchor="ctr">
            <a:spAutoFit/>
          </a:bodyPr>
          <a:lstStyle/>
          <a:p>
            <a:pPr algn="ctr">
              <a:lnSpc>
                <a:spcPct val="115000"/>
              </a:lnSpc>
            </a:pPr>
            <a:r>
              <a:rPr sz="1400" b="1" i="0">
                <a:solidFill>
                  <a:srgbClr val="FBF6E9"/>
                </a:solidFill>
                <a:latin typeface="Calibri"/>
              </a:rPr>
              <a:t>What changes</a:t>
            </a:r>
          </a:p>
        </p:txBody>
      </p:sp>
      <p:sp>
        <p:nvSpPr>
          <p:cNvPr id="15" name="Rectangle 14"/>
          <p:cNvSpPr/>
          <p:nvPr/>
        </p:nvSpPr>
        <p:spPr>
          <a:xfrm>
            <a:off x="457200" y="2606040"/>
            <a:ext cx="5532120" cy="365760"/>
          </a:xfrm>
          <a:prstGeom prst="rect">
            <a:avLst/>
          </a:prstGeom>
          <a:solidFill>
            <a:srgbClr val="FAF4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40080" y="2743200"/>
            <a:ext cx="91440" cy="91440"/>
          </a:xfrm>
          <a:prstGeom prst="ellipse">
            <a:avLst/>
          </a:prstGeom>
          <a:solidFill>
            <a:srgbClr val="B850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2606040"/>
            <a:ext cx="5074920" cy="365760"/>
          </a:xfrm>
          <a:prstGeom prst="rect">
            <a:avLst/>
          </a:prstGeom>
          <a:noFill/>
        </p:spPr>
        <p:txBody>
          <a:bodyPr wrap="square" lIns="0" rIns="0" tIns="0" bIns="0" anchor="ctr">
            <a:spAutoFit/>
          </a:bodyPr>
          <a:lstStyle/>
          <a:p>
            <a:pPr algn="l">
              <a:lnSpc>
                <a:spcPct val="115000"/>
              </a:lnSpc>
            </a:pPr>
            <a:r>
              <a:rPr sz="1100" b="0" i="0">
                <a:solidFill>
                  <a:srgbClr val="3A2E26"/>
                </a:solidFill>
                <a:latin typeface="Calibri"/>
              </a:rPr>
              <a:t>Local cabildo, local presidente municipal, local services</a:t>
            </a:r>
          </a:p>
        </p:txBody>
      </p:sp>
      <p:sp>
        <p:nvSpPr>
          <p:cNvPr id="18" name="Rectangle 17"/>
          <p:cNvSpPr/>
          <p:nvPr/>
        </p:nvSpPr>
        <p:spPr>
          <a:xfrm>
            <a:off x="457200" y="2971800"/>
            <a:ext cx="5532120" cy="365760"/>
          </a:xfrm>
          <a:prstGeom prst="rect">
            <a:avLst/>
          </a:prstGeom>
          <a:solidFill>
            <a:srgbClr val="FBF6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40080" y="3108960"/>
            <a:ext cx="91440" cy="91440"/>
          </a:xfrm>
          <a:prstGeom prst="ellipse">
            <a:avLst/>
          </a:prstGeom>
          <a:solidFill>
            <a:srgbClr val="B850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8680" y="2971800"/>
            <a:ext cx="5074920" cy="365760"/>
          </a:xfrm>
          <a:prstGeom prst="rect">
            <a:avLst/>
          </a:prstGeom>
          <a:noFill/>
        </p:spPr>
        <p:txBody>
          <a:bodyPr wrap="square" lIns="0" rIns="0" tIns="0" bIns="0" anchor="ctr">
            <a:spAutoFit/>
          </a:bodyPr>
          <a:lstStyle/>
          <a:p>
            <a:pPr algn="l">
              <a:lnSpc>
                <a:spcPct val="115000"/>
              </a:lnSpc>
            </a:pPr>
            <a:r>
              <a:rPr sz="1100" b="0" i="0">
                <a:solidFill>
                  <a:srgbClr val="3A2E26"/>
                </a:solidFill>
                <a:latin typeface="Calibri"/>
              </a:rPr>
              <a:t>Local water management</a:t>
            </a:r>
          </a:p>
        </p:txBody>
      </p:sp>
      <p:sp>
        <p:nvSpPr>
          <p:cNvPr id="21" name="Rectangle 20"/>
          <p:cNvSpPr/>
          <p:nvPr/>
        </p:nvSpPr>
        <p:spPr>
          <a:xfrm>
            <a:off x="457200" y="3337560"/>
            <a:ext cx="5532120" cy="365760"/>
          </a:xfrm>
          <a:prstGeom prst="rect">
            <a:avLst/>
          </a:prstGeom>
          <a:solidFill>
            <a:srgbClr val="FAF4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640080" y="3474720"/>
            <a:ext cx="91440" cy="91440"/>
          </a:xfrm>
          <a:prstGeom prst="ellipse">
            <a:avLst/>
          </a:prstGeom>
          <a:solidFill>
            <a:srgbClr val="B850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68680" y="3337560"/>
            <a:ext cx="5074920" cy="365760"/>
          </a:xfrm>
          <a:prstGeom prst="rect">
            <a:avLst/>
          </a:prstGeom>
          <a:noFill/>
        </p:spPr>
        <p:txBody>
          <a:bodyPr wrap="square" lIns="0" rIns="0" tIns="0" bIns="0" anchor="ctr">
            <a:spAutoFit/>
          </a:bodyPr>
          <a:lstStyle/>
          <a:p>
            <a:pPr algn="l">
              <a:lnSpc>
                <a:spcPct val="115000"/>
              </a:lnSpc>
            </a:pPr>
            <a:r>
              <a:rPr sz="1100" b="0" i="0">
                <a:solidFill>
                  <a:srgbClr val="3A2E26"/>
                </a:solidFill>
                <a:latin typeface="Calibri"/>
              </a:rPr>
              <a:t>Local power infrastructure planning and advocacy</a:t>
            </a:r>
          </a:p>
        </p:txBody>
      </p:sp>
      <p:sp>
        <p:nvSpPr>
          <p:cNvPr id="24" name="Rectangle 23"/>
          <p:cNvSpPr/>
          <p:nvPr/>
        </p:nvSpPr>
        <p:spPr>
          <a:xfrm>
            <a:off x="457200" y="3703320"/>
            <a:ext cx="5532120" cy="365760"/>
          </a:xfrm>
          <a:prstGeom prst="rect">
            <a:avLst/>
          </a:prstGeom>
          <a:solidFill>
            <a:srgbClr val="FBF6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40080" y="3840480"/>
            <a:ext cx="91440" cy="91440"/>
          </a:xfrm>
          <a:prstGeom prst="ellipse">
            <a:avLst/>
          </a:prstGeom>
          <a:solidFill>
            <a:srgbClr val="B850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68680" y="3703320"/>
            <a:ext cx="5074920" cy="365760"/>
          </a:xfrm>
          <a:prstGeom prst="rect">
            <a:avLst/>
          </a:prstGeom>
          <a:noFill/>
        </p:spPr>
        <p:txBody>
          <a:bodyPr wrap="square" lIns="0" rIns="0" tIns="0" bIns="0" anchor="ctr">
            <a:spAutoFit/>
          </a:bodyPr>
          <a:lstStyle/>
          <a:p>
            <a:pPr algn="l">
              <a:lnSpc>
                <a:spcPct val="115000"/>
              </a:lnSpc>
            </a:pPr>
            <a:r>
              <a:rPr sz="1100" b="0" i="0">
                <a:solidFill>
                  <a:srgbClr val="3A2E26"/>
                </a:solidFill>
                <a:latin typeface="Calibri"/>
              </a:rPr>
              <a:t>Local first responders</a:t>
            </a:r>
          </a:p>
        </p:txBody>
      </p:sp>
      <p:sp>
        <p:nvSpPr>
          <p:cNvPr id="27" name="Rectangle 26"/>
          <p:cNvSpPr/>
          <p:nvPr/>
        </p:nvSpPr>
        <p:spPr>
          <a:xfrm>
            <a:off x="457200" y="4069080"/>
            <a:ext cx="5532120" cy="365760"/>
          </a:xfrm>
          <a:prstGeom prst="rect">
            <a:avLst/>
          </a:prstGeom>
          <a:solidFill>
            <a:srgbClr val="FAF4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640080" y="4206240"/>
            <a:ext cx="91440" cy="91440"/>
          </a:xfrm>
          <a:prstGeom prst="ellipse">
            <a:avLst/>
          </a:prstGeom>
          <a:solidFill>
            <a:srgbClr val="B850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68680" y="4069080"/>
            <a:ext cx="5074920" cy="365760"/>
          </a:xfrm>
          <a:prstGeom prst="rect">
            <a:avLst/>
          </a:prstGeom>
          <a:noFill/>
        </p:spPr>
        <p:txBody>
          <a:bodyPr wrap="square" lIns="0" rIns="0" tIns="0" bIns="0" anchor="ctr">
            <a:spAutoFit/>
          </a:bodyPr>
          <a:lstStyle/>
          <a:p>
            <a:pPr algn="l">
              <a:lnSpc>
                <a:spcPct val="115000"/>
              </a:lnSpc>
            </a:pPr>
            <a:r>
              <a:rPr sz="1100" b="0" i="0">
                <a:solidFill>
                  <a:srgbClr val="3A2E26"/>
                </a:solidFill>
                <a:latin typeface="Calibri"/>
              </a:rPr>
              <a:t>Local development permitting</a:t>
            </a:r>
          </a:p>
        </p:txBody>
      </p:sp>
      <p:sp>
        <p:nvSpPr>
          <p:cNvPr id="30" name="Rectangle 29"/>
          <p:cNvSpPr/>
          <p:nvPr/>
        </p:nvSpPr>
        <p:spPr>
          <a:xfrm>
            <a:off x="457200" y="4434840"/>
            <a:ext cx="5532120" cy="365760"/>
          </a:xfrm>
          <a:prstGeom prst="rect">
            <a:avLst/>
          </a:prstGeom>
          <a:solidFill>
            <a:srgbClr val="FBF6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640080" y="4572000"/>
            <a:ext cx="91440" cy="91440"/>
          </a:xfrm>
          <a:prstGeom prst="ellipse">
            <a:avLst/>
          </a:prstGeom>
          <a:solidFill>
            <a:srgbClr val="B850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68680" y="4434840"/>
            <a:ext cx="5074920" cy="365760"/>
          </a:xfrm>
          <a:prstGeom prst="rect">
            <a:avLst/>
          </a:prstGeom>
          <a:noFill/>
        </p:spPr>
        <p:txBody>
          <a:bodyPr wrap="square" lIns="0" rIns="0" tIns="0" bIns="0" anchor="ctr">
            <a:spAutoFit/>
          </a:bodyPr>
          <a:lstStyle/>
          <a:p>
            <a:pPr algn="l">
              <a:lnSpc>
                <a:spcPct val="115000"/>
              </a:lnSpc>
            </a:pPr>
            <a:r>
              <a:rPr sz="1100" b="0" i="0">
                <a:solidFill>
                  <a:srgbClr val="3A2E26"/>
                </a:solidFill>
                <a:latin typeface="Calibri"/>
              </a:rPr>
              <a:t>Property tax revenue stays in region</a:t>
            </a:r>
          </a:p>
        </p:txBody>
      </p:sp>
      <p:sp>
        <p:nvSpPr>
          <p:cNvPr id="33" name="Rectangle 32"/>
          <p:cNvSpPr/>
          <p:nvPr/>
        </p:nvSpPr>
        <p:spPr>
          <a:xfrm>
            <a:off x="457200" y="4800600"/>
            <a:ext cx="5532120" cy="365760"/>
          </a:xfrm>
          <a:prstGeom prst="rect">
            <a:avLst/>
          </a:prstGeom>
          <a:solidFill>
            <a:srgbClr val="FAF4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0080" y="4937760"/>
            <a:ext cx="91440" cy="91440"/>
          </a:xfrm>
          <a:prstGeom prst="ellipse">
            <a:avLst/>
          </a:prstGeom>
          <a:solidFill>
            <a:srgbClr val="B850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68680" y="4800600"/>
            <a:ext cx="5074920" cy="365760"/>
          </a:xfrm>
          <a:prstGeom prst="rect">
            <a:avLst/>
          </a:prstGeom>
          <a:noFill/>
        </p:spPr>
        <p:txBody>
          <a:bodyPr wrap="square" lIns="0" rIns="0" tIns="0" bIns="0" anchor="ctr">
            <a:spAutoFit/>
          </a:bodyPr>
          <a:lstStyle/>
          <a:p>
            <a:pPr algn="l">
              <a:lnSpc>
                <a:spcPct val="115000"/>
              </a:lnSpc>
            </a:pPr>
            <a:r>
              <a:rPr sz="1100" b="0" i="0">
                <a:solidFill>
                  <a:srgbClr val="3A2E26"/>
                </a:solidFill>
                <a:latin typeface="Calibri"/>
              </a:rPr>
              <a:t>Direct voice in municipal politics</a:t>
            </a:r>
          </a:p>
        </p:txBody>
      </p:sp>
      <p:sp>
        <p:nvSpPr>
          <p:cNvPr id="36" name="Rectangle 35"/>
          <p:cNvSpPr/>
          <p:nvPr/>
        </p:nvSpPr>
        <p:spPr>
          <a:xfrm>
            <a:off x="6199632" y="2057400"/>
            <a:ext cx="5532120" cy="457200"/>
          </a:xfrm>
          <a:prstGeom prst="rect">
            <a:avLst/>
          </a:prstGeom>
          <a:solidFill>
            <a:srgbClr val="4F7A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199632" y="2057400"/>
            <a:ext cx="5532120" cy="457200"/>
          </a:xfrm>
          <a:prstGeom prst="rect">
            <a:avLst/>
          </a:prstGeom>
          <a:noFill/>
        </p:spPr>
        <p:txBody>
          <a:bodyPr wrap="square" lIns="0" rIns="0" tIns="0" bIns="0" anchor="ctr">
            <a:spAutoFit/>
          </a:bodyPr>
          <a:lstStyle/>
          <a:p>
            <a:pPr algn="ctr">
              <a:lnSpc>
                <a:spcPct val="115000"/>
              </a:lnSpc>
            </a:pPr>
            <a:r>
              <a:rPr sz="1400" b="1" i="0">
                <a:solidFill>
                  <a:srgbClr val="FBF6E9"/>
                </a:solidFill>
                <a:latin typeface="Calibri"/>
              </a:rPr>
              <a:t>What does NOT change</a:t>
            </a:r>
          </a:p>
        </p:txBody>
      </p:sp>
      <p:sp>
        <p:nvSpPr>
          <p:cNvPr id="38" name="Rectangle 37"/>
          <p:cNvSpPr/>
          <p:nvPr/>
        </p:nvSpPr>
        <p:spPr>
          <a:xfrm>
            <a:off x="6199632" y="2606040"/>
            <a:ext cx="5532120" cy="365760"/>
          </a:xfrm>
          <a:prstGeom prst="rect">
            <a:avLst/>
          </a:prstGeom>
          <a:solidFill>
            <a:srgbClr val="FAF4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6382512" y="2743200"/>
            <a:ext cx="91440" cy="91440"/>
          </a:xfrm>
          <a:prstGeom prst="ellipse">
            <a:avLst/>
          </a:prstGeom>
          <a:solidFill>
            <a:srgbClr val="4F7A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611112" y="2606040"/>
            <a:ext cx="5074920" cy="365760"/>
          </a:xfrm>
          <a:prstGeom prst="rect">
            <a:avLst/>
          </a:prstGeom>
          <a:noFill/>
        </p:spPr>
        <p:txBody>
          <a:bodyPr wrap="square" lIns="0" rIns="0" tIns="0" bIns="0" anchor="ctr">
            <a:spAutoFit/>
          </a:bodyPr>
          <a:lstStyle/>
          <a:p>
            <a:pPr algn="l">
              <a:lnSpc>
                <a:spcPct val="115000"/>
              </a:lnSpc>
            </a:pPr>
            <a:r>
              <a:rPr sz="1100" b="0" i="0">
                <a:solidFill>
                  <a:srgbClr val="3A2E26"/>
                </a:solidFill>
                <a:latin typeface="Calibri"/>
              </a:rPr>
              <a:t>Federal immigration status (FM3, residency, citizenship) — unchanged</a:t>
            </a:r>
          </a:p>
        </p:txBody>
      </p:sp>
      <p:sp>
        <p:nvSpPr>
          <p:cNvPr id="41" name="Rectangle 40"/>
          <p:cNvSpPr/>
          <p:nvPr/>
        </p:nvSpPr>
        <p:spPr>
          <a:xfrm>
            <a:off x="6199632" y="2971800"/>
            <a:ext cx="5532120" cy="365760"/>
          </a:xfrm>
          <a:prstGeom prst="rect">
            <a:avLst/>
          </a:prstGeom>
          <a:solidFill>
            <a:srgbClr val="FBF6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6382512" y="3108960"/>
            <a:ext cx="91440" cy="91440"/>
          </a:xfrm>
          <a:prstGeom prst="ellipse">
            <a:avLst/>
          </a:prstGeom>
          <a:solidFill>
            <a:srgbClr val="4F7A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611112" y="2971800"/>
            <a:ext cx="5074920" cy="365760"/>
          </a:xfrm>
          <a:prstGeom prst="rect">
            <a:avLst/>
          </a:prstGeom>
          <a:noFill/>
        </p:spPr>
        <p:txBody>
          <a:bodyPr wrap="square" lIns="0" rIns="0" tIns="0" bIns="0" anchor="ctr">
            <a:spAutoFit/>
          </a:bodyPr>
          <a:lstStyle/>
          <a:p>
            <a:pPr algn="l">
              <a:lnSpc>
                <a:spcPct val="115000"/>
              </a:lnSpc>
            </a:pPr>
            <a:r>
              <a:rPr sz="1100" b="0" i="0">
                <a:solidFill>
                  <a:srgbClr val="3A2E26"/>
                </a:solidFill>
                <a:latin typeface="Calibri"/>
              </a:rPr>
              <a:t>Property ownership rights — unchanged</a:t>
            </a:r>
          </a:p>
        </p:txBody>
      </p:sp>
      <p:sp>
        <p:nvSpPr>
          <p:cNvPr id="44" name="Rectangle 43"/>
          <p:cNvSpPr/>
          <p:nvPr/>
        </p:nvSpPr>
        <p:spPr>
          <a:xfrm>
            <a:off x="6199632" y="3337560"/>
            <a:ext cx="5532120" cy="365760"/>
          </a:xfrm>
          <a:prstGeom prst="rect">
            <a:avLst/>
          </a:prstGeom>
          <a:solidFill>
            <a:srgbClr val="FAF4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Oval 44"/>
          <p:cNvSpPr/>
          <p:nvPr/>
        </p:nvSpPr>
        <p:spPr>
          <a:xfrm>
            <a:off x="6382512" y="3474720"/>
            <a:ext cx="91440" cy="91440"/>
          </a:xfrm>
          <a:prstGeom prst="ellipse">
            <a:avLst/>
          </a:prstGeom>
          <a:solidFill>
            <a:srgbClr val="4F7A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611112" y="3337560"/>
            <a:ext cx="5074920" cy="365760"/>
          </a:xfrm>
          <a:prstGeom prst="rect">
            <a:avLst/>
          </a:prstGeom>
          <a:noFill/>
        </p:spPr>
        <p:txBody>
          <a:bodyPr wrap="square" lIns="0" rIns="0" tIns="0" bIns="0" anchor="ctr">
            <a:spAutoFit/>
          </a:bodyPr>
          <a:lstStyle/>
          <a:p>
            <a:pPr algn="l">
              <a:lnSpc>
                <a:spcPct val="115000"/>
              </a:lnSpc>
            </a:pPr>
            <a:r>
              <a:rPr sz="1100" b="0" i="0">
                <a:solidFill>
                  <a:srgbClr val="3A2E26"/>
                </a:solidFill>
                <a:latin typeface="Calibri"/>
              </a:rPr>
              <a:t>Federal taxes — unchanged</a:t>
            </a:r>
          </a:p>
        </p:txBody>
      </p:sp>
      <p:sp>
        <p:nvSpPr>
          <p:cNvPr id="47" name="Rectangle 46"/>
          <p:cNvSpPr/>
          <p:nvPr/>
        </p:nvSpPr>
        <p:spPr>
          <a:xfrm>
            <a:off x="6199632" y="3703320"/>
            <a:ext cx="5532120" cy="365760"/>
          </a:xfrm>
          <a:prstGeom prst="rect">
            <a:avLst/>
          </a:prstGeom>
          <a:solidFill>
            <a:srgbClr val="FBF6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Oval 47"/>
          <p:cNvSpPr/>
          <p:nvPr/>
        </p:nvSpPr>
        <p:spPr>
          <a:xfrm>
            <a:off x="6382512" y="3840480"/>
            <a:ext cx="91440" cy="91440"/>
          </a:xfrm>
          <a:prstGeom prst="ellipse">
            <a:avLst/>
          </a:prstGeom>
          <a:solidFill>
            <a:srgbClr val="4F7A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6611112" y="3703320"/>
            <a:ext cx="5074920" cy="365760"/>
          </a:xfrm>
          <a:prstGeom prst="rect">
            <a:avLst/>
          </a:prstGeom>
          <a:noFill/>
        </p:spPr>
        <p:txBody>
          <a:bodyPr wrap="square" lIns="0" rIns="0" tIns="0" bIns="0" anchor="ctr">
            <a:spAutoFit/>
          </a:bodyPr>
          <a:lstStyle/>
          <a:p>
            <a:pPr algn="l">
              <a:lnSpc>
                <a:spcPct val="115000"/>
              </a:lnSpc>
            </a:pPr>
            <a:r>
              <a:rPr sz="1100" b="0" i="0">
                <a:solidFill>
                  <a:srgbClr val="3A2E26"/>
                </a:solidFill>
                <a:latin typeface="Calibri"/>
              </a:rPr>
              <a:t>Federal and state voting rights — unchanged</a:t>
            </a:r>
          </a:p>
        </p:txBody>
      </p:sp>
      <p:sp>
        <p:nvSpPr>
          <p:cNvPr id="50" name="Rectangle 49"/>
          <p:cNvSpPr/>
          <p:nvPr/>
        </p:nvSpPr>
        <p:spPr>
          <a:xfrm>
            <a:off x="6199632" y="4069080"/>
            <a:ext cx="5532120" cy="365760"/>
          </a:xfrm>
          <a:prstGeom prst="rect">
            <a:avLst/>
          </a:prstGeom>
          <a:solidFill>
            <a:srgbClr val="FAF4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Oval 50"/>
          <p:cNvSpPr/>
          <p:nvPr/>
        </p:nvSpPr>
        <p:spPr>
          <a:xfrm>
            <a:off x="6382512" y="4206240"/>
            <a:ext cx="91440" cy="91440"/>
          </a:xfrm>
          <a:prstGeom prst="ellipse">
            <a:avLst/>
          </a:prstGeom>
          <a:solidFill>
            <a:srgbClr val="4F7A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611112" y="4069080"/>
            <a:ext cx="5074920" cy="365760"/>
          </a:xfrm>
          <a:prstGeom prst="rect">
            <a:avLst/>
          </a:prstGeom>
          <a:noFill/>
        </p:spPr>
        <p:txBody>
          <a:bodyPr wrap="square" lIns="0" rIns="0" tIns="0" bIns="0" anchor="ctr">
            <a:spAutoFit/>
          </a:bodyPr>
          <a:lstStyle/>
          <a:p>
            <a:pPr algn="l">
              <a:lnSpc>
                <a:spcPct val="115000"/>
              </a:lnSpc>
            </a:pPr>
            <a:r>
              <a:rPr sz="1100" b="0" i="0">
                <a:solidFill>
                  <a:srgbClr val="3A2E26"/>
                </a:solidFill>
                <a:latin typeface="Calibri"/>
              </a:rPr>
              <a:t>State law and state services — unchanged</a:t>
            </a:r>
          </a:p>
        </p:txBody>
      </p:sp>
      <p:sp>
        <p:nvSpPr>
          <p:cNvPr id="53" name="Rectangle 52"/>
          <p:cNvSpPr/>
          <p:nvPr/>
        </p:nvSpPr>
        <p:spPr>
          <a:xfrm>
            <a:off x="6199632" y="4434840"/>
            <a:ext cx="5532120" cy="365760"/>
          </a:xfrm>
          <a:prstGeom prst="rect">
            <a:avLst/>
          </a:prstGeom>
          <a:solidFill>
            <a:srgbClr val="FBF6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Oval 53"/>
          <p:cNvSpPr/>
          <p:nvPr/>
        </p:nvSpPr>
        <p:spPr>
          <a:xfrm>
            <a:off x="6382512" y="4572000"/>
            <a:ext cx="91440" cy="91440"/>
          </a:xfrm>
          <a:prstGeom prst="ellipse">
            <a:avLst/>
          </a:prstGeom>
          <a:solidFill>
            <a:srgbClr val="4F7A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6611112" y="4434840"/>
            <a:ext cx="5074920" cy="365760"/>
          </a:xfrm>
          <a:prstGeom prst="rect">
            <a:avLst/>
          </a:prstGeom>
          <a:noFill/>
        </p:spPr>
        <p:txBody>
          <a:bodyPr wrap="square" lIns="0" rIns="0" tIns="0" bIns="0" anchor="ctr">
            <a:spAutoFit/>
          </a:bodyPr>
          <a:lstStyle/>
          <a:p>
            <a:pPr algn="l">
              <a:lnSpc>
                <a:spcPct val="115000"/>
              </a:lnSpc>
            </a:pPr>
            <a:r>
              <a:rPr sz="1100" b="0" i="0">
                <a:solidFill>
                  <a:srgbClr val="3A2E26"/>
                </a:solidFill>
                <a:latin typeface="Calibri"/>
              </a:rPr>
              <a:t>Federal health programs (IMSS) — unchanged</a:t>
            </a:r>
          </a:p>
        </p:txBody>
      </p:sp>
      <p:sp>
        <p:nvSpPr>
          <p:cNvPr id="56" name="Rectangle 55"/>
          <p:cNvSpPr/>
          <p:nvPr/>
        </p:nvSpPr>
        <p:spPr>
          <a:xfrm>
            <a:off x="6199632" y="4800600"/>
            <a:ext cx="5532120" cy="365760"/>
          </a:xfrm>
          <a:prstGeom prst="rect">
            <a:avLst/>
          </a:prstGeom>
          <a:solidFill>
            <a:srgbClr val="FAF4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Oval 56"/>
          <p:cNvSpPr/>
          <p:nvPr/>
        </p:nvSpPr>
        <p:spPr>
          <a:xfrm>
            <a:off x="6382512" y="4937760"/>
            <a:ext cx="91440" cy="91440"/>
          </a:xfrm>
          <a:prstGeom prst="ellipse">
            <a:avLst/>
          </a:prstGeom>
          <a:solidFill>
            <a:srgbClr val="4F7A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6611112" y="4800600"/>
            <a:ext cx="5074920" cy="365760"/>
          </a:xfrm>
          <a:prstGeom prst="rect">
            <a:avLst/>
          </a:prstGeom>
          <a:noFill/>
        </p:spPr>
        <p:txBody>
          <a:bodyPr wrap="square" lIns="0" rIns="0" tIns="0" bIns="0" anchor="ctr">
            <a:spAutoFit/>
          </a:bodyPr>
          <a:lstStyle/>
          <a:p>
            <a:pPr algn="l">
              <a:lnSpc>
                <a:spcPct val="115000"/>
              </a:lnSpc>
            </a:pPr>
            <a:r>
              <a:rPr sz="1100" b="0" i="0">
                <a:solidFill>
                  <a:srgbClr val="3A2E26"/>
                </a:solidFill>
                <a:latin typeface="Calibri"/>
              </a:rPr>
              <a:t>Federal and state education programs — unchanged</a:t>
            </a:r>
          </a:p>
        </p:txBody>
      </p:sp>
      <p:sp>
        <p:nvSpPr>
          <p:cNvPr id="59" name="TextBox 58"/>
          <p:cNvSpPr txBox="1"/>
          <p:nvPr/>
        </p:nvSpPr>
        <p:spPr>
          <a:xfrm>
            <a:off x="457200" y="5989320"/>
            <a:ext cx="11247120" cy="457200"/>
          </a:xfrm>
          <a:prstGeom prst="rect">
            <a:avLst/>
          </a:prstGeom>
          <a:noFill/>
        </p:spPr>
        <p:txBody>
          <a:bodyPr wrap="square" lIns="0" rIns="0" tIns="0" bIns="0" anchor="t">
            <a:spAutoFit/>
          </a:bodyPr>
          <a:lstStyle/>
          <a:p>
            <a:pPr algn="ctr">
              <a:lnSpc>
                <a:spcPct val="135000"/>
              </a:lnSpc>
            </a:pPr>
            <a:r>
              <a:rPr sz="1200" b="0" i="1">
                <a:solidFill>
                  <a:srgbClr val="3A2E26"/>
                </a:solidFill>
                <a:latin typeface="Lora"/>
              </a:rPr>
              <a:t>This is a municipal-level change. It changes who decides on local matters. It does not change your federal life, your state life, or your property.</a:t>
            </a:r>
          </a:p>
        </p:txBody>
      </p:sp>
      <p:sp>
        <p:nvSpPr>
          <p:cNvPr id="60" name="TextBox 59"/>
          <p:cNvSpPr txBox="1"/>
          <p:nvPr/>
        </p:nvSpPr>
        <p:spPr>
          <a:xfrm>
            <a:off x="457200" y="6565392"/>
            <a:ext cx="5486400" cy="228600"/>
          </a:xfrm>
          <a:prstGeom prst="rect">
            <a:avLst/>
          </a:prstGeom>
          <a:noFill/>
        </p:spPr>
        <p:txBody>
          <a:bodyPr wrap="square" lIns="0" rIns="0" tIns="0" bIns="0" anchor="t">
            <a:spAutoFit/>
          </a:bodyPr>
          <a:lstStyle/>
          <a:p>
            <a:pPr algn="l">
              <a:lnSpc>
                <a:spcPct val="115000"/>
              </a:lnSpc>
            </a:pPr>
            <a:r>
              <a:rPr sz="900" b="1" i="0">
                <a:solidFill>
                  <a:srgbClr val="8A7A66"/>
                </a:solidFill>
                <a:latin typeface="Calibri"/>
              </a:rPr>
              <a:t>PARA TODOS</a:t>
            </a:r>
          </a:p>
        </p:txBody>
      </p:sp>
      <p:sp>
        <p:nvSpPr>
          <p:cNvPr id="61" name="TextBox 60"/>
          <p:cNvSpPr txBox="1"/>
          <p:nvPr/>
        </p:nvSpPr>
        <p:spPr>
          <a:xfrm>
            <a:off x="10607040" y="6565392"/>
            <a:ext cx="1188720" cy="228600"/>
          </a:xfrm>
          <a:prstGeom prst="rect">
            <a:avLst/>
          </a:prstGeom>
          <a:noFill/>
        </p:spPr>
        <p:txBody>
          <a:bodyPr wrap="square" lIns="0" rIns="0" tIns="0" bIns="0" anchor="t">
            <a:spAutoFit/>
          </a:bodyPr>
          <a:lstStyle/>
          <a:p>
            <a:pPr algn="r">
              <a:lnSpc>
                <a:spcPct val="115000"/>
              </a:lnSpc>
            </a:pPr>
            <a:r>
              <a:rPr sz="900" b="0" i="0">
                <a:solidFill>
                  <a:srgbClr val="8A7A66"/>
                </a:solidFill>
                <a:latin typeface="Calibri"/>
              </a:rPr>
              <a:t>12 / 14</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BF6E9"/>
        </a:solidFill>
        <a:effectLst/>
      </p:bgPr>
    </p:bg>
    <p:spTree>
      <p:nvGrpSpPr>
        <p:cNvPr id="1" name=""/>
        <p:cNvGrpSpPr/>
        <p:nvPr/>
      </p:nvGrpSpPr>
      <p:grpSpPr/>
      <p:sp>
        <p:nvSpPr>
          <p:cNvPr id="2" name="TextBox 1"/>
          <p:cNvSpPr txBox="1"/>
          <p:nvPr/>
        </p:nvSpPr>
        <p:spPr>
          <a:xfrm>
            <a:off x="411480" y="137160"/>
            <a:ext cx="2286000" cy="1005840"/>
          </a:xfrm>
          <a:prstGeom prst="rect">
            <a:avLst/>
          </a:prstGeom>
          <a:noFill/>
        </p:spPr>
        <p:txBody>
          <a:bodyPr wrap="square" lIns="0" rIns="0" tIns="0" bIns="0" anchor="t">
            <a:spAutoFit/>
          </a:bodyPr>
          <a:lstStyle/>
          <a:p>
            <a:pPr algn="l">
              <a:lnSpc>
                <a:spcPct val="95000"/>
              </a:lnSpc>
            </a:pPr>
            <a:r>
              <a:rPr sz="7200" b="1" i="0">
                <a:solidFill>
                  <a:srgbClr val="E6C8C0"/>
                </a:solidFill>
                <a:latin typeface="Lora"/>
              </a:rPr>
              <a:t>12</a:t>
            </a:r>
          </a:p>
        </p:txBody>
      </p:sp>
      <p:sp>
        <p:nvSpPr>
          <p:cNvPr id="3" name="TextBox 2"/>
          <p:cNvSpPr txBox="1"/>
          <p:nvPr/>
        </p:nvSpPr>
        <p:spPr>
          <a:xfrm>
            <a:off x="457200" y="457200"/>
            <a:ext cx="7315200" cy="365760"/>
          </a:xfrm>
          <a:prstGeom prst="rect">
            <a:avLst/>
          </a:prstGeom>
          <a:noFill/>
        </p:spPr>
        <p:txBody>
          <a:bodyPr wrap="square" lIns="0" rIns="0" tIns="0" bIns="0" anchor="t">
            <a:spAutoFit/>
          </a:bodyPr>
          <a:lstStyle/>
          <a:p>
            <a:pPr algn="l">
              <a:lnSpc>
                <a:spcPct val="115000"/>
              </a:lnSpc>
            </a:pPr>
            <a:r>
              <a:rPr sz="1100" b="1" i="0">
                <a:solidFill>
                  <a:srgbClr val="B85042"/>
                </a:solidFill>
                <a:latin typeface="Calibri"/>
              </a:rPr>
              <a:t>THREE WAYS TO PARTICIPATE</a:t>
            </a:r>
          </a:p>
        </p:txBody>
      </p:sp>
      <p:sp>
        <p:nvSpPr>
          <p:cNvPr id="4" name="TextBox 3"/>
          <p:cNvSpPr txBox="1"/>
          <p:nvPr/>
        </p:nvSpPr>
        <p:spPr>
          <a:xfrm>
            <a:off x="457200" y="868680"/>
            <a:ext cx="11247120" cy="914400"/>
          </a:xfrm>
          <a:prstGeom prst="rect">
            <a:avLst/>
          </a:prstGeom>
          <a:noFill/>
        </p:spPr>
        <p:txBody>
          <a:bodyPr wrap="square" lIns="0" rIns="0" tIns="0" bIns="0" anchor="t">
            <a:spAutoFit/>
          </a:bodyPr>
          <a:lstStyle/>
          <a:p>
            <a:pPr algn="l">
              <a:lnSpc>
                <a:spcPct val="105000"/>
              </a:lnSpc>
            </a:pPr>
            <a:r>
              <a:rPr sz="3600" b="1" i="0">
                <a:solidFill>
                  <a:srgbClr val="3A2E26"/>
                </a:solidFill>
                <a:latin typeface="Lora"/>
              </a:rPr>
              <a:t>Three ways to be part of the conversation</a:t>
            </a:r>
          </a:p>
        </p:txBody>
      </p:sp>
      <p:cxnSp>
        <p:nvCxnSpPr>
          <p:cNvPr id="5" name="Connector 4"/>
          <p:cNvCxnSpPr/>
          <p:nvPr/>
        </p:nvCxnSpPr>
        <p:spPr>
          <a:xfrm flipV="1">
            <a:off x="457200" y="1860803"/>
            <a:ext cx="160020" cy="27432"/>
          </a:xfrm>
          <a:prstGeom prst="line">
            <a:avLst/>
          </a:prstGeom>
          <a:ln w="17780">
            <a:solidFill>
              <a:srgbClr val="6D8A6E"/>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617220" y="1860803"/>
            <a:ext cx="160020" cy="27432"/>
          </a:xfrm>
          <a:prstGeom prst="line">
            <a:avLst/>
          </a:prstGeom>
          <a:ln w="17780">
            <a:solidFill>
              <a:srgbClr val="6D8A6E"/>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V="1">
            <a:off x="777240" y="1860803"/>
            <a:ext cx="160019" cy="27432"/>
          </a:xfrm>
          <a:prstGeom prst="line">
            <a:avLst/>
          </a:prstGeom>
          <a:ln w="17780">
            <a:solidFill>
              <a:srgbClr val="6D8A6E"/>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937259" y="1860803"/>
            <a:ext cx="160021" cy="27432"/>
          </a:xfrm>
          <a:prstGeom prst="line">
            <a:avLst/>
          </a:prstGeom>
          <a:ln w="17780">
            <a:solidFill>
              <a:srgbClr val="6D8A6E"/>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V="1">
            <a:off x="1097280" y="1860803"/>
            <a:ext cx="160020" cy="27432"/>
          </a:xfrm>
          <a:prstGeom prst="line">
            <a:avLst/>
          </a:prstGeom>
          <a:ln w="17780">
            <a:solidFill>
              <a:srgbClr val="6D8A6E"/>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1257300" y="1860803"/>
            <a:ext cx="160019" cy="27432"/>
          </a:xfrm>
          <a:prstGeom prst="line">
            <a:avLst/>
          </a:prstGeom>
          <a:ln w="17780">
            <a:solidFill>
              <a:srgbClr val="6D8A6E"/>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V="1">
            <a:off x="1417319" y="1860803"/>
            <a:ext cx="160020" cy="27432"/>
          </a:xfrm>
          <a:prstGeom prst="line">
            <a:avLst/>
          </a:prstGeom>
          <a:ln w="17780">
            <a:solidFill>
              <a:srgbClr val="6D8A6E"/>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1577339" y="1860803"/>
            <a:ext cx="160021" cy="27432"/>
          </a:xfrm>
          <a:prstGeom prst="line">
            <a:avLst/>
          </a:prstGeom>
          <a:ln w="17780">
            <a:solidFill>
              <a:srgbClr val="6D8A6E"/>
            </a:solidFill>
          </a:ln>
        </p:spPr>
        <p:style>
          <a:lnRef idx="2">
            <a:schemeClr val="accent1"/>
          </a:lnRef>
          <a:fillRef idx="0">
            <a:schemeClr val="accent1"/>
          </a:fillRef>
          <a:effectRef idx="1">
            <a:schemeClr val="accent1"/>
          </a:effectRef>
          <a:fontRef idx="minor">
            <a:schemeClr val="tx1"/>
          </a:fontRef>
        </p:style>
      </p:cxnSp>
      <p:sp>
        <p:nvSpPr>
          <p:cNvPr id="13" name="Rectangle 12"/>
          <p:cNvSpPr/>
          <p:nvPr/>
        </p:nvSpPr>
        <p:spPr>
          <a:xfrm>
            <a:off x="457200" y="2011680"/>
            <a:ext cx="3749039" cy="3383280"/>
          </a:xfrm>
          <a:prstGeom prst="rect">
            <a:avLst/>
          </a:prstGeom>
          <a:solidFill>
            <a:srgbClr val="FAF4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57200" y="2011680"/>
            <a:ext cx="3749039" cy="73152"/>
          </a:xfrm>
          <a:prstGeom prst="rect">
            <a:avLst/>
          </a:prstGeom>
          <a:solidFill>
            <a:srgbClr val="B850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1874520" y="2514600"/>
            <a:ext cx="914400" cy="914400"/>
          </a:xfrm>
          <a:prstGeom prst="rect">
            <a:avLst/>
          </a:prstGeom>
          <a:solidFill>
            <a:srgbClr val="B850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874520" y="2514600"/>
            <a:ext cx="914400" cy="914400"/>
          </a:xfrm>
          <a:prstGeom prst="rect">
            <a:avLst/>
          </a:prstGeom>
          <a:noFill/>
        </p:spPr>
        <p:txBody>
          <a:bodyPr wrap="square" lIns="0" rIns="0" tIns="0" bIns="0" anchor="ctr">
            <a:spAutoFit/>
          </a:bodyPr>
          <a:lstStyle/>
          <a:p>
            <a:pPr algn="ctr">
              <a:lnSpc>
                <a:spcPct val="115000"/>
              </a:lnSpc>
            </a:pPr>
            <a:r>
              <a:rPr sz="4400" b="1" i="0">
                <a:solidFill>
                  <a:srgbClr val="FBF6E9"/>
                </a:solidFill>
                <a:latin typeface="Lora"/>
              </a:rPr>
              <a:t>L</a:t>
            </a:r>
          </a:p>
        </p:txBody>
      </p:sp>
      <p:sp>
        <p:nvSpPr>
          <p:cNvPr id="17" name="TextBox 16"/>
          <p:cNvSpPr txBox="1"/>
          <p:nvPr/>
        </p:nvSpPr>
        <p:spPr>
          <a:xfrm>
            <a:off x="731520" y="3657600"/>
            <a:ext cx="3200399" cy="457200"/>
          </a:xfrm>
          <a:prstGeom prst="rect">
            <a:avLst/>
          </a:prstGeom>
          <a:noFill/>
        </p:spPr>
        <p:txBody>
          <a:bodyPr wrap="square" lIns="0" rIns="0" tIns="0" bIns="0" anchor="t">
            <a:spAutoFit/>
          </a:bodyPr>
          <a:lstStyle/>
          <a:p>
            <a:pPr algn="ctr">
              <a:lnSpc>
                <a:spcPct val="115000"/>
              </a:lnSpc>
            </a:pPr>
            <a:r>
              <a:rPr sz="1400" b="1" i="0">
                <a:solidFill>
                  <a:srgbClr val="3A2E26"/>
                </a:solidFill>
                <a:latin typeface="Calibri"/>
              </a:rPr>
              <a:t>LISTEN + SHARE</a:t>
            </a:r>
          </a:p>
        </p:txBody>
      </p:sp>
      <p:sp>
        <p:nvSpPr>
          <p:cNvPr id="18" name="TextBox 17"/>
          <p:cNvSpPr txBox="1"/>
          <p:nvPr/>
        </p:nvSpPr>
        <p:spPr>
          <a:xfrm>
            <a:off x="731520" y="4160520"/>
            <a:ext cx="3200399" cy="1188720"/>
          </a:xfrm>
          <a:prstGeom prst="rect">
            <a:avLst/>
          </a:prstGeom>
          <a:noFill/>
        </p:spPr>
        <p:txBody>
          <a:bodyPr wrap="square" lIns="0" rIns="0" tIns="0" bIns="0" anchor="t">
            <a:spAutoFit/>
          </a:bodyPr>
          <a:lstStyle/>
          <a:p>
            <a:pPr algn="ctr">
              <a:lnSpc>
                <a:spcPct val="140000"/>
              </a:lnSpc>
            </a:pPr>
            <a:r>
              <a:rPr sz="1150" b="0" i="0">
                <a:solidFill>
                  <a:srgbClr val="3A2E26"/>
                </a:solidFill>
                <a:latin typeface="Calibri"/>
              </a:rPr>
              <a:t>Attend a session (in person or online). Read the materials we publish. Share with neighbors. No commitment required. This is the most important step.</a:t>
            </a:r>
          </a:p>
        </p:txBody>
      </p:sp>
      <p:sp>
        <p:nvSpPr>
          <p:cNvPr id="19" name="Rectangle 18"/>
          <p:cNvSpPr/>
          <p:nvPr/>
        </p:nvSpPr>
        <p:spPr>
          <a:xfrm>
            <a:off x="4315967" y="2011680"/>
            <a:ext cx="3749039" cy="3383280"/>
          </a:xfrm>
          <a:prstGeom prst="rect">
            <a:avLst/>
          </a:prstGeom>
          <a:solidFill>
            <a:srgbClr val="FAEA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315967" y="2011680"/>
            <a:ext cx="3749039" cy="73152"/>
          </a:xfrm>
          <a:prstGeom prst="rect">
            <a:avLst/>
          </a:prstGeom>
          <a:solidFill>
            <a:srgbClr val="B850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733287" y="2514600"/>
            <a:ext cx="914400" cy="914400"/>
          </a:xfrm>
          <a:prstGeom prst="rect">
            <a:avLst/>
          </a:prstGeom>
          <a:solidFill>
            <a:srgbClr val="B850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33287" y="2514600"/>
            <a:ext cx="914400" cy="914400"/>
          </a:xfrm>
          <a:prstGeom prst="rect">
            <a:avLst/>
          </a:prstGeom>
          <a:noFill/>
        </p:spPr>
        <p:txBody>
          <a:bodyPr wrap="square" lIns="0" rIns="0" tIns="0" bIns="0" anchor="ctr">
            <a:spAutoFit/>
          </a:bodyPr>
          <a:lstStyle/>
          <a:p>
            <a:pPr algn="ctr">
              <a:lnSpc>
                <a:spcPct val="115000"/>
              </a:lnSpc>
            </a:pPr>
            <a:r>
              <a:rPr sz="4400" b="1" i="0">
                <a:solidFill>
                  <a:srgbClr val="FBF6E9"/>
                </a:solidFill>
                <a:latin typeface="Lora"/>
              </a:rPr>
              <a:t>V</a:t>
            </a:r>
          </a:p>
        </p:txBody>
      </p:sp>
      <p:sp>
        <p:nvSpPr>
          <p:cNvPr id="23" name="TextBox 22"/>
          <p:cNvSpPr txBox="1"/>
          <p:nvPr/>
        </p:nvSpPr>
        <p:spPr>
          <a:xfrm>
            <a:off x="4590287" y="3657600"/>
            <a:ext cx="3200399" cy="457200"/>
          </a:xfrm>
          <a:prstGeom prst="rect">
            <a:avLst/>
          </a:prstGeom>
          <a:noFill/>
        </p:spPr>
        <p:txBody>
          <a:bodyPr wrap="square" lIns="0" rIns="0" tIns="0" bIns="0" anchor="t">
            <a:spAutoFit/>
          </a:bodyPr>
          <a:lstStyle/>
          <a:p>
            <a:pPr algn="ctr">
              <a:lnSpc>
                <a:spcPct val="115000"/>
              </a:lnSpc>
            </a:pPr>
            <a:r>
              <a:rPr sz="1400" b="1" i="0">
                <a:solidFill>
                  <a:srgbClr val="3A2E26"/>
                </a:solidFill>
                <a:latin typeface="Calibri"/>
              </a:rPr>
              <a:t>VOLUNTEER</a:t>
            </a:r>
          </a:p>
        </p:txBody>
      </p:sp>
      <p:sp>
        <p:nvSpPr>
          <p:cNvPr id="24" name="TextBox 23"/>
          <p:cNvSpPr txBox="1"/>
          <p:nvPr/>
        </p:nvSpPr>
        <p:spPr>
          <a:xfrm>
            <a:off x="4590287" y="4160520"/>
            <a:ext cx="3200399" cy="1188720"/>
          </a:xfrm>
          <a:prstGeom prst="rect">
            <a:avLst/>
          </a:prstGeom>
          <a:noFill/>
        </p:spPr>
        <p:txBody>
          <a:bodyPr wrap="square" lIns="0" rIns="0" tIns="0" bIns="0" anchor="t">
            <a:spAutoFit/>
          </a:bodyPr>
          <a:lstStyle/>
          <a:p>
            <a:pPr algn="ctr">
              <a:lnSpc>
                <a:spcPct val="140000"/>
              </a:lnSpc>
            </a:pPr>
            <a:r>
              <a:rPr sz="1150" b="0" i="0">
                <a:solidFill>
                  <a:srgbClr val="3A2E26"/>
                </a:solidFill>
                <a:latin typeface="Calibri"/>
              </a:rPr>
              <a:t>Host · Signature gatherer (Stage II) · Translator (ES ↔ EN) · Design / video / social · Accounting / legal · Advisory committee · Sector outreach</a:t>
            </a:r>
          </a:p>
        </p:txBody>
      </p:sp>
      <p:sp>
        <p:nvSpPr>
          <p:cNvPr id="25" name="Rectangle 24"/>
          <p:cNvSpPr/>
          <p:nvPr/>
        </p:nvSpPr>
        <p:spPr>
          <a:xfrm>
            <a:off x="8174734" y="2011680"/>
            <a:ext cx="3749039" cy="3383280"/>
          </a:xfrm>
          <a:prstGeom prst="rect">
            <a:avLst/>
          </a:prstGeom>
          <a:solidFill>
            <a:srgbClr val="FAF4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174734" y="2011680"/>
            <a:ext cx="3749039" cy="73152"/>
          </a:xfrm>
          <a:prstGeom prst="rect">
            <a:avLst/>
          </a:prstGeom>
          <a:solidFill>
            <a:srgbClr val="B850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9592054" y="2514600"/>
            <a:ext cx="914400" cy="914400"/>
          </a:xfrm>
          <a:prstGeom prst="rect">
            <a:avLst/>
          </a:prstGeom>
          <a:solidFill>
            <a:srgbClr val="B850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592054" y="2514600"/>
            <a:ext cx="914400" cy="914400"/>
          </a:xfrm>
          <a:prstGeom prst="rect">
            <a:avLst/>
          </a:prstGeom>
          <a:noFill/>
        </p:spPr>
        <p:txBody>
          <a:bodyPr wrap="square" lIns="0" rIns="0" tIns="0" bIns="0" anchor="ctr">
            <a:spAutoFit/>
          </a:bodyPr>
          <a:lstStyle/>
          <a:p>
            <a:pPr algn="ctr">
              <a:lnSpc>
                <a:spcPct val="115000"/>
              </a:lnSpc>
            </a:pPr>
            <a:r>
              <a:rPr sz="4400" b="1" i="0">
                <a:solidFill>
                  <a:srgbClr val="FBF6E9"/>
                </a:solidFill>
                <a:latin typeface="Lora"/>
              </a:rPr>
              <a:t>C</a:t>
            </a:r>
          </a:p>
        </p:txBody>
      </p:sp>
      <p:sp>
        <p:nvSpPr>
          <p:cNvPr id="29" name="TextBox 28"/>
          <p:cNvSpPr txBox="1"/>
          <p:nvPr/>
        </p:nvSpPr>
        <p:spPr>
          <a:xfrm>
            <a:off x="8449054" y="3657600"/>
            <a:ext cx="3200399" cy="457200"/>
          </a:xfrm>
          <a:prstGeom prst="rect">
            <a:avLst/>
          </a:prstGeom>
          <a:noFill/>
        </p:spPr>
        <p:txBody>
          <a:bodyPr wrap="square" lIns="0" rIns="0" tIns="0" bIns="0" anchor="t">
            <a:spAutoFit/>
          </a:bodyPr>
          <a:lstStyle/>
          <a:p>
            <a:pPr algn="ctr">
              <a:lnSpc>
                <a:spcPct val="115000"/>
              </a:lnSpc>
            </a:pPr>
            <a:r>
              <a:rPr sz="1400" b="1" i="0">
                <a:solidFill>
                  <a:srgbClr val="3A2E26"/>
                </a:solidFill>
                <a:latin typeface="Calibri"/>
              </a:rPr>
              <a:t>CONTRIBUTE</a:t>
            </a:r>
          </a:p>
        </p:txBody>
      </p:sp>
      <p:sp>
        <p:nvSpPr>
          <p:cNvPr id="30" name="TextBox 29"/>
          <p:cNvSpPr txBox="1"/>
          <p:nvPr/>
        </p:nvSpPr>
        <p:spPr>
          <a:xfrm>
            <a:off x="8449054" y="4160520"/>
            <a:ext cx="3200399" cy="1188720"/>
          </a:xfrm>
          <a:prstGeom prst="rect">
            <a:avLst/>
          </a:prstGeom>
          <a:noFill/>
        </p:spPr>
        <p:txBody>
          <a:bodyPr wrap="square" lIns="0" rIns="0" tIns="0" bIns="0" anchor="t">
            <a:spAutoFit/>
          </a:bodyPr>
          <a:lstStyle/>
          <a:p>
            <a:pPr algn="ctr">
              <a:lnSpc>
                <a:spcPct val="140000"/>
              </a:lnSpc>
            </a:pPr>
            <a:r>
              <a:rPr sz="1150" b="0" i="0">
                <a:solidFill>
                  <a:srgbClr val="3A2E26"/>
                </a:solidFill>
                <a:latin typeface="Calibri"/>
              </a:rPr>
              <a:t>Any amount counts — from 50 to 500,000+ pesos. Donations fund only the staged process. Public quarterly report. Tax-deductible status: SAT pending.</a:t>
            </a:r>
          </a:p>
        </p:txBody>
      </p:sp>
      <p:sp>
        <p:nvSpPr>
          <p:cNvPr id="31" name="TextBox 30"/>
          <p:cNvSpPr txBox="1"/>
          <p:nvPr/>
        </p:nvSpPr>
        <p:spPr>
          <a:xfrm>
            <a:off x="457200" y="5532120"/>
            <a:ext cx="11247120" cy="365760"/>
          </a:xfrm>
          <a:prstGeom prst="rect">
            <a:avLst/>
          </a:prstGeom>
          <a:noFill/>
        </p:spPr>
        <p:txBody>
          <a:bodyPr wrap="square" lIns="0" rIns="0" tIns="0" bIns="0" anchor="t">
            <a:spAutoFit/>
          </a:bodyPr>
          <a:lstStyle/>
          <a:p>
            <a:pPr algn="ctr">
              <a:lnSpc>
                <a:spcPct val="130000"/>
              </a:lnSpc>
            </a:pPr>
            <a:r>
              <a:rPr sz="1400" b="0" i="1">
                <a:solidFill>
                  <a:srgbClr val="3A2E26"/>
                </a:solidFill>
                <a:latin typeface="Lora"/>
              </a:rPr>
              <a:t>“A volunteer is worth as much as a donor. We need both, equally.”</a:t>
            </a:r>
          </a:p>
        </p:txBody>
      </p:sp>
      <p:sp>
        <p:nvSpPr>
          <p:cNvPr id="32" name="Rectangle 31"/>
          <p:cNvSpPr/>
          <p:nvPr/>
        </p:nvSpPr>
        <p:spPr>
          <a:xfrm>
            <a:off x="457200" y="5989320"/>
            <a:ext cx="11247120" cy="411480"/>
          </a:xfrm>
          <a:prstGeom prst="rect">
            <a:avLst/>
          </a:prstGeom>
          <a:solidFill>
            <a:srgbClr val="3A2E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57200" y="5989320"/>
            <a:ext cx="11247120" cy="411480"/>
          </a:xfrm>
          <a:prstGeom prst="rect">
            <a:avLst/>
          </a:prstGeom>
          <a:noFill/>
        </p:spPr>
        <p:txBody>
          <a:bodyPr wrap="square" lIns="0" rIns="0" tIns="0" bIns="0" anchor="ctr">
            <a:spAutoFit/>
          </a:bodyPr>
          <a:lstStyle/>
          <a:p>
            <a:pPr algn="ctr">
              <a:lnSpc>
                <a:spcPct val="115000"/>
              </a:lnSpc>
            </a:pPr>
            <a:r>
              <a:rPr sz="1050" b="0" i="0">
                <a:solidFill>
                  <a:srgbClr val="FBF6E9"/>
                </a:solidFill>
                <a:latin typeface="Calibri"/>
              </a:rPr>
              <a:t>paratodosbcs.mx   ·   hola@paratodosbcs.mx   ·   Sessions: Jun 1 (ES) &amp; Jun 2 (EN), 5pm · Teatro-Cine Manuel Márquez</a:t>
            </a:r>
          </a:p>
        </p:txBody>
      </p:sp>
      <p:sp>
        <p:nvSpPr>
          <p:cNvPr id="34" name="TextBox 33"/>
          <p:cNvSpPr txBox="1"/>
          <p:nvPr/>
        </p:nvSpPr>
        <p:spPr>
          <a:xfrm>
            <a:off x="457200" y="6565392"/>
            <a:ext cx="5486400" cy="228600"/>
          </a:xfrm>
          <a:prstGeom prst="rect">
            <a:avLst/>
          </a:prstGeom>
          <a:noFill/>
        </p:spPr>
        <p:txBody>
          <a:bodyPr wrap="square" lIns="0" rIns="0" tIns="0" bIns="0" anchor="t">
            <a:spAutoFit/>
          </a:bodyPr>
          <a:lstStyle/>
          <a:p>
            <a:pPr algn="l">
              <a:lnSpc>
                <a:spcPct val="115000"/>
              </a:lnSpc>
            </a:pPr>
            <a:r>
              <a:rPr sz="900" b="1" i="0">
                <a:solidFill>
                  <a:srgbClr val="8A7A66"/>
                </a:solidFill>
                <a:latin typeface="Calibri"/>
              </a:rPr>
              <a:t>PARA TODOS</a:t>
            </a:r>
          </a:p>
        </p:txBody>
      </p:sp>
      <p:sp>
        <p:nvSpPr>
          <p:cNvPr id="35" name="TextBox 34"/>
          <p:cNvSpPr txBox="1"/>
          <p:nvPr/>
        </p:nvSpPr>
        <p:spPr>
          <a:xfrm>
            <a:off x="10607040" y="6565392"/>
            <a:ext cx="1188720" cy="228600"/>
          </a:xfrm>
          <a:prstGeom prst="rect">
            <a:avLst/>
          </a:prstGeom>
          <a:noFill/>
        </p:spPr>
        <p:txBody>
          <a:bodyPr wrap="square" lIns="0" rIns="0" tIns="0" bIns="0" anchor="t">
            <a:spAutoFit/>
          </a:bodyPr>
          <a:lstStyle/>
          <a:p>
            <a:pPr algn="r">
              <a:lnSpc>
                <a:spcPct val="115000"/>
              </a:lnSpc>
            </a:pPr>
            <a:r>
              <a:rPr sz="900" b="0" i="0">
                <a:solidFill>
                  <a:srgbClr val="8A7A66"/>
                </a:solidFill>
                <a:latin typeface="Calibri"/>
              </a:rPr>
              <a:t>13 / 14</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3A2E26"/>
        </a:solidFill>
        <a:effectLst/>
      </p:bgPr>
    </p:bg>
    <p:spTree>
      <p:nvGrpSpPr>
        <p:cNvPr id="1" name=""/>
        <p:cNvGrpSpPr/>
        <p:nvPr/>
      </p:nvGrpSpPr>
      <p:grpSpPr/>
      <p:sp>
        <p:nvSpPr>
          <p:cNvPr id="2" name="Oval 1"/>
          <p:cNvSpPr/>
          <p:nvPr/>
        </p:nvSpPr>
        <p:spPr>
          <a:xfrm>
            <a:off x="8778240" y="365760"/>
            <a:ext cx="2926080" cy="2926080"/>
          </a:xfrm>
          <a:prstGeom prst="ellipse">
            <a:avLst/>
          </a:prstGeom>
          <a:solidFill>
            <a:srgbClr val="4F7A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144000" y="731520"/>
            <a:ext cx="2194560" cy="2194560"/>
          </a:xfrm>
          <a:prstGeom prst="ellipse">
            <a:avLst/>
          </a:prstGeom>
          <a:solidFill>
            <a:srgbClr val="B850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seal-dark-512.png"/>
          <p:cNvPicPr>
            <a:picLocks noChangeAspect="1"/>
          </p:cNvPicPr>
          <p:nvPr/>
        </p:nvPicPr>
        <p:blipFill>
          <a:blip r:embed="rId2"/>
          <a:stretch>
            <a:fillRect/>
          </a:stretch>
        </p:blipFill>
        <p:spPr>
          <a:xfrm>
            <a:off x="640080" y="640080"/>
            <a:ext cx="777240" cy="777240"/>
          </a:xfrm>
          <a:prstGeom prst="rect">
            <a:avLst/>
          </a:prstGeom>
        </p:spPr>
      </p:pic>
      <p:sp>
        <p:nvSpPr>
          <p:cNvPr id="5" name="TextBox 4"/>
          <p:cNvSpPr txBox="1"/>
          <p:nvPr/>
        </p:nvSpPr>
        <p:spPr>
          <a:xfrm>
            <a:off x="1645920" y="868680"/>
            <a:ext cx="7315200" cy="365760"/>
          </a:xfrm>
          <a:prstGeom prst="rect">
            <a:avLst/>
          </a:prstGeom>
          <a:noFill/>
        </p:spPr>
        <p:txBody>
          <a:bodyPr wrap="square" lIns="0" rIns="0" tIns="0" bIns="0" anchor="ctr">
            <a:spAutoFit/>
          </a:bodyPr>
          <a:lstStyle/>
          <a:p>
            <a:pPr algn="l">
              <a:lnSpc>
                <a:spcPct val="115000"/>
              </a:lnSpc>
            </a:pPr>
            <a:r>
              <a:rPr sz="1400" b="1" i="0">
                <a:solidFill>
                  <a:srgbClr val="FBF6E9"/>
                </a:solidFill>
                <a:latin typeface="Calibri"/>
              </a:rPr>
              <a:t>PARA TODOS</a:t>
            </a:r>
          </a:p>
        </p:txBody>
      </p:sp>
      <p:sp>
        <p:nvSpPr>
          <p:cNvPr id="6" name="TextBox 5"/>
          <p:cNvSpPr txBox="1"/>
          <p:nvPr/>
        </p:nvSpPr>
        <p:spPr>
          <a:xfrm>
            <a:off x="640080" y="1828800"/>
            <a:ext cx="10881360" cy="2194560"/>
          </a:xfrm>
          <a:prstGeom prst="rect">
            <a:avLst/>
          </a:prstGeom>
          <a:noFill/>
        </p:spPr>
        <p:txBody>
          <a:bodyPr wrap="square" lIns="0" rIns="0" tIns="0" bIns="0">
            <a:spAutoFit/>
          </a:bodyPr>
          <a:lstStyle/>
          <a:p>
            <a:pPr algn="ctr">
              <a:lnSpc>
                <a:spcPct val="105000"/>
              </a:lnSpc>
              <a:spcAft>
                <a:spcPts val="200"/>
              </a:spcAft>
            </a:pPr>
            <a:r>
              <a:rPr sz="4600" b="1" i="0">
                <a:solidFill>
                  <a:srgbClr val="FBF6E9"/>
                </a:solidFill>
                <a:latin typeface="Lora"/>
              </a:rPr>
              <a:t>Our Region.</a:t>
            </a:r>
          </a:p>
          <a:p>
            <a:pPr algn="ctr">
              <a:lnSpc>
                <a:spcPct val="105000"/>
              </a:lnSpc>
              <a:spcAft>
                <a:spcPts val="200"/>
              </a:spcAft>
            </a:pPr>
            <a:r>
              <a:rPr sz="4600" b="1" i="0">
                <a:solidFill>
                  <a:srgbClr val="FBF6E9"/>
                </a:solidFill>
                <a:latin typeface="Lora"/>
              </a:rPr>
              <a:t>Our Future.</a:t>
            </a:r>
          </a:p>
          <a:p>
            <a:pPr algn="ctr">
              <a:lnSpc>
                <a:spcPct val="105000"/>
              </a:lnSpc>
            </a:pPr>
            <a:r>
              <a:rPr sz="4600" b="1" i="1">
                <a:solidFill>
                  <a:srgbClr val="D97A4A"/>
                </a:solidFill>
                <a:latin typeface="Lora"/>
              </a:rPr>
              <a:t>Our Decision.</a:t>
            </a:r>
          </a:p>
        </p:txBody>
      </p:sp>
      <p:sp>
        <p:nvSpPr>
          <p:cNvPr id="7" name="TextBox 6"/>
          <p:cNvSpPr txBox="1"/>
          <p:nvPr/>
        </p:nvSpPr>
        <p:spPr>
          <a:xfrm>
            <a:off x="1371600" y="3931920"/>
            <a:ext cx="9418320" cy="2286000"/>
          </a:xfrm>
          <a:prstGeom prst="rect">
            <a:avLst/>
          </a:prstGeom>
          <a:noFill/>
        </p:spPr>
        <p:txBody>
          <a:bodyPr wrap="square" lIns="0" rIns="0" tIns="0" bIns="0" anchor="t">
            <a:spAutoFit/>
          </a:bodyPr>
          <a:lstStyle/>
          <a:p>
            <a:pPr algn="ctr">
              <a:lnSpc>
                <a:spcPct val="145000"/>
              </a:lnSpc>
            </a:pPr>
            <a:r>
              <a:rPr sz="1500" b="0" i="1">
                <a:solidFill>
                  <a:srgbClr val="F4ECD9"/>
                </a:solidFill>
                <a:latin typeface="Lora"/>
              </a:rPr>
              <a:t>We're not asking you to vote yes.</a:t>
            </a:r>
          </a:p>
          <a:p>
            <a:pPr algn="ctr">
              <a:lnSpc>
                <a:spcPct val="145000"/>
              </a:lnSpc>
            </a:pPr>
            <a:r>
              <a:rPr sz="1500" b="0" i="1">
                <a:solidFill>
                  <a:srgbClr val="F4ECD9"/>
                </a:solidFill>
                <a:latin typeface="Lora"/>
              </a:rPr>
              <a:t>We're not asking you to vote no.</a:t>
            </a:r>
          </a:p>
          <a:p>
            <a:pPr algn="ctr">
              <a:lnSpc>
                <a:spcPct val="145000"/>
              </a:lnSpc>
            </a:pPr>
            <a:r>
              <a:rPr sz="1500" b="0" i="1">
                <a:solidFill>
                  <a:srgbClr val="F4ECD9"/>
                </a:solidFill>
                <a:latin typeface="Lora"/>
              </a:rPr>
              <a:t/>
            </a:r>
          </a:p>
          <a:p>
            <a:pPr algn="ctr">
              <a:lnSpc>
                <a:spcPct val="145000"/>
              </a:lnSpc>
            </a:pPr>
            <a:r>
              <a:rPr sz="1500" b="0" i="1">
                <a:solidFill>
                  <a:srgbClr val="F4ECD9"/>
                </a:solidFill>
                <a:latin typeface="Lora"/>
              </a:rPr>
              <a:t>We're asking you to be part of the conversation.</a:t>
            </a:r>
          </a:p>
          <a:p>
            <a:pPr algn="ctr">
              <a:lnSpc>
                <a:spcPct val="145000"/>
              </a:lnSpc>
            </a:pPr>
            <a:r>
              <a:rPr sz="1500" b="0" i="1">
                <a:solidFill>
                  <a:srgbClr val="F4ECD9"/>
                </a:solidFill>
                <a:latin typeface="Lora"/>
              </a:rPr>
              <a:t/>
            </a:r>
          </a:p>
          <a:p>
            <a:pPr algn="ctr">
              <a:lnSpc>
                <a:spcPct val="145000"/>
              </a:lnSpc>
            </a:pPr>
            <a:r>
              <a:rPr sz="1500" b="0" i="1">
                <a:solidFill>
                  <a:srgbClr val="F4ECD9"/>
                </a:solidFill>
                <a:latin typeface="Lora"/>
              </a:rPr>
              <a:t>Because this region's future will be decided by someone.</a:t>
            </a:r>
          </a:p>
          <a:p>
            <a:pPr algn="ctr">
              <a:lnSpc>
                <a:spcPct val="145000"/>
              </a:lnSpc>
            </a:pPr>
            <a:r>
              <a:rPr sz="1500" b="0" i="1">
                <a:solidFill>
                  <a:srgbClr val="F4ECD9"/>
                </a:solidFill>
                <a:latin typeface="Lora"/>
              </a:rPr>
              <a:t>It should be decided by us.</a:t>
            </a:r>
          </a:p>
        </p:txBody>
      </p:sp>
      <p:sp>
        <p:nvSpPr>
          <p:cNvPr id="8" name="TextBox 7"/>
          <p:cNvSpPr txBox="1"/>
          <p:nvPr/>
        </p:nvSpPr>
        <p:spPr>
          <a:xfrm>
            <a:off x="457200" y="6446520"/>
            <a:ext cx="11247120" cy="274320"/>
          </a:xfrm>
          <a:prstGeom prst="rect">
            <a:avLst/>
          </a:prstGeom>
          <a:noFill/>
        </p:spPr>
        <p:txBody>
          <a:bodyPr wrap="square" lIns="0" rIns="0" tIns="0" bIns="0" anchor="t">
            <a:spAutoFit/>
          </a:bodyPr>
          <a:lstStyle/>
          <a:p>
            <a:pPr algn="ctr">
              <a:lnSpc>
                <a:spcPct val="115000"/>
              </a:lnSpc>
            </a:pPr>
            <a:r>
              <a:rPr sz="1000" b="0" i="0">
                <a:solidFill>
                  <a:srgbClr val="B85042"/>
                </a:solidFill>
                <a:latin typeface="Calibri"/>
              </a:rPr>
              <a:t>PARA TODOS  ·  An exploratory regional conversation  ·  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